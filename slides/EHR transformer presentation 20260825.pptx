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9" r:id="rId2"/>
  </p:sldMasterIdLst>
  <p:notesMasterIdLst>
    <p:notesMasterId r:id="rId43"/>
  </p:notesMasterIdLst>
  <p:sldIdLst>
    <p:sldId id="256" r:id="rId3"/>
    <p:sldId id="257" r:id="rId4"/>
    <p:sldId id="259" r:id="rId5"/>
    <p:sldId id="260" r:id="rId6"/>
    <p:sldId id="261" r:id="rId7"/>
    <p:sldId id="262" r:id="rId8"/>
    <p:sldId id="2134960986" r:id="rId9"/>
    <p:sldId id="263" r:id="rId10"/>
    <p:sldId id="2134960991" r:id="rId11"/>
    <p:sldId id="265" r:id="rId12"/>
    <p:sldId id="266" r:id="rId13"/>
    <p:sldId id="267" r:id="rId14"/>
    <p:sldId id="268" r:id="rId15"/>
    <p:sldId id="269" r:id="rId16"/>
    <p:sldId id="270" r:id="rId17"/>
    <p:sldId id="282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5" r:id="rId29"/>
    <p:sldId id="286" r:id="rId30"/>
    <p:sldId id="301" r:id="rId31"/>
    <p:sldId id="290" r:id="rId32"/>
    <p:sldId id="281" r:id="rId33"/>
    <p:sldId id="291" r:id="rId34"/>
    <p:sldId id="293" r:id="rId35"/>
    <p:sldId id="2134960990" r:id="rId36"/>
    <p:sldId id="295" r:id="rId37"/>
    <p:sldId id="297" r:id="rId38"/>
    <p:sldId id="299" r:id="rId39"/>
    <p:sldId id="2134960988" r:id="rId40"/>
    <p:sldId id="271" r:id="rId41"/>
    <p:sldId id="298" r:id="rId4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277"/>
    <p:restoredTop sz="86148"/>
  </p:normalViewPr>
  <p:slideViewPr>
    <p:cSldViewPr snapToGrid="0">
      <p:cViewPr varScale="1">
        <p:scale>
          <a:sx n="72" d="100"/>
          <a:sy n="72" d="100"/>
        </p:scale>
        <p:origin x="20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Today I will connect longitudinal health records with transformer models and disease trajectories.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I will keep the machine-learning details conceptual and focus on the biological questions.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The aim is to see what EHR data adds beyond static genetic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 will move from the structure of EHR data, to transformers, and then to current EHR-transformer applications.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examples are very recent, so this is an active and rapidly developing area.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 will pause for short discussions at the transition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Part 1 asks what EHR data contributes beyond DNA and how that information is organized over time.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key concept is that a patient record is not just a table—it is an ordered history of events.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the four questions on screen as signposts for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Germline DNA is largely fixed, so genetic models often describe a baseline or lifelong predisposition.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EHR data accumulates: diagnoses, medications, laboratory values, and lifestyle-related measurements can change risk over time.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resulting trajectory can move from health, through early signals, to clinical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EHRs combine structured data—codes, measurements, drugs—with unstructured data such as notes and images.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These modalities have different scales and formats, so they cannot simply be placed in one conventional analysis table.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modeling challenge is to create comparable representations without losing clinically relevant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single blood measurement is a snapshot; repeated measurements create a trajectory.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Both order and elapsed time matter—for example, the same diagnosis at age 10 and age 70 has different context.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Simultaneous events also need careful handling so the model does not learn an impossible order.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Take home: EHR data is both multimodal and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Computational representation of health data</a:t>
            </a:r>
          </a:p>
          <a:p>
            <a:r>
              <a:rPr lang="en-GB" dirty="0"/>
              <a:t>- Transform health trajectories into representations that we can compare</a:t>
            </a:r>
          </a:p>
          <a:p>
            <a:pPr marL="171450" indent="-171450">
              <a:buFontTx/>
              <a:buChar char="-"/>
            </a:pPr>
            <a:r>
              <a:rPr lang="en-GB" dirty="0"/>
              <a:t>These digital twins captures the entirety of each individuals health journey</a:t>
            </a:r>
          </a:p>
          <a:p>
            <a:pPr marL="171450" indent="-171450">
              <a:buFontTx/>
              <a:buChar char="-"/>
            </a:pPr>
            <a:endParaRPr lang="en-GB" dirty="0"/>
          </a:p>
          <a:p>
            <a:r>
              <a:rPr lang="en-GB" dirty="0"/>
              <a:t>The one that is the most similar to me in my current state might have had a different trajectory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0DE1B-FF2E-0E4E-B4EA-35CBFA891031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377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PRS compresses genetic information into a static risk estimate.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An EHR model instead builds a patient representation that can be updated whenever new events occur.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That representation can support next-event prediction or comparison with patients who followed similar trajectories.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Ask groups to choose two questions and separate biological information from healthcare-process information.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Q1 cue: genetics captures inherited baseline risk; EHRs capture changing exposures, measurements, diagnoses, treatment, and care history.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Q2 cue: visit frequency, coding, testing, and treatment reflect the health system as well as the patient.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Q3 cue: missingness can be informative when a test is ordered for a reason, but it can also encode unequal access or inconsistent practice.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• Q4 cue: transportability requires harmonized definitions, representative data, and external validation across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Part 2 introduces transformers at a conceptual level.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 need three building blocks: tokens, embeddings, and attention.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goal is to understand why this architecture fits ordered, heterogeneous patient histories.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Autoencoders learn without outcome labels by trying to reconstruct their input.</a:t>
            </a:r>
          </a:p>
          <a:p>
            <a:r>
              <a:t>• The bottleneck prevents simple copying and forces a compressed latent representation.</a:t>
            </a:r>
          </a:p>
          <a:p>
            <a:r>
              <a:t>• For EHRs, the hope is that this latent space captures clinically useful patient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Use the map as an analogy: it preserves useful relationships while discarding most physical detail.</a:t>
            </a:r>
          </a:p>
          <a:p>
            <a:r>
              <a:t>• A representation is task-dependent—the useful detail for navigation differs from the useful detail for disease prediction.</a:t>
            </a:r>
          </a:p>
          <a:p>
            <a:r>
              <a:t>• In EHRs, we want a compact patient state that retains information relevant to the downstream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Text is a sequence of tokens; an EHR can likewise be represented as a sequence of clinical events.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diagnosis, drug, or discretized laboratory result can act like a word in the model vocabulary.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Unlike ordinary text, clinical events occur at irregular intervals, so time must be represented explicitly.</a:t>
            </a:r>
            <a:endParaRPr sz="2400">
              <a:solidFill>
                <a:srgbClr val="15151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Transformers were introduced for translation but now underpin many sequence models.</a:t>
            </a:r>
          </a:p>
          <a:p>
            <a:r>
              <a:t>• The common idea is to learn context-dependent representations from ordered tokens.</a:t>
            </a:r>
          </a:p>
          <a:p>
            <a:r>
              <a:t>• Biological sequences and patient histories use different vocabularies, but the modeling abstraction is similar.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Transformers were introduced for language tasks, including translation and next-token prediction.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an EHR setting, the analogous task is to predict the next clinical event or diagnosis.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architecture is similar; the vocabulary and scientific interpretation are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Special tokens mark structure that is not itself a diagnosis—for example, the start and end of a visit.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Age tokens and separators preserve temporal and encounter-level organization.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Laboratory values are discretized here, turning continuous measurements into vocabulary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8834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Encoder-style models learn representations from surrounding context, often by masking tokens.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Decoder-style models predict the next token from the preceding sequence.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EHRs, choose the objective to match the question: patient representation versus future-event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Attention compares tokens, but token order must be supplied separately.</a:t>
            </a:r>
          </a:p>
          <a:p>
            <a:r>
              <a:t>• Positional embeddings add an order signal to each token representation.</a:t>
            </a:r>
          </a:p>
          <a:p>
            <a:r>
              <a:t>• For EHR data, absolute position may be less useful than age, time gaps, and visit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• Attention asks which other tokens are relevant when updating the current token representation.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• In an EHR, the relevant context might include earlier diagnoses, drugs, laboratory results, or comorbidities.</a:t>
            </a:r>
          </a:p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100">
                <a:latin typeface="Palatino"/>
                <a:ea typeface="Palatino"/>
                <a:cs typeface="Palatino"/>
              </a:rPr>
              <a:t>• Attention is context-dependent association; it is not proof of a biological mechanism or causal effect.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Attention compares each token with other tokens and assigns greater weight to the most relevant context.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a patient record, a current event may attend to earlier diagnoses, medications, or measurements.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matrix mathematics is substantial; for this audience, the conceptual message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Recap the pipeline: vocabulary → token IDs → embeddings → position/time information → attention.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Encoder objectives are useful for representation learning; decoder objectives are useful for forecasting or simulation.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appropriate architecture depends on the scientific question and evaluation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Q1 cue: masked-token or encoder objectives support patient representations; decoder objectives support next-event generation.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Q2 cue: combine visit markers with age, elapsed-time, or continuous time encodings.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Q3 cue: discretization simplifies the vocabulary but loses resolution and makes thresholds and units important.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• Q4 cue: attention shows model relevance in context; it does not establish causality, mechanism, or clinical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Part 3 applies the earlier concepts to real EHR-transformer models.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 will look at multimodal tokenization, disease prediction, simulated trajectories, and integration of genetics.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asking whether each result is predictive, descriptive, or genuinely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language models, the output is a probability distribution over the next word.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an EHR model, the output can be probabilities for the next diagnosis or clinical event.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Those probabilities can be interpreted as conditional risk given the recorded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Healthcare sequences require more than event identity: age and time between events are biologically important.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DELPHI uses a GPT-style architecture and conditions predictions on prior events.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causal mask prevents the model from seeing future information during training.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Events recorded at the same time need special handling to avoid artificial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Autoregressive prediction can be repeated to generate an entire possible future trajectory.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Sampling several times gives multiple plausible futures for the same starting history.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These are model-generated scenarios, not certain forecasts for an individual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New diagnoses and medications update the model’s estimate of what may happen next.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Comorbidities matter because diseases do not occur independently.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the examples to show risk changing over time rather than remaining a single fixed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This visualization projects a high-dimensional embedding space into two dimensions.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Nearby points represent diagnoses with similar learned vectors, not necessarily the same biological mechanism.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broad clusters as a qualitative check; avoid over-interpreting exact distances in a 2D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2316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Optional if time is short.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More modalities and more data can improve performance, but gains vary by disease and prediction horizon.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Rare outcomes, missing measurements, and limited follow-up remain important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Each modality is converted into a vector of the same size before entering the transformer.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Diagnoses, medications, laboratory bins, text, and images may use different preprocessing or smaller encoders.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shared embedding dimension lets the transformer process them in one sequence.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Standardizing dimensions does not make the underlying data equally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68525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how genomics could enter a continuously updated patient representation.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Possible answers include PRS tokens, gene-level burden scores, or a separate genomic encoder.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what must be solved: dimensionality, ancestry bias, scale mismatch, missingness, and interpretability.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Allow about five minutes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DELPHI already uses diagnoses and selected demographic and lifestyle variables.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Adding PRS or biomarkers provides information not fully captured by the EHR history.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incremental gain asks whether each modality adds predictive value beyond age, sex, and model logits.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Focus on effect size and validation, not only statistical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77820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First take-home: EHRs are multimodal sequences, not static tables.</a:t>
            </a:r>
            <a:endParaRPr sz="8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Second: transformers can represent event identity, order, timing, and context through tokens, embeddings, and attention.</a:t>
            </a:r>
            <a:endParaRPr sz="8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Third: these models can predict and simulate trajectories, but prediction must not be confused with causation.</a:t>
            </a:r>
            <a:endParaRPr sz="80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Genomics and biomarkers can add complementary information.</a:t>
            </a:r>
            <a:endParaRPr sz="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exercise uses simulated data, so focus on understanding the representation rather than clinical conclusions.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234 logits correspond to the model’s possible output classes or vocabulary items for the prediction task.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sequence: sex, visit boundaries, age, binned laboratory values, diagnosis, then a separator.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Percentile-like bins do not need to sum to 100 because each laboratory variable is encoded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vocabulary lists the events the model can recognize.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One-hot encoding only labels tokens; embeddings give each token a learned vector representation.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During training, related tokens can move closer in embedding space—for example, related diagnoses may acquire similar vectors.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The dimensions themselves are not directly named biological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80251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More data is not automatically better; every modality adds noise, missingness, cost, and potential bias.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Architecture choice should follow the scientific task, not current popularity.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Wearables add dense time series that may require summarization or dedicated encoders.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Scaling to millions of variants and continuous sensor data remains a major computational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3837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eal small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>
            <a:extLst>
              <a:ext uri="{FF2B5EF4-FFF2-40B4-BE49-F238E27FC236}">
                <a16:creationId xmlns:a16="http://schemas.microsoft.com/office/drawing/2014/main" id="{57046D5D-5BC8-4EB6-AA36-44B2046BB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8350" cy="68580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" name="Google Shape;20;p2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179FFE2D-0A99-48A3-819C-2C7B1D5FA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540000" tIns="468000" rIns="360000" bIns="2340000" anchor="b">
            <a:noAutofit/>
          </a:bodyPr>
          <a:lstStyle>
            <a:lvl1pPr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087AC9E3-F671-4B5C-9816-5753AEB90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610941"/>
            <a:ext cx="4946649" cy="110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734B9189-64D3-4575-9249-EA6B87EE1D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8963" y="4053600"/>
            <a:ext cx="4946649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bjec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6184355E-5E60-4164-8B7B-8B92D521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0" i="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6910ADB6-9F82-4420-A54C-C01611C11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88" cy="4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/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">
            <a:extLst>
              <a:ext uri="{FF2B5EF4-FFF2-40B4-BE49-F238E27FC236}">
                <a16:creationId xmlns:a16="http://schemas.microsoft.com/office/drawing/2014/main" id="{6D5D0AF4-6A3C-40A1-9EC6-BA5713F5FF1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>
            <a:extLst>
              <a:ext uri="{FF2B5EF4-FFF2-40B4-BE49-F238E27FC236}">
                <a16:creationId xmlns:a16="http://schemas.microsoft.com/office/drawing/2014/main" id="{0D388FD3-D893-4D62-8A6B-4667C72FF4F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>
            <a:extLst>
              <a:ext uri="{FF2B5EF4-FFF2-40B4-BE49-F238E27FC236}">
                <a16:creationId xmlns:a16="http://schemas.microsoft.com/office/drawing/2014/main" id="{3314AAA2-9643-4A70-B7D2-16A28B0878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eal large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78108D6E-55CB-481B-A78A-7D64083ABA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8350" cy="6858000"/>
          </a:xfrm>
          <a:prstGeom prst="rect">
            <a:avLst/>
          </a:pr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9" name="Google Shape;32;p4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  <a:ln>
            <a:noFill/>
          </a:ln>
        </p:spPr>
      </p:pic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9603F324-C31E-4CA0-B9D9-4B62AF30A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540000" tIns="468000" rIns="360000" bIns="3384000" anchor="b">
            <a:noAutofit/>
          </a:bodyPr>
          <a:lstStyle>
            <a:lvl1pPr algn="l">
              <a:lnSpc>
                <a:spcPct val="9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>
            <a:extLst>
              <a:ext uri="{FF2B5EF4-FFF2-40B4-BE49-F238E27FC236}">
                <a16:creationId xmlns:a16="http://schemas.microsoft.com/office/drawing/2014/main" id="{D3C37F11-DFDA-4B7D-9A07-DAC7FC32B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020200"/>
            <a:ext cx="4946649" cy="134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">
            <a:extLst>
              <a:ext uri="{FF2B5EF4-FFF2-40B4-BE49-F238E27FC236}">
                <a16:creationId xmlns:a16="http://schemas.microsoft.com/office/drawing/2014/main" id="{1BB115D6-03B0-4C6B-9357-E4F974B5E46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88964" y="3007285"/>
            <a:ext cx="4946648" cy="72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AE36D57A-1492-4D20-B877-45A53F6BDAF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8963" y="4053600"/>
            <a:ext cx="4946649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image small right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38;p5">
            <a:extLst>
              <a:ext uri="{FF2B5EF4-FFF2-40B4-BE49-F238E27FC236}">
                <a16:creationId xmlns:a16="http://schemas.microsoft.com/office/drawing/2014/main" id="{EA9C48D5-B6EA-48EA-A35B-ABCC23DB65B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</p:spPr>
      </p:sp>
      <p:sp>
        <p:nvSpPr>
          <p:cNvPr id="39" name="Google Shape;39;p5">
            <a:extLst>
              <a:ext uri="{FF2B5EF4-FFF2-40B4-BE49-F238E27FC236}">
                <a16:creationId xmlns:a16="http://schemas.microsoft.com/office/drawing/2014/main" id="{FA40F8AE-6B6E-40B3-AA8A-6B2247934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60000" tIns="468000" rIns="540000" bIns="2448000" anchor="b">
            <a:noAutofit/>
          </a:bodyPr>
          <a:lstStyle>
            <a:lvl1pPr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>
            <a:extLst>
              <a:ext uri="{FF2B5EF4-FFF2-40B4-BE49-F238E27FC236}">
                <a16:creationId xmlns:a16="http://schemas.microsoft.com/office/drawing/2014/main" id="{6CFB2290-CE60-440C-B032-ECAA6BE62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2258" y="2610941"/>
            <a:ext cx="4962920" cy="110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>
            <a:extLst>
              <a:ext uri="{FF2B5EF4-FFF2-40B4-BE49-F238E27FC236}">
                <a16:creationId xmlns:a16="http://schemas.microsoft.com/office/drawing/2014/main" id="{CB38E218-4E56-4738-90EB-2EC4BA1D368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622257" y="4053600"/>
            <a:ext cx="4979193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>
            <a:extLst>
              <a:ext uri="{FF2B5EF4-FFF2-40B4-BE49-F238E27FC236}">
                <a16:creationId xmlns:a16="http://schemas.microsoft.com/office/drawing/2014/main" id="{211AB2B0-996F-430E-A315-3195701EFB5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>
            <a:extLst>
              <a:ext uri="{FF2B5EF4-FFF2-40B4-BE49-F238E27FC236}">
                <a16:creationId xmlns:a16="http://schemas.microsoft.com/office/drawing/2014/main" id="{9D04F8FA-BA7C-45A6-99A6-D77E1D641B7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"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>
            <a:extLst>
              <a:ext uri="{FF2B5EF4-FFF2-40B4-BE49-F238E27FC236}">
                <a16:creationId xmlns:a16="http://schemas.microsoft.com/office/drawing/2014/main" id="{A8E5F37E-3D90-4442-A624-EF98B4B28A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00" b="0" i="0" u="none" cap="none"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image large right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46;p6">
            <a:extLst>
              <a:ext uri="{FF2B5EF4-FFF2-40B4-BE49-F238E27FC236}">
                <a16:creationId xmlns:a16="http://schemas.microsoft.com/office/drawing/2014/main" id="{477C3086-CF54-4183-995D-72E79EC50AEB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</p:spPr>
      </p:sp>
      <p:sp>
        <p:nvSpPr>
          <p:cNvPr id="47" name="Google Shape;47;p6">
            <a:extLst>
              <a:ext uri="{FF2B5EF4-FFF2-40B4-BE49-F238E27FC236}">
                <a16:creationId xmlns:a16="http://schemas.microsoft.com/office/drawing/2014/main" id="{B9D61025-E500-41F5-99FF-1999BF225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60000" tIns="468000" rIns="540000" bIns="3384000" anchor="b">
            <a:noAutofit/>
          </a:bodyPr>
          <a:lstStyle>
            <a:lvl1pPr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>
            <a:extLst>
              <a:ext uri="{FF2B5EF4-FFF2-40B4-BE49-F238E27FC236}">
                <a16:creationId xmlns:a16="http://schemas.microsoft.com/office/drawing/2014/main" id="{EB6FCD82-20DE-4DA6-AB77-D33700C7B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2257" y="4053600"/>
            <a:ext cx="4979193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>
            <a:extLst>
              <a:ext uri="{FF2B5EF4-FFF2-40B4-BE49-F238E27FC236}">
                <a16:creationId xmlns:a16="http://schemas.microsoft.com/office/drawing/2014/main" id="{8719A2BA-3FC9-4FC6-A484-F5D9A6288B2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622257" y="3007285"/>
            <a:ext cx="4979193" cy="72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/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6">
            <a:extLst>
              <a:ext uri="{FF2B5EF4-FFF2-40B4-BE49-F238E27FC236}">
                <a16:creationId xmlns:a16="http://schemas.microsoft.com/office/drawing/2014/main" id="{23D611D6-89C5-4DBC-94AB-2F304CCC4D0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622257" y="1020200"/>
            <a:ext cx="4977606" cy="134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 b="0" i="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image small left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>
            <a:extLst>
              <a:ext uri="{FF2B5EF4-FFF2-40B4-BE49-F238E27FC236}">
                <a16:creationId xmlns:a16="http://schemas.microsoft.com/office/drawing/2014/main" id="{6B5C417C-712C-4CBA-AB90-B8E186247B2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3" name="Google Shape;53;p7">
            <a:extLst>
              <a:ext uri="{FF2B5EF4-FFF2-40B4-BE49-F238E27FC236}">
                <a16:creationId xmlns:a16="http://schemas.microsoft.com/office/drawing/2014/main" id="{8A33B4CF-D601-45E3-AF53-AD480DE30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540000" tIns="468000" rIns="360000" bIns="2340000" anchor="b">
            <a:noAutofit/>
          </a:bodyPr>
          <a:lstStyle>
            <a:lvl1pPr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>
            <a:extLst>
              <a:ext uri="{FF2B5EF4-FFF2-40B4-BE49-F238E27FC236}">
                <a16:creationId xmlns:a16="http://schemas.microsoft.com/office/drawing/2014/main" id="{2FDA2314-492F-4017-8F06-DA684924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2610941"/>
            <a:ext cx="4946649" cy="1109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>
            <a:extLst>
              <a:ext uri="{FF2B5EF4-FFF2-40B4-BE49-F238E27FC236}">
                <a16:creationId xmlns:a16="http://schemas.microsoft.com/office/drawing/2014/main" id="{4BFE7F0A-B341-460B-91B0-30C53CF533C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8963" y="4042705"/>
            <a:ext cx="4983162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image large left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>
            <a:extLst>
              <a:ext uri="{FF2B5EF4-FFF2-40B4-BE49-F238E27FC236}">
                <a16:creationId xmlns:a16="http://schemas.microsoft.com/office/drawing/2014/main" id="{8B424A88-AA64-4AF0-946B-961649D4D0C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C9B1D181-A26E-47FC-A2CA-F92860127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540000" tIns="468000" rIns="360000" bIns="3384000" anchor="b">
            <a:noAutofit/>
          </a:bodyPr>
          <a:lstStyle>
            <a:lvl1pPr algn="l">
              <a:lnSpc>
                <a:spcPct val="9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A08C556-A4F2-402B-997A-BE2BED10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020200"/>
            <a:ext cx="4946649" cy="134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20CB57E6-AA16-415B-91A6-79438E4F15F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88962" y="3007285"/>
            <a:ext cx="4946649" cy="726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8">
            <a:extLst>
              <a:ext uri="{FF2B5EF4-FFF2-40B4-BE49-F238E27FC236}">
                <a16:creationId xmlns:a16="http://schemas.microsoft.com/office/drawing/2014/main" id="{9A2C82C4-DE26-4036-9C25-D918F45FC36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88962" y="4053600"/>
            <a:ext cx="4946650" cy="899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object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>
            <a:extLst>
              <a:ext uri="{FF2B5EF4-FFF2-40B4-BE49-F238E27FC236}">
                <a16:creationId xmlns:a16="http://schemas.microsoft.com/office/drawing/2014/main" id="{FFC3203F-F8E9-4AAF-AB1B-6A00D0F3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0" i="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>
            <a:extLst>
              <a:ext uri="{FF2B5EF4-FFF2-40B4-BE49-F238E27FC236}">
                <a16:creationId xmlns:a16="http://schemas.microsoft.com/office/drawing/2014/main" id="{25A1808E-E3F6-4E8F-A5BE-4BCDC48C4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5356800" cy="4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/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8684C324-7395-4A72-823F-49CD2C3E10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46000" y="1628776"/>
            <a:ext cx="5356800" cy="4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/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9">
            <a:extLst>
              <a:ext uri="{FF2B5EF4-FFF2-40B4-BE49-F238E27FC236}">
                <a16:creationId xmlns:a16="http://schemas.microsoft.com/office/drawing/2014/main" id="{9288DBC8-F5AE-4BFA-9B12-BAD1F85B54E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>
            <a:extLst>
              <a:ext uri="{FF2B5EF4-FFF2-40B4-BE49-F238E27FC236}">
                <a16:creationId xmlns:a16="http://schemas.microsoft.com/office/drawing/2014/main" id="{5AF5A715-437D-4B26-B166-75B9FE21795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>
            <a:extLst>
              <a:ext uri="{FF2B5EF4-FFF2-40B4-BE49-F238E27FC236}">
                <a16:creationId xmlns:a16="http://schemas.microsoft.com/office/drawing/2014/main" id="{4E7769AE-A956-434C-A65F-35B4526F17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, and image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>
            <a:extLst>
              <a:ext uri="{FF2B5EF4-FFF2-40B4-BE49-F238E27FC236}">
                <a16:creationId xmlns:a16="http://schemas.microsoft.com/office/drawing/2014/main" id="{C6A364FD-5DF4-4282-933F-8BC766F2819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244651" y="1628775"/>
            <a:ext cx="5356800" cy="4672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1" name="Google Shape;71;p10">
            <a:extLst>
              <a:ext uri="{FF2B5EF4-FFF2-40B4-BE49-F238E27FC236}">
                <a16:creationId xmlns:a16="http://schemas.microsoft.com/office/drawing/2014/main" id="{37D3DC9D-5721-4D9D-AA29-7B1DE64C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2"/>
            <a:ext cx="11012486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0" i="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5AB0B3D1-B22C-42D2-B62D-63F585CCC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5356800" cy="46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/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>
            <a:extLst>
              <a:ext uri="{FF2B5EF4-FFF2-40B4-BE49-F238E27FC236}">
                <a16:creationId xmlns:a16="http://schemas.microsoft.com/office/drawing/2014/main" id="{86E82F7A-08AB-415E-836B-75A335ACDE1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>
            <a:extLst>
              <a:ext uri="{FF2B5EF4-FFF2-40B4-BE49-F238E27FC236}">
                <a16:creationId xmlns:a16="http://schemas.microsoft.com/office/drawing/2014/main" id="{D3D0B129-9881-4D13-AA37-301371EC95A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>
            <a:extLst>
              <a:ext uri="{FF2B5EF4-FFF2-40B4-BE49-F238E27FC236}">
                <a16:creationId xmlns:a16="http://schemas.microsoft.com/office/drawing/2014/main" id="{66C8001D-7B84-4353-8F69-FC9E981F30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162474A2-87ED-432E-B72F-C558D9A5CC5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88963" y="1628775"/>
            <a:ext cx="11012487" cy="46736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DK"/>
          </a:p>
        </p:txBody>
      </p:sp>
      <p:sp>
        <p:nvSpPr>
          <p:cNvPr id="78" name="Google Shape;78;p11">
            <a:extLst>
              <a:ext uri="{FF2B5EF4-FFF2-40B4-BE49-F238E27FC236}">
                <a16:creationId xmlns:a16="http://schemas.microsoft.com/office/drawing/2014/main" id="{09E9D672-BA53-4DA2-B106-7D6A0FBD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2"/>
            <a:ext cx="11012486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>
            <a:extLst>
              <a:ext uri="{FF2B5EF4-FFF2-40B4-BE49-F238E27FC236}">
                <a16:creationId xmlns:a16="http://schemas.microsoft.com/office/drawing/2014/main" id="{10E8120F-1FCB-4D24-99AF-EFCFAD3F29C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>
            <a:extLst>
              <a:ext uri="{FF2B5EF4-FFF2-40B4-BE49-F238E27FC236}">
                <a16:creationId xmlns:a16="http://schemas.microsoft.com/office/drawing/2014/main" id="{3CD2A6FE-D6AE-45BA-B29C-47AA94D9D85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>
            <a:extLst>
              <a:ext uri="{FF2B5EF4-FFF2-40B4-BE49-F238E27FC236}">
                <a16:creationId xmlns:a16="http://schemas.microsoft.com/office/drawing/2014/main" id="{7F58A67D-8FA1-49B7-BA97-CE93969CBF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>
            <a:extLst>
              <a:ext uri="{FF2B5EF4-FFF2-40B4-BE49-F238E27FC236}">
                <a16:creationId xmlns:a16="http://schemas.microsoft.com/office/drawing/2014/main" id="{AE072E61-2B66-4057-A6E9-40BD9050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0" i="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>
            <a:extLst>
              <a:ext uri="{FF2B5EF4-FFF2-40B4-BE49-F238E27FC236}">
                <a16:creationId xmlns:a16="http://schemas.microsoft.com/office/drawing/2014/main" id="{426DF336-9106-4995-A6A5-49900ED2D55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>
            <a:extLst>
              <a:ext uri="{FF2B5EF4-FFF2-40B4-BE49-F238E27FC236}">
                <a16:creationId xmlns:a16="http://schemas.microsoft.com/office/drawing/2014/main" id="{1520D26F-E11D-4846-92F7-3378D452FD2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>
            <a:extLst>
              <a:ext uri="{FF2B5EF4-FFF2-40B4-BE49-F238E27FC236}">
                <a16:creationId xmlns:a16="http://schemas.microsoft.com/office/drawing/2014/main" id="{7D0018E2-2410-4B04-9622-A16B9EDD4C8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E0C43D5A-3274-4E7A-9FEF-2A426F8F4A9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029E90F9-771F-409E-B00A-A3ABACD2447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9DEBEEAB-B868-49CC-9351-F5DDACC80F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bullet list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>
            <a:extLst>
              <a:ext uri="{FF2B5EF4-FFF2-40B4-BE49-F238E27FC236}">
                <a16:creationId xmlns:a16="http://schemas.microsoft.com/office/drawing/2014/main" id="{2FAAF1F5-D484-4DE1-AB75-A6339F50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480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 i="0" cap="none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>
            <a:extLst>
              <a:ext uri="{FF2B5EF4-FFF2-40B4-BE49-F238E27FC236}">
                <a16:creationId xmlns:a16="http://schemas.microsoft.com/office/drawing/2014/main" id="{AF3F4B0A-44BC-4404-BC0B-E48193D64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4" y="2239315"/>
            <a:ext cx="5356800" cy="4063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>
                <a:solidFill>
                  <a:schemeClr val="lt1"/>
                </a:solidFill>
              </a:defRPr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>
                <a:solidFill>
                  <a:schemeClr val="lt1"/>
                </a:solidFill>
              </a:defRPr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solidFill>
                  <a:schemeClr val="lt1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>
                <a:solidFill>
                  <a:schemeClr val="lt1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3BBF46AC-2A41-46FE-97A6-7E8338BF6F2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46000" y="2239315"/>
            <a:ext cx="5356800" cy="406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0" i="0"/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5">
            <a:extLst>
              <a:ext uri="{FF2B5EF4-FFF2-40B4-BE49-F238E27FC236}">
                <a16:creationId xmlns:a16="http://schemas.microsoft.com/office/drawing/2014/main" id="{15CC7802-EE85-4818-B1EA-E5D6C280F8F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>
            <a:extLst>
              <a:ext uri="{FF2B5EF4-FFF2-40B4-BE49-F238E27FC236}">
                <a16:creationId xmlns:a16="http://schemas.microsoft.com/office/drawing/2014/main" id="{CA6F4FB3-FF8C-404F-8CBD-4ECF1D4D56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70001464-BF6E-47E9-8E0E-E37C891CD4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69480FF3-5D7F-4A04-A768-54C275EAE39D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bullet list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>
            <a:extLst>
              <a:ext uri="{FF2B5EF4-FFF2-40B4-BE49-F238E27FC236}">
                <a16:creationId xmlns:a16="http://schemas.microsoft.com/office/drawing/2014/main" id="{4A9D3FE8-2025-4418-8618-76E3D510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>
            <a:extLst>
              <a:ext uri="{FF2B5EF4-FFF2-40B4-BE49-F238E27FC236}">
                <a16:creationId xmlns:a16="http://schemas.microsoft.com/office/drawing/2014/main" id="{82C59329-A984-4943-9C8C-A95796FA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88" cy="4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431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 b="0" i="0">
                <a:solidFill>
                  <a:schemeClr val="lt1"/>
                </a:solidFill>
              </a:defRPr>
            </a:lvl1pPr>
            <a:lvl2pPr marL="91440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>
                <a:solidFill>
                  <a:schemeClr val="lt1"/>
                </a:solidFill>
              </a:defRPr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solidFill>
                  <a:schemeClr val="lt1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404D1E73-A0F9-412B-A9C7-C80D3A69C8B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>
            <a:extLst>
              <a:ext uri="{FF2B5EF4-FFF2-40B4-BE49-F238E27FC236}">
                <a16:creationId xmlns:a16="http://schemas.microsoft.com/office/drawing/2014/main" id="{94CA00E4-B44B-460D-99C5-F16D7026A47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>
            <a:extLst>
              <a:ext uri="{FF2B5EF4-FFF2-40B4-BE49-F238E27FC236}">
                <a16:creationId xmlns:a16="http://schemas.microsoft.com/office/drawing/2014/main" id="{87AE6B0B-003D-4260-8A1A-E1FB4222F5C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>
            <a:extLst>
              <a:ext uri="{FF2B5EF4-FFF2-40B4-BE49-F238E27FC236}">
                <a16:creationId xmlns:a16="http://schemas.microsoft.com/office/drawing/2014/main" id="{91F87917-3223-48F2-8B7E-DDD070C866E6}"/>
              </a:ext>
            </a:extLst>
          </p:cNvPr>
          <p:cNvSpPr>
            <a:spLocks noGrp="1"/>
          </p:cNvSpPr>
          <p:nvPr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”</a:t>
            </a:r>
            <a:endParaRPr/>
          </a:p>
        </p:txBody>
      </p:sp>
      <p:sp>
        <p:nvSpPr>
          <p:cNvPr id="108" name="Google Shape;108;p17">
            <a:extLst>
              <a:ext uri="{FF2B5EF4-FFF2-40B4-BE49-F238E27FC236}">
                <a16:creationId xmlns:a16="http://schemas.microsoft.com/office/drawing/2014/main" id="{B0BD3F30-2822-4350-9745-3CC78A740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87" cy="411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7">
            <a:extLst>
              <a:ext uri="{FF2B5EF4-FFF2-40B4-BE49-F238E27FC236}">
                <a16:creationId xmlns:a16="http://schemas.microsoft.com/office/drawing/2014/main" id="{9E1F22CA-2C1B-44A0-A626-62DC00029A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90400" y="5934971"/>
            <a:ext cx="11012400" cy="36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B21806F-2BA0-4881-9938-88F13A721E4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E2331B70-9452-4077-9ABD-F64D0DDB36A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A9CF2428-EF75-44A2-928D-96AD9ED0D1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ing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>
            <a:extLst>
              <a:ext uri="{FF2B5EF4-FFF2-40B4-BE49-F238E27FC236}">
                <a16:creationId xmlns:a16="http://schemas.microsoft.com/office/drawing/2014/main" id="{7D0E684C-3992-4048-90BE-D23319C50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27812"/>
            <a:ext cx="12192000" cy="95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8">
            <a:extLst>
              <a:ext uri="{FF2B5EF4-FFF2-40B4-BE49-F238E27FC236}">
                <a16:creationId xmlns:a16="http://schemas.microsoft.com/office/drawing/2014/main" id="{744AE05A-270B-40B4-AACC-3B3A74FFF6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0" y="3559852"/>
            <a:ext cx="12192000" cy="95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0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>
            <a:extLst>
              <a:ext uri="{FF2B5EF4-FFF2-40B4-BE49-F238E27FC236}">
                <a16:creationId xmlns:a16="http://schemas.microsoft.com/office/drawing/2014/main" id="{C335C0F1-D17E-42F1-A7AF-AE7C6BB93A1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>
            <a:extLst>
              <a:ext uri="{FF2B5EF4-FFF2-40B4-BE49-F238E27FC236}">
                <a16:creationId xmlns:a16="http://schemas.microsoft.com/office/drawing/2014/main" id="{2349C63B-E4FA-4875-A93D-36EA00B229A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>
            <a:extLst>
              <a:ext uri="{FF2B5EF4-FFF2-40B4-BE49-F238E27FC236}">
                <a16:creationId xmlns:a16="http://schemas.microsoft.com/office/drawing/2014/main" id="{757709EE-09CE-4374-8F4D-D2B30C7388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7111F73C-2AB0-4CA3-8303-942CC763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F14E9930-D4F8-4D91-8D9B-B5C37B2AE0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35309" y="992701"/>
            <a:ext cx="3590534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E1DE0D9-C81B-46B3-BC51-8258C1B2006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EAF82C7-3AFB-4C34-8F60-1ED0D523FE13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7438265" y="911224"/>
            <a:ext cx="3705822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EEFADC0E-44A0-46AC-B3D0-E9CF800682F7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>
            <a:extLst>
              <a:ext uri="{FF2B5EF4-FFF2-40B4-BE49-F238E27FC236}">
                <a16:creationId xmlns:a16="http://schemas.microsoft.com/office/drawing/2014/main" id="{096A7F9E-7904-4D0B-A8C0-D30FECB30742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3620656" y="2409825"/>
            <a:ext cx="3113087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183075F7-FB7C-49D5-9C8F-313B3203EE47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9">
            <a:extLst>
              <a:ext uri="{FF2B5EF4-FFF2-40B4-BE49-F238E27FC236}">
                <a16:creationId xmlns:a16="http://schemas.microsoft.com/office/drawing/2014/main" id="{77313125-C719-4ECE-AEBD-6CB20615637A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8535988" y="2970213"/>
            <a:ext cx="3065462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9">
            <a:extLst>
              <a:ext uri="{FF2B5EF4-FFF2-40B4-BE49-F238E27FC236}">
                <a16:creationId xmlns:a16="http://schemas.microsoft.com/office/drawing/2014/main" id="{16AD06FF-EA6D-4985-977B-0B3A8E5C363D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9">
            <a:extLst>
              <a:ext uri="{FF2B5EF4-FFF2-40B4-BE49-F238E27FC236}">
                <a16:creationId xmlns:a16="http://schemas.microsoft.com/office/drawing/2014/main" id="{4DA8990E-F77E-44F5-B699-EE2145DDEC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14435" y="4498975"/>
            <a:ext cx="2938665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9">
            <a:extLst>
              <a:ext uri="{FF2B5EF4-FFF2-40B4-BE49-F238E27FC236}">
                <a16:creationId xmlns:a16="http://schemas.microsoft.com/office/drawing/2014/main" id="{70EFCD1A-A46B-4802-88A3-D28A69CA728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0" tIns="72000" rIns="0" bIns="0" anchor="ctr">
            <a:noAutofit/>
          </a:bodyPr>
          <a:lstStyle>
            <a:lvl1pPr marL="45720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marL="914400" indent="-228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9">
            <a:extLst>
              <a:ext uri="{FF2B5EF4-FFF2-40B4-BE49-F238E27FC236}">
                <a16:creationId xmlns:a16="http://schemas.microsoft.com/office/drawing/2014/main" id="{1DFA0F3D-0C46-4CFE-AE6A-000563CADAC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720013" y="5138044"/>
            <a:ext cx="3343275" cy="1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9">
            <a:extLst>
              <a:ext uri="{FF2B5EF4-FFF2-40B4-BE49-F238E27FC236}">
                <a16:creationId xmlns:a16="http://schemas.microsoft.com/office/drawing/2014/main" id="{E655BBE7-5A1B-41F3-9AA1-4C2951C56CB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>
            <a:extLst>
              <a:ext uri="{FF2B5EF4-FFF2-40B4-BE49-F238E27FC236}">
                <a16:creationId xmlns:a16="http://schemas.microsoft.com/office/drawing/2014/main" id="{43374E8C-7131-4AFD-B1DA-CF64F81A69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385CD961-DE3C-4FD6-B562-586F306F8A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97666DEF-CD30-4BFF-9317-62EF4062CE5E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text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row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>
            <a:extLst>
              <a:ext uri="{FF2B5EF4-FFF2-40B4-BE49-F238E27FC236}">
                <a16:creationId xmlns:a16="http://schemas.microsoft.com/office/drawing/2014/main" id="{9BE589F7-D28E-43FA-8AE7-A4575373642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0">
            <a:extLst>
              <a:ext uri="{FF2B5EF4-FFF2-40B4-BE49-F238E27FC236}">
                <a16:creationId xmlns:a16="http://schemas.microsoft.com/office/drawing/2014/main" id="{D5276A32-F1A4-40E0-8079-B7669CB4FC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0">
            <a:extLst>
              <a:ext uri="{FF2B5EF4-FFF2-40B4-BE49-F238E27FC236}">
                <a16:creationId xmlns:a16="http://schemas.microsoft.com/office/drawing/2014/main" id="{7673557D-49B3-416F-927F-DEFEC9EDF1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0" name="Google Shape;140;p20">
            <a:extLst>
              <a:ext uri="{FF2B5EF4-FFF2-40B4-BE49-F238E27FC236}">
                <a16:creationId xmlns:a16="http://schemas.microsoft.com/office/drawing/2014/main" id="{2AE59F14-707F-4EFF-A3F9-F06668560470}"/>
              </a:ext>
            </a:extLst>
          </p:cNvPr>
          <p:cNvSpPr>
            <a:spLocks noGrp="1"/>
          </p:cNvSpPr>
          <p:nvPr/>
        </p:nvSpPr>
        <p:spPr>
          <a:xfrm>
            <a:off x="-1219200" y="-2227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endParaRPr sz="4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20">
            <a:extLst>
              <a:ext uri="{FF2B5EF4-FFF2-40B4-BE49-F238E27FC236}">
                <a16:creationId xmlns:a16="http://schemas.microsoft.com/office/drawing/2014/main" id="{BB88E493-FA5A-4794-8E83-5D5B2BFA54B7}"/>
              </a:ext>
            </a:extLst>
          </p:cNvPr>
          <p:cNvSpPr>
            <a:spLocks noGrp="1"/>
          </p:cNvSpPr>
          <p:nvPr/>
        </p:nvSpPr>
        <p:spPr>
          <a:xfrm>
            <a:off x="4531540" y="232241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endParaRPr sz="4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Google Shape;142;p20">
            <a:extLst>
              <a:ext uri="{FF2B5EF4-FFF2-40B4-BE49-F238E27FC236}">
                <a16:creationId xmlns:a16="http://schemas.microsoft.com/office/drawing/2014/main" id="{64DC15BC-5DFA-409A-B07B-FBAE0C94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2"/>
            <a:ext cx="11012488" cy="864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0">
            <a:extLst>
              <a:ext uri="{FF2B5EF4-FFF2-40B4-BE49-F238E27FC236}">
                <a16:creationId xmlns:a16="http://schemas.microsoft.com/office/drawing/2014/main" id="{22486761-8319-4D1E-A0A9-DCB9E5417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36000" tIns="7200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0">
            <a:extLst>
              <a:ext uri="{FF2B5EF4-FFF2-40B4-BE49-F238E27FC236}">
                <a16:creationId xmlns:a16="http://schemas.microsoft.com/office/drawing/2014/main" id="{3F54BC26-45C2-4EBC-9F90-27E2788397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36000" tIns="7200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0">
            <a:extLst>
              <a:ext uri="{FF2B5EF4-FFF2-40B4-BE49-F238E27FC236}">
                <a16:creationId xmlns:a16="http://schemas.microsoft.com/office/drawing/2014/main" id="{3D4DA474-22C9-458A-8420-C5AF95EC47B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36000" tIns="7200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6F3A9ADA-4FF5-40FC-B17F-751837341FD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36000" tIns="72000" rIns="0" bIns="0" anchor="ctr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marL="91440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FF9E84A0-A349-4C92-B115-D77CC7DDF485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588964" y="5623418"/>
            <a:ext cx="11012486" cy="678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457200" indent="-22860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/>
            </a:lvl1pPr>
            <a:lvl2pPr marL="914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/>
            </a:lvl2pPr>
            <a:lvl3pPr marL="1371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/>
            </a:lvl3pPr>
            <a:lvl4pPr marL="18288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/>
            </a:lvl4pPr>
            <a:lvl5pPr marL="22860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/>
            </a:lvl5pPr>
            <a:lvl6pPr marL="27432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6pPr>
            <a:lvl7pPr marL="32004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7pPr>
            <a:lvl8pPr marL="36576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8pPr>
            <a:lvl9pPr marL="41148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8" name="Google Shape;148;p20">
            <a:extLst>
              <a:ext uri="{FF2B5EF4-FFF2-40B4-BE49-F238E27FC236}">
                <a16:creationId xmlns:a16="http://schemas.microsoft.com/office/drawing/2014/main" id="{D97EFB6E-DA79-4298-BB1E-74B9B867D1F4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s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>
            <a:extLst>
              <a:ext uri="{FF2B5EF4-FFF2-40B4-BE49-F238E27FC236}">
                <a16:creationId xmlns:a16="http://schemas.microsoft.com/office/drawing/2014/main" id="{86443B55-AAE4-439A-B655-AA08AE31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57" y="842657"/>
            <a:ext cx="11012486" cy="114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 i="0" cap="none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>
            <a:extLst>
              <a:ext uri="{FF2B5EF4-FFF2-40B4-BE49-F238E27FC236}">
                <a16:creationId xmlns:a16="http://schemas.microsoft.com/office/drawing/2014/main" id="{D60989A9-397C-45B8-9D31-02ACD74175C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0FBF6EE6-4C3A-4CD2-A699-1BBEC67DF8E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>
            <a:extLst>
              <a:ext uri="{FF2B5EF4-FFF2-40B4-BE49-F238E27FC236}">
                <a16:creationId xmlns:a16="http://schemas.microsoft.com/office/drawing/2014/main" id="{25995353-D456-4CE5-A443-F8D0546A32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777303D7-7D82-4571-ABCC-81C01F76FA2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-197429">
            <a:off x="985914" y="2449156"/>
            <a:ext cx="4115489" cy="2817262"/>
          </a:xfrm>
          <a:prstGeom prst="rect">
            <a:avLst/>
          </a:prstGeom>
          <a:solidFill>
            <a:srgbClr val="A5A5A5"/>
          </a:solidFill>
          <a:ln w="146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5" name="Google Shape;155;p21">
            <a:extLst>
              <a:ext uri="{FF2B5EF4-FFF2-40B4-BE49-F238E27FC236}">
                <a16:creationId xmlns:a16="http://schemas.microsoft.com/office/drawing/2014/main" id="{479A8B3E-1A1A-4B67-A20B-E7B2039FE3D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 rot="533356">
            <a:off x="5893725" y="2510306"/>
            <a:ext cx="5462634" cy="3596788"/>
          </a:xfrm>
          <a:prstGeom prst="rect">
            <a:avLst/>
          </a:prstGeom>
          <a:solidFill>
            <a:srgbClr val="A5A5A5"/>
          </a:solidFill>
          <a:ln w="146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5C19AD99-2E5E-4545-9B6F-F92FE87B21BC}"/>
              </a:ext>
            </a:extLst>
          </p:cNvPr>
          <p:cNvSpPr>
            <a:spLocks noGrp="1"/>
          </p:cNvSpPr>
          <p:nvPr/>
        </p:nvSpPr>
        <p:spPr>
          <a:xfrm>
            <a:off x="0" y="-310243"/>
            <a:ext cx="6825343" cy="310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endParaRPr sz="4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E14CC5D-9DAD-4630-BF3B-68D3F7FA2F4D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>
            <a:extLst>
              <a:ext uri="{FF2B5EF4-FFF2-40B4-BE49-F238E27FC236}">
                <a16:creationId xmlns:a16="http://schemas.microsoft.com/office/drawing/2014/main" id="{66E28F59-38E4-498E-B8D3-2BE435A181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>
            <a:extLst>
              <a:ext uri="{FF2B5EF4-FFF2-40B4-BE49-F238E27FC236}">
                <a16:creationId xmlns:a16="http://schemas.microsoft.com/office/drawing/2014/main" id="{31C3C9CE-6A35-4CCE-BC48-31EB6F3994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0FCBA68B-F8A5-4541-8DEE-1EEA01B2F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62" name="Google Shape;162;p22">
            <a:extLst>
              <a:ext uri="{FF2B5EF4-FFF2-40B4-BE49-F238E27FC236}">
                <a16:creationId xmlns:a16="http://schemas.microsoft.com/office/drawing/2014/main" id="{06F43F71-5BD7-4036-9DFB-C1C47B51170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89757" y="2890520"/>
            <a:ext cx="3433685" cy="3403600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63" name="Google Shape;163;p22">
            <a:extLst>
              <a:ext uri="{FF2B5EF4-FFF2-40B4-BE49-F238E27FC236}">
                <a16:creationId xmlns:a16="http://schemas.microsoft.com/office/drawing/2014/main" id="{334E8817-426F-40E7-922B-D2D823274DF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5852160" y="612233"/>
            <a:ext cx="5749290" cy="5681887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91618FCF-5D95-4164-9CB2-1128A33DAE49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2855041" y="1961476"/>
            <a:ext cx="2336801" cy="2294929"/>
          </a:xfrm>
          <a:prstGeom prst="rect">
            <a:avLst/>
          </a:prstGeom>
          <a:solidFill>
            <a:srgbClr val="D8D8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4DE3F1D4-BC50-4C17-8589-05E60486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3"/>
            <a:ext cx="4602877" cy="100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ith text right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>
            <a:extLst>
              <a:ext uri="{FF2B5EF4-FFF2-40B4-BE49-F238E27FC236}">
                <a16:creationId xmlns:a16="http://schemas.microsoft.com/office/drawing/2014/main" id="{BFC5DC16-3088-4B91-9857-DE7834B74E72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-708434">
            <a:off x="1018941" y="1976793"/>
            <a:ext cx="3832754" cy="3749640"/>
          </a:xfrm>
          <a:prstGeom prst="rect">
            <a:avLst/>
          </a:prstGeom>
          <a:solidFill>
            <a:srgbClr val="A5A5A5"/>
          </a:solidFill>
          <a:ln w="146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8" name="Google Shape;168;p23">
            <a:extLst>
              <a:ext uri="{FF2B5EF4-FFF2-40B4-BE49-F238E27FC236}">
                <a16:creationId xmlns:a16="http://schemas.microsoft.com/office/drawing/2014/main" id="{2749FCAD-7064-4B77-862B-1CA3F4DC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2"/>
            <a:ext cx="11012486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3">
            <a:extLst>
              <a:ext uri="{FF2B5EF4-FFF2-40B4-BE49-F238E27FC236}">
                <a16:creationId xmlns:a16="http://schemas.microsoft.com/office/drawing/2014/main" id="{8FB6B43A-9ABA-4578-ABD8-A5D24F78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3580" y="2097067"/>
            <a:ext cx="5817869" cy="420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  <a:defRPr sz="3600" b="1">
                <a:solidFill>
                  <a:schemeClr val="lt1"/>
                </a:solidFill>
              </a:defRPr>
            </a:lvl1pPr>
            <a:lvl2pPr marL="914400" indent="-431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 b="1">
                <a:solidFill>
                  <a:schemeClr val="lt1"/>
                </a:solidFill>
              </a:defRPr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 b="1">
                <a:solidFill>
                  <a:schemeClr val="lt1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3">
            <a:extLst>
              <a:ext uri="{FF2B5EF4-FFF2-40B4-BE49-F238E27FC236}">
                <a16:creationId xmlns:a16="http://schemas.microsoft.com/office/drawing/2014/main" id="{FEED6F6F-2960-40DA-BFF6-0D518C6297A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3">
            <a:extLst>
              <a:ext uri="{FF2B5EF4-FFF2-40B4-BE49-F238E27FC236}">
                <a16:creationId xmlns:a16="http://schemas.microsoft.com/office/drawing/2014/main" id="{4D6A08EA-3A21-41AC-A0A6-5337AB266DE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3">
            <a:extLst>
              <a:ext uri="{FF2B5EF4-FFF2-40B4-BE49-F238E27FC236}">
                <a16:creationId xmlns:a16="http://schemas.microsoft.com/office/drawing/2014/main" id="{E88CC857-8BF1-4629-9D55-5EB0BB2790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ith text left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>
            <a:extLst>
              <a:ext uri="{FF2B5EF4-FFF2-40B4-BE49-F238E27FC236}">
                <a16:creationId xmlns:a16="http://schemas.microsoft.com/office/drawing/2014/main" id="{D6912732-B92F-4A95-937E-0E700111E7B9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496878">
            <a:off x="6504534" y="1615672"/>
            <a:ext cx="4653097" cy="4640373"/>
          </a:xfrm>
          <a:prstGeom prst="rect">
            <a:avLst/>
          </a:prstGeom>
          <a:solidFill>
            <a:srgbClr val="A5A5A5"/>
          </a:solidFill>
          <a:ln w="14605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5" name="Google Shape;175;p24">
            <a:extLst>
              <a:ext uri="{FF2B5EF4-FFF2-40B4-BE49-F238E27FC236}">
                <a16:creationId xmlns:a16="http://schemas.microsoft.com/office/drawing/2014/main" id="{CF2885AD-82C3-4E62-9EEE-1AD995318C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4">
            <a:extLst>
              <a:ext uri="{FF2B5EF4-FFF2-40B4-BE49-F238E27FC236}">
                <a16:creationId xmlns:a16="http://schemas.microsoft.com/office/drawing/2014/main" id="{D1CE66B7-1007-4E7F-AE28-DF523D8EF31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>
            <a:extLst>
              <a:ext uri="{FF2B5EF4-FFF2-40B4-BE49-F238E27FC236}">
                <a16:creationId xmlns:a16="http://schemas.microsoft.com/office/drawing/2014/main" id="{D682DF9C-29E0-46EB-9AFB-D09F1D2BE6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78" name="Google Shape;178;p24">
            <a:extLst>
              <a:ext uri="{FF2B5EF4-FFF2-40B4-BE49-F238E27FC236}">
                <a16:creationId xmlns:a16="http://schemas.microsoft.com/office/drawing/2014/main" id="{2F4C6599-5165-4106-A760-134AC8C95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2"/>
            <a:ext cx="11012486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>
            <a:extLst>
              <a:ext uri="{FF2B5EF4-FFF2-40B4-BE49-F238E27FC236}">
                <a16:creationId xmlns:a16="http://schemas.microsoft.com/office/drawing/2014/main" id="{EAB296B3-FF64-4F96-AAF3-F05254C7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2097067"/>
            <a:ext cx="5818682" cy="420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indent="-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Char char="•"/>
              <a:defRPr sz="3600" b="1">
                <a:solidFill>
                  <a:schemeClr val="lt1"/>
                </a:solidFill>
              </a:defRPr>
            </a:lvl1pPr>
            <a:lvl2pPr marL="914400" indent="-431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 b="1">
                <a:solidFill>
                  <a:schemeClr val="lt1"/>
                </a:solidFill>
              </a:defRPr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 b="1">
                <a:solidFill>
                  <a:schemeClr val="lt1"/>
                </a:solidFill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A">
  <p:cSld name="Title and image A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>
            <a:extLst>
              <a:ext uri="{FF2B5EF4-FFF2-40B4-BE49-F238E27FC236}">
                <a16:creationId xmlns:a16="http://schemas.microsoft.com/office/drawing/2014/main" id="{984A94C1-0764-435B-B8F0-0A490AA0522E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" y="331200"/>
            <a:ext cx="12191999" cy="6526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2" name="Google Shape;182;p25">
            <a:extLst>
              <a:ext uri="{FF2B5EF4-FFF2-40B4-BE49-F238E27FC236}">
                <a16:creationId xmlns:a16="http://schemas.microsoft.com/office/drawing/2014/main" id="{0CE922CD-C316-41CC-812C-349A720C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756000"/>
            <a:ext cx="6822000" cy="1065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52000" tIns="216000" rIns="252000" bIns="10800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>
                <a:solidFill>
                  <a:schemeClr val="lt1"/>
                </a:solidFill>
              </a:defRPr>
            </a:lvl1pPr>
            <a:lvl2pPr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5">
            <a:extLst>
              <a:ext uri="{FF2B5EF4-FFF2-40B4-BE49-F238E27FC236}">
                <a16:creationId xmlns:a16="http://schemas.microsoft.com/office/drawing/2014/main" id="{0650D037-430D-44B3-B34D-509B84B65E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5">
            <a:extLst>
              <a:ext uri="{FF2B5EF4-FFF2-40B4-BE49-F238E27FC236}">
                <a16:creationId xmlns:a16="http://schemas.microsoft.com/office/drawing/2014/main" id="{1577DA82-4330-4DC6-BD0E-AC9125F3302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5">
            <a:extLst>
              <a:ext uri="{FF2B5EF4-FFF2-40B4-BE49-F238E27FC236}">
                <a16:creationId xmlns:a16="http://schemas.microsoft.com/office/drawing/2014/main" id="{C4FB86ED-D44D-4AA0-B4BF-3041EF94C5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86" name="Google Shape;186;p25">
            <a:extLst>
              <a:ext uri="{FF2B5EF4-FFF2-40B4-BE49-F238E27FC236}">
                <a16:creationId xmlns:a16="http://schemas.microsoft.com/office/drawing/2014/main" id="{E84F709E-D3A6-40A9-A187-00008EEAED99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B">
  <p:cSld name="Title and image B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>
            <a:extLst>
              <a:ext uri="{FF2B5EF4-FFF2-40B4-BE49-F238E27FC236}">
                <a16:creationId xmlns:a16="http://schemas.microsoft.com/office/drawing/2014/main" id="{5BB9F6FF-1419-4D17-8205-CB80DC2E913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331200"/>
            <a:ext cx="12191999" cy="6526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9" name="Google Shape;189;p26">
            <a:extLst>
              <a:ext uri="{FF2B5EF4-FFF2-40B4-BE49-F238E27FC236}">
                <a16:creationId xmlns:a16="http://schemas.microsoft.com/office/drawing/2014/main" id="{B97ACA82-A5B9-4C02-8F9F-66C27E90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1" y="4962214"/>
            <a:ext cx="4173870" cy="13401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252000" tIns="108000" rIns="25200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6">
            <a:extLst>
              <a:ext uri="{FF2B5EF4-FFF2-40B4-BE49-F238E27FC236}">
                <a16:creationId xmlns:a16="http://schemas.microsoft.com/office/drawing/2014/main" id="{74F80BAC-8CDE-4157-82D9-0ABF4A11A98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6">
            <a:extLst>
              <a:ext uri="{FF2B5EF4-FFF2-40B4-BE49-F238E27FC236}">
                <a16:creationId xmlns:a16="http://schemas.microsoft.com/office/drawing/2014/main" id="{7E084A13-A19B-4A7F-BCCF-027D01CD7D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>
            <a:extLst>
              <a:ext uri="{FF2B5EF4-FFF2-40B4-BE49-F238E27FC236}">
                <a16:creationId xmlns:a16="http://schemas.microsoft.com/office/drawing/2014/main" id="{18B5838B-359E-430E-B29B-4713413147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93" name="Google Shape;193;p26">
            <a:extLst>
              <a:ext uri="{FF2B5EF4-FFF2-40B4-BE49-F238E27FC236}">
                <a16:creationId xmlns:a16="http://schemas.microsoft.com/office/drawing/2014/main" id="{16475C72-67F2-4929-9A67-1D9DA9BC96ED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C">
  <p:cSld name="Title and image C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2A306934-4FAD-4C11-9777-0D9200B3705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331200"/>
            <a:ext cx="12191999" cy="6526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96" name="Google Shape;196;p27">
            <a:extLst>
              <a:ext uri="{FF2B5EF4-FFF2-40B4-BE49-F238E27FC236}">
                <a16:creationId xmlns:a16="http://schemas.microsoft.com/office/drawing/2014/main" id="{E9B5B4DB-A95E-4B17-9CAF-51730EF2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450" y="4497883"/>
            <a:ext cx="6822000" cy="10658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252000" tIns="216000" rIns="252000" bIns="10800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7">
            <a:extLst>
              <a:ext uri="{FF2B5EF4-FFF2-40B4-BE49-F238E27FC236}">
                <a16:creationId xmlns:a16="http://schemas.microsoft.com/office/drawing/2014/main" id="{223C1210-72DF-4D4F-96A8-701BA53CA6E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7">
            <a:extLst>
              <a:ext uri="{FF2B5EF4-FFF2-40B4-BE49-F238E27FC236}">
                <a16:creationId xmlns:a16="http://schemas.microsoft.com/office/drawing/2014/main" id="{2A8E6E31-C8EF-489C-8493-EF31471C9B4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7">
            <a:extLst>
              <a:ext uri="{FF2B5EF4-FFF2-40B4-BE49-F238E27FC236}">
                <a16:creationId xmlns:a16="http://schemas.microsoft.com/office/drawing/2014/main" id="{A096B5F5-4791-4B85-A596-1387E73B912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00" name="Google Shape;200;p27">
            <a:extLst>
              <a:ext uri="{FF2B5EF4-FFF2-40B4-BE49-F238E27FC236}">
                <a16:creationId xmlns:a16="http://schemas.microsoft.com/office/drawing/2014/main" id="{F3B10327-9565-45EA-80A4-DFD56548D3D5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D">
  <p:cSld name="Title and image D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>
            <a:extLst>
              <a:ext uri="{FF2B5EF4-FFF2-40B4-BE49-F238E27FC236}">
                <a16:creationId xmlns:a16="http://schemas.microsoft.com/office/drawing/2014/main" id="{5AECFDEE-CEE3-46C6-876A-B5549C95EDC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331200"/>
            <a:ext cx="12191999" cy="6526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03" name="Google Shape;203;p28">
            <a:extLst>
              <a:ext uri="{FF2B5EF4-FFF2-40B4-BE49-F238E27FC236}">
                <a16:creationId xmlns:a16="http://schemas.microsoft.com/office/drawing/2014/main" id="{9084D7B2-698A-46A2-BB4C-28E07812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1017402"/>
            <a:ext cx="11012487" cy="9175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0000" tIns="180000" rIns="180000" bIns="18000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8">
            <a:extLst>
              <a:ext uri="{FF2B5EF4-FFF2-40B4-BE49-F238E27FC236}">
                <a16:creationId xmlns:a16="http://schemas.microsoft.com/office/drawing/2014/main" id="{EA487C31-D9FB-4FE9-B90A-5D5590270C2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8">
            <a:extLst>
              <a:ext uri="{FF2B5EF4-FFF2-40B4-BE49-F238E27FC236}">
                <a16:creationId xmlns:a16="http://schemas.microsoft.com/office/drawing/2014/main" id="{5D830806-3537-474A-BA52-EB07AC86B4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8">
            <a:extLst>
              <a:ext uri="{FF2B5EF4-FFF2-40B4-BE49-F238E27FC236}">
                <a16:creationId xmlns:a16="http://schemas.microsoft.com/office/drawing/2014/main" id="{58D8934C-8C40-4C15-B840-9D3C555A35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07" name="Google Shape;207;p28">
            <a:extLst>
              <a:ext uri="{FF2B5EF4-FFF2-40B4-BE49-F238E27FC236}">
                <a16:creationId xmlns:a16="http://schemas.microsoft.com/office/drawing/2014/main" id="{464B49B2-B559-4D1F-8261-F6ED9562CFAA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E">
  <p:cSld name="Title and image 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>
            <a:extLst>
              <a:ext uri="{FF2B5EF4-FFF2-40B4-BE49-F238E27FC236}">
                <a16:creationId xmlns:a16="http://schemas.microsoft.com/office/drawing/2014/main" id="{63DB0B86-4005-498C-9E39-01AF3CE032F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331200"/>
            <a:ext cx="12191999" cy="6526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210" name="Google Shape;210;p29">
            <a:extLst>
              <a:ext uri="{FF2B5EF4-FFF2-40B4-BE49-F238E27FC236}">
                <a16:creationId xmlns:a16="http://schemas.microsoft.com/office/drawing/2014/main" id="{B568B112-C88A-42CC-A259-52E5F913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4161995"/>
            <a:ext cx="11012487" cy="2140380"/>
          </a:xfrm>
          <a:prstGeom prst="rect">
            <a:avLst/>
          </a:prstGeom>
          <a:solidFill>
            <a:schemeClr val="dk1">
              <a:alpha val="45882"/>
            </a:schemeClr>
          </a:solidFill>
          <a:ln>
            <a:noFill/>
          </a:ln>
        </p:spPr>
        <p:txBody>
          <a:bodyPr spcFirstLastPara="1" wrap="square" lIns="252000" tIns="108000" rIns="252000" bIns="0" anchor="t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sz="6600" b="1" cap="none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9">
            <a:extLst>
              <a:ext uri="{FF2B5EF4-FFF2-40B4-BE49-F238E27FC236}">
                <a16:creationId xmlns:a16="http://schemas.microsoft.com/office/drawing/2014/main" id="{4961C8D2-3121-4BF6-BA40-6659535651C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9">
            <a:extLst>
              <a:ext uri="{FF2B5EF4-FFF2-40B4-BE49-F238E27FC236}">
                <a16:creationId xmlns:a16="http://schemas.microsoft.com/office/drawing/2014/main" id="{D79A4D7D-93E9-4C9E-8009-9C15A13ABFF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9">
            <a:extLst>
              <a:ext uri="{FF2B5EF4-FFF2-40B4-BE49-F238E27FC236}">
                <a16:creationId xmlns:a16="http://schemas.microsoft.com/office/drawing/2014/main" id="{A4290829-809F-4255-AF34-BBBF8A027C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14" name="Google Shape;214;p29">
            <a:extLst>
              <a:ext uri="{FF2B5EF4-FFF2-40B4-BE49-F238E27FC236}">
                <a16:creationId xmlns:a16="http://schemas.microsoft.com/office/drawing/2014/main" id="{7EB2C6B8-7DDD-428D-B5CE-6513B3247812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s and comments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>
            <a:extLst>
              <a:ext uri="{FF2B5EF4-FFF2-40B4-BE49-F238E27FC236}">
                <a16:creationId xmlns:a16="http://schemas.microsoft.com/office/drawing/2014/main" id="{9DE937C0-DAF8-417A-BF3C-04DDDAEBFE1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0">
            <a:extLst>
              <a:ext uri="{FF2B5EF4-FFF2-40B4-BE49-F238E27FC236}">
                <a16:creationId xmlns:a16="http://schemas.microsoft.com/office/drawing/2014/main" id="{83E838AA-1151-4EA3-B91C-6DB048F3F6E2}"/>
              </a:ext>
            </a:extLst>
          </p:cNvPr>
          <p:cNvSpPr>
            <a:spLocks noGrp="1"/>
          </p:cNvSpPr>
          <p:nvPr/>
        </p:nvSpPr>
        <p:spPr>
          <a:xfrm>
            <a:off x="3642413" y="900524"/>
            <a:ext cx="4787900" cy="555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95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?</a:t>
            </a:r>
            <a:endParaRPr/>
          </a:p>
        </p:txBody>
      </p:sp>
      <p:sp>
        <p:nvSpPr>
          <p:cNvPr id="218" name="Google Shape;218;p30">
            <a:extLst>
              <a:ext uri="{FF2B5EF4-FFF2-40B4-BE49-F238E27FC236}">
                <a16:creationId xmlns:a16="http://schemas.microsoft.com/office/drawing/2014/main" id="{E6B1F228-546A-421A-81F0-BBC68DA0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732" y="1628776"/>
            <a:ext cx="9461718" cy="3999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9600" b="1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0">
            <a:extLst>
              <a:ext uri="{FF2B5EF4-FFF2-40B4-BE49-F238E27FC236}">
                <a16:creationId xmlns:a16="http://schemas.microsoft.com/office/drawing/2014/main" id="{D5DE6097-6986-44F6-8A13-8241AB8334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0">
            <a:extLst>
              <a:ext uri="{FF2B5EF4-FFF2-40B4-BE49-F238E27FC236}">
                <a16:creationId xmlns:a16="http://schemas.microsoft.com/office/drawing/2014/main" id="{B6AC3633-107E-48E8-8C43-2FAEF83085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21" name="Google Shape;221;p30">
            <a:extLst>
              <a:ext uri="{FF2B5EF4-FFF2-40B4-BE49-F238E27FC236}">
                <a16:creationId xmlns:a16="http://schemas.microsoft.com/office/drawing/2014/main" id="{6944BB40-6C88-4BAE-8E2B-4BE501A55675}"/>
              </a:ext>
            </a:extLst>
          </p:cNvPr>
          <p:cNvSpPr>
            <a:spLocks noGrp="1"/>
          </p:cNvSpPr>
          <p:nvPr/>
        </p:nvSpPr>
        <p:spPr>
          <a:xfrm>
            <a:off x="588964" y="-375558"/>
            <a:ext cx="11012486" cy="306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Highlight words </a:t>
            </a:r>
            <a:r>
              <a:rPr sz="14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in headline using </a:t>
            </a:r>
            <a:r>
              <a:rPr sz="14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bold   </a:t>
            </a:r>
            <a:endParaRPr sz="1400" b="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ser guide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>
            <a:extLst>
              <a:ext uri="{FF2B5EF4-FFF2-40B4-BE49-F238E27FC236}">
                <a16:creationId xmlns:a16="http://schemas.microsoft.com/office/drawing/2014/main" id="{690351F4-2C83-4FB6-A1B5-C7DED7010160}"/>
              </a:ext>
            </a:extLst>
          </p:cNvPr>
          <p:cNvSpPr>
            <a:spLocks noGrp="1"/>
          </p:cNvSpPr>
          <p:nvPr/>
        </p:nvSpPr>
        <p:spPr>
          <a:xfrm>
            <a:off x="588964" y="613649"/>
            <a:ext cx="11012486" cy="8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sz="3000">
                <a:solidFill>
                  <a:schemeClr val="dk1"/>
                </a:solidFill>
                <a:latin typeface="Arial"/>
                <a:ea typeface="Arial"/>
                <a:cs typeface="Arial"/>
              </a:rPr>
              <a:t>User guide </a:t>
            </a:r>
            <a:r>
              <a:rPr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– delete before use</a:t>
            </a:r>
            <a:endParaRPr/>
          </a:p>
        </p:txBody>
      </p:sp>
      <p:sp>
        <p:nvSpPr>
          <p:cNvPr id="224" name="Google Shape;224;p31">
            <a:extLst>
              <a:ext uri="{FF2B5EF4-FFF2-40B4-BE49-F238E27FC236}">
                <a16:creationId xmlns:a16="http://schemas.microsoft.com/office/drawing/2014/main" id="{484A8D10-8642-43BB-B6E6-385F6AC58689}"/>
              </a:ext>
            </a:extLst>
          </p:cNvPr>
          <p:cNvSpPr>
            <a:spLocks noGrp="1"/>
          </p:cNvSpPr>
          <p:nvPr/>
        </p:nvSpPr>
        <p:spPr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UCPH PowerPoint templates</a:t>
            </a:r>
            <a:br/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When you open PowerPoint on your UCPH computer, PowerPoint opens a template in 16:9 format with an English UCPH logo.</a:t>
            </a:r>
            <a:endParaRPr/>
          </a:p>
          <a:p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When you click on the UCPH tab in the toolbar, click "Select Template" to choose between templates</a:t>
            </a:r>
            <a:endParaRPr/>
          </a:p>
          <a:p>
            <a:pPr marL="88900" marR="0" lvl="0" indent="-88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in Danish and English </a:t>
            </a:r>
            <a:endParaRPr/>
          </a:p>
          <a:p>
            <a:pPr marL="88900" marR="0" lvl="0" indent="-88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in 16:9 format</a:t>
            </a:r>
            <a:endParaRPr/>
          </a:p>
          <a:p>
            <a:pPr marL="88900" marR="0" lvl="0" indent="-88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in "full" or “small" versions (in the full version there is an example of each slide type in the left-hand window)</a:t>
            </a:r>
            <a:endParaRPr/>
          </a:p>
          <a:p>
            <a:pPr marL="88900" marR="0" lvl="0" indent="-88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as well as an example slide with text in English.</a:t>
            </a:r>
            <a:endParaRPr/>
          </a:p>
          <a:p>
            <a:pPr marL="0" marR="0" lvl="0" indent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If you use a 'full' version, you must delete the slides you do not want to use.</a:t>
            </a:r>
            <a:br/>
            <a:br/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Mac users and others can download PowerPoint templates at</a:t>
            </a:r>
            <a:endParaRPr/>
          </a:p>
          <a:p>
            <a:pPr marL="0" marR="0" lv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800" u="sng">
                <a:solidFill>
                  <a:schemeClr val="hlink"/>
                </a:solidFill>
                <a:latin typeface="Arial"/>
                <a:ea typeface="Arial"/>
                <a:cs typeface="Arial"/>
              </a:rPr>
              <a:t>www.designguide.ku.dk/skabeloner/powerpoint/praesentationer/</a:t>
            </a:r>
            <a:endParaRPr sz="800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31">
            <a:extLst>
              <a:ext uri="{FF2B5EF4-FFF2-40B4-BE49-F238E27FC236}">
                <a16:creationId xmlns:a16="http://schemas.microsoft.com/office/drawing/2014/main" id="{2C40A5DC-D181-46EA-B129-B597A2091462}"/>
              </a:ext>
            </a:extLst>
          </p:cNvPr>
          <p:cNvSpPr>
            <a:spLocks noGrp="1"/>
          </p:cNvSpPr>
          <p:nvPr/>
        </p:nvSpPr>
        <p:spPr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Insert your unit name (e.g. your department), page numbers and the date</a:t>
            </a:r>
            <a:br/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on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Insert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 in the top menu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Header and Footer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3.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Fill in the fields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4.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Apply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to all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or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Apply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 if it is only to be used on a single slide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The information goes on the right-hand side of the page in the grey top bar.</a:t>
            </a:r>
            <a:endParaRPr/>
          </a:p>
        </p:txBody>
      </p:sp>
      <p:sp>
        <p:nvSpPr>
          <p:cNvPr id="226" name="Google Shape;226;p31">
            <a:extLst>
              <a:ext uri="{FF2B5EF4-FFF2-40B4-BE49-F238E27FC236}">
                <a16:creationId xmlns:a16="http://schemas.microsoft.com/office/drawing/2014/main" id="{261D699D-03A2-47BB-A2EF-26CB3BCD0714}"/>
              </a:ext>
            </a:extLst>
          </p:cNvPr>
          <p:cNvSpPr>
            <a:spLocks noGrp="1"/>
          </p:cNvSpPr>
          <p:nvPr/>
        </p:nvSpPr>
        <p:spPr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Create a new slide (2010 + 2013 and 2016 version) </a:t>
            </a:r>
            <a:br/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on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Home</a:t>
            </a:r>
            <a:endParaRPr/>
          </a:p>
        </p:txBody>
      </p:sp>
      <p:pic>
        <p:nvPicPr>
          <p:cNvPr id="249" name="Google Shape;227;p31"/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  <a:ln>
            <a:noFill/>
          </a:ln>
        </p:spPr>
      </p:pic>
      <p:sp>
        <p:nvSpPr>
          <p:cNvPr id="228" name="Google Shape;228;p31">
            <a:extLst>
              <a:ext uri="{FF2B5EF4-FFF2-40B4-BE49-F238E27FC236}">
                <a16:creationId xmlns:a16="http://schemas.microsoft.com/office/drawing/2014/main" id="{BF41AE75-B35C-4B1A-AAF3-CF16BB365447}"/>
              </a:ext>
            </a:extLst>
          </p:cNvPr>
          <p:cNvSpPr>
            <a:spLocks noGrp="1"/>
          </p:cNvSpPr>
          <p:nvPr/>
        </p:nvSpPr>
        <p:spPr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Replace slide type</a:t>
            </a:r>
            <a:br/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on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Home</a:t>
            </a:r>
            <a:endParaRPr/>
          </a:p>
          <a:p>
            <a:pPr marL="0" marR="0" lv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Layout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 to change the layout of your current slide.</a:t>
            </a:r>
            <a:endParaRPr/>
          </a:p>
        </p:txBody>
      </p:sp>
      <p:sp>
        <p:nvSpPr>
          <p:cNvPr id="229" name="Google Shape;229;p31">
            <a:extLst>
              <a:ext uri="{FF2B5EF4-FFF2-40B4-BE49-F238E27FC236}">
                <a16:creationId xmlns:a16="http://schemas.microsoft.com/office/drawing/2014/main" id="{FEDB5606-8CD9-40C7-A6B1-D956A5F90559}"/>
              </a:ext>
            </a:extLst>
          </p:cNvPr>
          <p:cNvSpPr>
            <a:spLocks noGrp="1"/>
          </p:cNvSpPr>
          <p:nvPr/>
        </p:nvSpPr>
        <p:spPr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Font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UCPH uses the font Microsoft New Tai Lue in PowerPoint.</a:t>
            </a:r>
          </a:p>
        </p:txBody>
      </p:sp>
      <p:sp>
        <p:nvSpPr>
          <p:cNvPr id="230" name="Google Shape;230;p31">
            <a:extLst>
              <a:ext uri="{FF2B5EF4-FFF2-40B4-BE49-F238E27FC236}">
                <a16:creationId xmlns:a16="http://schemas.microsoft.com/office/drawing/2014/main" id="{AB3A6F40-6D90-4264-A238-5235E5B64713}"/>
              </a:ext>
            </a:extLst>
          </p:cNvPr>
          <p:cNvSpPr>
            <a:spLocks noGrp="1"/>
          </p:cNvSpPr>
          <p:nvPr/>
        </p:nvSpPr>
        <p:spPr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Gridliness and Guides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To see gridlines and guides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on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View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Gridlines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 and/or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Guides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To establish additional gridlines and guides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Hover the mouse over an existing gridline and click on the line (coordinates of the line are displayed)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Hold down the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CTRL key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while you move the location of the line (adds a new line).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Tip: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Press Alt + F9 for a rapid display of gridlines</a:t>
            </a:r>
            <a:endParaRPr/>
          </a:p>
        </p:txBody>
      </p:sp>
      <p:sp>
        <p:nvSpPr>
          <p:cNvPr id="231" name="Google Shape;231;p31">
            <a:extLst>
              <a:ext uri="{FF2B5EF4-FFF2-40B4-BE49-F238E27FC236}">
                <a16:creationId xmlns:a16="http://schemas.microsoft.com/office/drawing/2014/main" id="{25FEF3C1-965A-4BDE-A807-F1E63D433DCA}"/>
              </a:ext>
            </a:extLst>
          </p:cNvPr>
          <p:cNvSpPr>
            <a:spLocks noGrp="1"/>
          </p:cNvSpPr>
          <p:nvPr/>
        </p:nvSpPr>
        <p:spPr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Insert picture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On layouts with picture placeholders: Click the icon and 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Insert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The text  ”Clik here to insert image” will not be visible in presentation mode.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You can find UCPH-images, which are adapted to and minimised to 16:9 format via this link: 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sz="800" b="0" u="sng">
                <a:solidFill>
                  <a:schemeClr val="hlink"/>
                </a:solidFill>
                <a:latin typeface="Arial"/>
                <a:ea typeface="Arial"/>
                <a:cs typeface="Arial"/>
              </a:rPr>
              <a:t>https://image.ku.dk/shared/aZwD18034DnM3TYEw9XagEF6kxI6MLkV</a:t>
            </a:r>
            <a:endParaRPr sz="800" b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Select slide show-view to activate the link.</a:t>
            </a:r>
            <a:endParaRPr/>
          </a:p>
        </p:txBody>
      </p:sp>
      <p:sp>
        <p:nvSpPr>
          <p:cNvPr id="232" name="Google Shape;232;p31">
            <a:extLst>
              <a:ext uri="{FF2B5EF4-FFF2-40B4-BE49-F238E27FC236}">
                <a16:creationId xmlns:a16="http://schemas.microsoft.com/office/drawing/2014/main" id="{16518C4D-E531-4A2A-95AD-C73B55C41D43}"/>
              </a:ext>
            </a:extLst>
          </p:cNvPr>
          <p:cNvSpPr>
            <a:spLocks noGrp="1"/>
          </p:cNvSpPr>
          <p:nvPr/>
        </p:nvSpPr>
        <p:spPr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Image sizes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The optimal picture size is: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16:9-format: 1.500 x 818 pixels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Save the images in 72 dpi and in "jpg medium quality"</a:t>
            </a:r>
            <a:endParaRPr/>
          </a:p>
        </p:txBody>
      </p:sp>
      <p:sp>
        <p:nvSpPr>
          <p:cNvPr id="233" name="Google Shape;233;p31">
            <a:extLst>
              <a:ext uri="{FF2B5EF4-FFF2-40B4-BE49-F238E27FC236}">
                <a16:creationId xmlns:a16="http://schemas.microsoft.com/office/drawing/2014/main" id="{D18ABCC3-68AA-4F78-9609-BA29D325CD20}"/>
              </a:ext>
            </a:extLst>
          </p:cNvPr>
          <p:cNvSpPr>
            <a:spLocks noGrp="1"/>
          </p:cNvSpPr>
          <p:nvPr/>
        </p:nvSpPr>
        <p:spPr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Trimming pictures</a:t>
            </a:r>
            <a:br/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. Click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 Crop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to change the image focus/size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If you want to scale the picture, hold the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SHIFT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 button down while dragging in the image corners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3.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Right-click on the picture and 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Send to back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Tip: </a:t>
            </a: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If you delete the picture and inserts a new, the picture may be in front of text and graphics. If this happens, you must select the image, right-click and select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Send to back</a:t>
            </a:r>
            <a:endParaRPr/>
          </a:p>
        </p:txBody>
      </p:sp>
      <p:sp>
        <p:nvSpPr>
          <p:cNvPr id="234" name="Google Shape;234;p31">
            <a:extLst>
              <a:ext uri="{FF2B5EF4-FFF2-40B4-BE49-F238E27FC236}">
                <a16:creationId xmlns:a16="http://schemas.microsoft.com/office/drawing/2014/main" id="{B6C10F3A-723B-471E-9F36-5E835100910A}"/>
              </a:ext>
            </a:extLst>
          </p:cNvPr>
          <p:cNvSpPr>
            <a:spLocks noGrp="1"/>
          </p:cNvSpPr>
          <p:nvPr/>
        </p:nvSpPr>
        <p:spPr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Template colors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You can choose between a range of colors for backgrounds and graphs.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Right-click on the surface of which you want to change the color and then click on the paint can icon</a:t>
            </a:r>
            <a:endParaRPr/>
          </a:p>
        </p:txBody>
      </p:sp>
      <p:sp>
        <p:nvSpPr>
          <p:cNvPr id="235" name="Google Shape;235;p31">
            <a:extLst>
              <a:ext uri="{FF2B5EF4-FFF2-40B4-BE49-F238E27FC236}">
                <a16:creationId xmlns:a16="http://schemas.microsoft.com/office/drawing/2014/main" id="{D9367EE7-8557-4875-8EB0-165F76112552}"/>
              </a:ext>
            </a:extLst>
          </p:cNvPr>
          <p:cNvSpPr>
            <a:spLocks noGrp="1"/>
          </p:cNvSpPr>
          <p:nvPr/>
        </p:nvSpPr>
        <p:spPr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Further information</a:t>
            </a:r>
            <a:br/>
            <a:r>
              <a:rPr sz="800" b="0">
                <a:solidFill>
                  <a:schemeClr val="dk1"/>
                </a:solidFill>
                <a:latin typeface="Arial"/>
                <a:ea typeface="Arial"/>
                <a:cs typeface="Arial"/>
              </a:rPr>
              <a:t>See </a:t>
            </a:r>
            <a:br/>
            <a:r>
              <a:rPr sz="800" b="0" u="sng">
                <a:solidFill>
                  <a:schemeClr val="hlink"/>
                </a:solidFill>
                <a:latin typeface="Arial"/>
                <a:ea typeface="Arial"/>
                <a:cs typeface="Arial"/>
              </a:rPr>
              <a:t>www.designguide.ku.dk/</a:t>
            </a:r>
            <a:br/>
            <a:r>
              <a:rPr sz="800" b="0" u="sng">
                <a:solidFill>
                  <a:schemeClr val="hlink"/>
                </a:solidFill>
                <a:latin typeface="Arial"/>
                <a:ea typeface="Arial"/>
                <a:cs typeface="Arial"/>
              </a:rPr>
              <a:t>skabeloner/powerpoint/</a:t>
            </a:r>
            <a:br/>
            <a:r>
              <a:rPr sz="800" b="0" u="sng">
                <a:solidFill>
                  <a:schemeClr val="hlink"/>
                </a:solidFill>
                <a:latin typeface="Arial"/>
                <a:ea typeface="Arial"/>
                <a:cs typeface="Arial"/>
              </a:rPr>
              <a:t>praesentationer/</a:t>
            </a:r>
            <a:endParaRPr sz="800" b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8" name="Google Shape;236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8044" y="4201412"/>
            <a:ext cx="257327" cy="275280"/>
          </a:xfrm>
          <a:prstGeom prst="rect">
            <a:avLst/>
          </a:prstGeom>
          <a:ln>
            <a:noFill/>
          </a:ln>
        </p:spPr>
      </p:pic>
      <p:pic>
        <p:nvPicPr>
          <p:cNvPr id="259" name="Google Shape;237;p3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3538" y="2795378"/>
            <a:ext cx="288708" cy="275280"/>
          </a:xfrm>
          <a:prstGeom prst="rect">
            <a:avLst/>
          </a:prstGeom>
          <a:ln>
            <a:noFill/>
          </a:ln>
        </p:spPr>
      </p:pic>
      <p:pic>
        <p:nvPicPr>
          <p:cNvPr id="260" name="Google Shape;238;p3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1826" y="3187789"/>
            <a:ext cx="223122" cy="228843"/>
          </a:xfrm>
          <a:prstGeom prst="rect">
            <a:avLst/>
          </a:prstGeom>
          <a:ln>
            <a:noFill/>
          </a:ln>
        </p:spPr>
      </p:pic>
      <p:sp>
        <p:nvSpPr>
          <p:cNvPr id="239" name="Google Shape;239;p31">
            <a:extLst>
              <a:ext uri="{FF2B5EF4-FFF2-40B4-BE49-F238E27FC236}">
                <a16:creationId xmlns:a16="http://schemas.microsoft.com/office/drawing/2014/main" id="{EDEE6947-60D0-4E6B-B830-4AA4A96D4FF0}"/>
              </a:ext>
            </a:extLst>
          </p:cNvPr>
          <p:cNvSpPr>
            <a:spLocks noGrp="1"/>
          </p:cNvSpPr>
          <p:nvPr/>
        </p:nvSpPr>
        <p:spPr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4400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2.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Under the </a:t>
            </a:r>
            <a:r>
              <a:rPr sz="8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New slide </a:t>
            </a:r>
            <a:r>
              <a:rPr sz="800">
                <a:solidFill>
                  <a:schemeClr val="dk1"/>
                </a:solidFill>
                <a:latin typeface="Arial"/>
                <a:ea typeface="Arial"/>
                <a:cs typeface="Arial"/>
              </a:rPr>
              <a:t>button Click on the top part of the button to create a slide identical to the one selected. Click on the bottom part of the button to see a selection of possible layout choices</a:t>
            </a:r>
          </a:p>
        </p:txBody>
      </p:sp>
      <p:pic>
        <p:nvPicPr>
          <p:cNvPr id="262" name="Google Shape;240;p31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1879" y="1743737"/>
            <a:ext cx="243186" cy="432989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51F06681-C4EE-4936-A13E-BF84B8CA87F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6408000" tIns="360000" anchor="ctr"/>
          <a:lstStyle>
            <a:lvl1pPr marL="0" indent="0" algn="l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 Klik på ikonet, hvis du vil udskifte billedet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0A943008-2107-4799-AFC7-FA81BCA2E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>
            <a:noAutofit/>
          </a:bodyPr>
          <a:lstStyle>
            <a:lvl1pPr algn="l">
              <a:lnSpc>
                <a:spcPts val="4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914652-AD04-45F6-8AB5-AD7D9543841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9610733C-9034-4EF1-A134-C713BE098F55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FEB94AC-FCCD-4286-B01A-C422594258E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7FC319-38AF-48E7-A525-85F0CB66C8F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11" name="Pladsholder til tekst 14">
            <a:extLst>
              <a:ext uri="{FF2B5EF4-FFF2-40B4-BE49-F238E27FC236}">
                <a16:creationId xmlns:a16="http://schemas.microsoft.com/office/drawing/2014/main" id="{7975114C-3F8A-4C31-90CD-4DFC039BFE8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9" name="Undertitel 2">
            <a:extLst>
              <a:ext uri="{FF2B5EF4-FFF2-40B4-BE49-F238E27FC236}">
                <a16:creationId xmlns:a16="http://schemas.microsoft.com/office/drawing/2014/main" id="{63B7CE60-2BDA-43F2-B52A-D15029DEEE1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Klik for at tilføje undertitel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08526657-E9CE-41EC-8F3C-040868DF8FD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>
            <a:extLst>
              <a:ext uri="{FF2B5EF4-FFF2-40B4-BE49-F238E27FC236}">
                <a16:creationId xmlns:a16="http://schemas.microsoft.com/office/drawing/2014/main" id="{C04046E4-A199-486D-8C9D-34F68846A6F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6408000" tIns="360000" anchor="ctr"/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200" kern="120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r>
              <a:t> Klik på ikonet, hvis du vil udskifte billedet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D78831F-EF3E-4BEE-B5F0-52D82D6DF96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C64773BD-B564-4031-8BC1-8FE44AEFACDB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72940BC-F855-4FDE-B1F2-980C3DEE381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D475BB8-99AA-42A5-9729-69D5D119AB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22" name="Titel 2">
            <a:extLst>
              <a:ext uri="{FF2B5EF4-FFF2-40B4-BE49-F238E27FC236}">
                <a16:creationId xmlns:a16="http://schemas.microsoft.com/office/drawing/2014/main" id="{94D9B824-D8A7-43F2-AD75-0EC49A91F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>
            <a:noAutofit/>
          </a:bodyPr>
          <a:lstStyle>
            <a:lvl1pPr algn="l">
              <a:lnSpc>
                <a:spcPts val="4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6" name="Pladsholder til tekst 14">
            <a:extLst>
              <a:ext uri="{FF2B5EF4-FFF2-40B4-BE49-F238E27FC236}">
                <a16:creationId xmlns:a16="http://schemas.microsoft.com/office/drawing/2014/main" id="{C8C9F8BF-6AFE-4F1E-8763-0599A437F8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38CE89B-CA07-43E1-BF5A-81C484F19EE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høj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dsholder til billede 9">
            <a:extLst>
              <a:ext uri="{FF2B5EF4-FFF2-40B4-BE49-F238E27FC236}">
                <a16:creationId xmlns:a16="http://schemas.microsoft.com/office/drawing/2014/main" id="{8D134DAD-F719-4420-B982-02E53337926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804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360000" rIns="6408000" anchor="ctr"/>
          <a:lstStyle>
            <a:lvl1pPr marL="0" indent="0" algn="r">
              <a:buNone/>
              <a:defRPr sz="3200" baseline="0"/>
            </a:lvl1pPr>
          </a:lstStyle>
          <a:p>
            <a:r>
              <a:t>Klik på ikonet, hvis du vil udskifte billedet  </a:t>
            </a:r>
            <a:br/>
            <a:r>
              <a:t> 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1BF27A08-C12C-4531-ABD0-B9CAF16A9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>
            <a:noAutofit/>
          </a:bodyPr>
          <a:lstStyle>
            <a:lvl1pPr algn="l">
              <a:lnSpc>
                <a:spcPts val="4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90F41F2-DB6B-4A53-B1B2-A82DC0DE0D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164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C333159E-FBB4-453B-BB73-EC3ABA0B9EC3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AE03CB3-F4FA-447C-8AF4-B9F3BEA2D9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164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37122FD-A63F-4FD3-88DA-18D3803236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164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0BA4D13F-FA3F-4729-A65E-44F56AE315F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9" name="Undertitel 2">
            <a:extLst>
              <a:ext uri="{FF2B5EF4-FFF2-40B4-BE49-F238E27FC236}">
                <a16:creationId xmlns:a16="http://schemas.microsoft.com/office/drawing/2014/main" id="{566E8905-E171-4B13-A3A2-22E9482567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Klik for at tilføje undertitel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9B194C44-2485-4A05-867D-EF46441B931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>
            <a:extLst>
              <a:ext uri="{FF2B5EF4-FFF2-40B4-BE49-F238E27FC236}">
                <a16:creationId xmlns:a16="http://schemas.microsoft.com/office/drawing/2014/main" id="{C5D76C37-B82B-4C51-8B59-3CB566C915F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360000" rIns="6408000" anchor="ctr"/>
          <a:lstStyle>
            <a:lvl1pPr marL="0" indent="0" algn="r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Klik på ikonet, hvis du vil udskifte billedet  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BB94E5C-14AA-43D8-8082-495FF27920C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72EBC29C-0917-4C4D-9E80-3B6188930562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7EBC5E5-B134-4085-92EE-77AC48E4919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942295-77A1-492E-8756-68D7AC7463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22" name="Titel 2">
            <a:extLst>
              <a:ext uri="{FF2B5EF4-FFF2-40B4-BE49-F238E27FC236}">
                <a16:creationId xmlns:a16="http://schemas.microsoft.com/office/drawing/2014/main" id="{25C7E495-3497-4692-B533-E9064D32B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>
            <a:noAutofit/>
          </a:bodyPr>
          <a:lstStyle>
            <a:lvl1pPr algn="l">
              <a:lnSpc>
                <a:spcPts val="4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Pladsholder til tekst 14">
            <a:extLst>
              <a:ext uri="{FF2B5EF4-FFF2-40B4-BE49-F238E27FC236}">
                <a16:creationId xmlns:a16="http://schemas.microsoft.com/office/drawing/2014/main" id="{97F39496-6397-4802-B352-0876F998181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91893A5-8143-4281-A8A2-6F2231735D3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0122D8-3CAA-45CD-AAC3-9A8B1BBA89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8350" cy="685800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1" name="Picture 8"/>
          <p:cNvPicPr>
            <a:picLocks noChangeAspect="1"/>
          </p:cNvPicPr>
          <p:nvPr/>
        </p:nvPicPr>
        <p:blipFill rotWithShape="1">
          <a:blip r:embed="rId2"/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C74472D-3C47-4982-A4E8-F2390755665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8880D59A-D7B0-4B9B-8B78-E4C3DDBABBD4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C07C897-1160-4D77-88AD-01947DCFB46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78EF5AA-040C-49C8-81D8-2EAA43394D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22" name="Titel 2">
            <a:extLst>
              <a:ext uri="{FF2B5EF4-FFF2-40B4-BE49-F238E27FC236}">
                <a16:creationId xmlns:a16="http://schemas.microsoft.com/office/drawing/2014/main" id="{B6902C69-A9E1-40AA-8451-8632824FC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>
            <a:noAutofit/>
          </a:bodyPr>
          <a:lstStyle>
            <a:lvl1pPr algn="l">
              <a:lnSpc>
                <a:spcPct val="90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master</a:t>
            </a:r>
          </a:p>
        </p:txBody>
      </p:sp>
      <p:sp>
        <p:nvSpPr>
          <p:cNvPr id="37" name="Undertitel 2">
            <a:extLst>
              <a:ext uri="{FF2B5EF4-FFF2-40B4-BE49-F238E27FC236}">
                <a16:creationId xmlns:a16="http://schemas.microsoft.com/office/drawing/2014/main" id="{109FB7D0-5DDA-45BF-BCC6-C1FB0F4F8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Klik for at tilføje undertitel</a:t>
            </a:r>
          </a:p>
        </p:txBody>
      </p:sp>
      <p:sp>
        <p:nvSpPr>
          <p:cNvPr id="38" name="Pladsholder til tekst 14">
            <a:extLst>
              <a:ext uri="{FF2B5EF4-FFF2-40B4-BE49-F238E27FC236}">
                <a16:creationId xmlns:a16="http://schemas.microsoft.com/office/drawing/2014/main" id="{8950D355-515B-48C6-A0CD-A032CE8F601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3B7615B-23F0-4CCE-A793-CB3F735160B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2D3576BF-4FE7-4D11-BA1F-3A399C9FA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8350" cy="685800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5" name="Picture 8"/>
          <p:cNvPicPr>
            <a:picLocks noChangeAspect="1"/>
          </p:cNvPicPr>
          <p:nvPr/>
        </p:nvPicPr>
        <p:blipFill rotWithShape="1">
          <a:blip r:embed="rId2"/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E24CE32-AEFE-4669-8408-8FF9AC9447A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-385200"/>
            <a:ext cx="814976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DACD5312-4BB5-4AD3-ABB6-C66798F20444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6044DA-5D85-44AD-A252-D8A945B4B51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-385200"/>
            <a:ext cx="6981162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4BA923-C862-4AD1-A4DF-9F4FF00EAC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55542" y="-385200"/>
            <a:ext cx="381759" cy="176797"/>
          </a:xfrm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22" name="Titel 2">
            <a:extLst>
              <a:ext uri="{FF2B5EF4-FFF2-40B4-BE49-F238E27FC236}">
                <a16:creationId xmlns:a16="http://schemas.microsoft.com/office/drawing/2014/main" id="{52A8572F-15E8-4BAE-853B-08685608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>
            <a:noAutofit/>
          </a:bodyPr>
          <a:lstStyle>
            <a:lvl1pPr algn="l">
              <a:lnSpc>
                <a:spcPts val="4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5" name="Pladsholder til tekst 14">
            <a:extLst>
              <a:ext uri="{FF2B5EF4-FFF2-40B4-BE49-F238E27FC236}">
                <a16:creationId xmlns:a16="http://schemas.microsoft.com/office/drawing/2014/main" id="{477F4A9D-B30F-4930-ABB9-913DD092D1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>
              <a:buNone/>
            </a:pPr>
            <a:r>
              <a:t>Navn på oplægsholder, KU-enhed, sted og dato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C28B7BB7-A2AB-429A-A08D-0F05BBB7AC5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Klik for at tilføje titel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64EB4F-CACB-454B-970C-6D1BF29215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5186"/>
          </a:xfrm>
        </p:spPr>
        <p:txBody>
          <a:bodyPr/>
          <a:lstStyle/>
          <a:p>
            <a:pPr lvl="0">
              <a:buNone/>
            </a:pPr>
            <a:r>
              <a:t>Klik for at tilføje 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61D580-54EB-4868-AB17-6DE679DF61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8963" y="1635125"/>
            <a:ext cx="11012488" cy="4675188"/>
          </a:xfrm>
        </p:spPr>
        <p:txBody>
          <a:bodyPr vert="horz" lIns="0" tIns="0" rIns="0" bIns="0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 marL="719138" indent="0">
              <a:buNone/>
              <a:defRPr/>
            </a:lvl4pPr>
          </a:lstStyle>
          <a:p>
            <a:pPr lvl="0">
              <a:buNone/>
            </a:pPr>
            <a:r>
              <a:t>Klik for at indsætte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38A4863-DA90-402F-BCB9-03646933BE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C829339-1C74-4825-ADEB-BCD7E13EFC81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F13B14D-2BC7-4848-B76F-DD89B205F2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526165C-60B4-41FE-8D81-ACB5AA6CB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16D70-64C7-41F6-94BF-E19929A4C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/>
          <a:p>
            <a:pPr lvl="0">
              <a:buNone/>
            </a:pPr>
            <a:r>
              <a:t>Klik for at tilføje 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C43B4A-E70E-4932-BD3F-0A6D16C44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8964" y="1635125"/>
            <a:ext cx="5358535" cy="4675187"/>
          </a:xfrm>
        </p:spPr>
        <p:txBody>
          <a:bodyPr vert="horz" lIns="0" tIns="0" rIns="0" bIns="0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>
              <a:buNone/>
            </a:pPr>
            <a:r>
              <a:t>Klik for at indsætte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endParaRPr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342D8DA-699D-429E-A5C8-3A09927EEEBC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244502" y="1635125"/>
            <a:ext cx="5356948" cy="4675187"/>
          </a:xfrm>
        </p:spPr>
        <p:txBody>
          <a:bodyPr vert="horz" lIns="0" tIns="0" rIns="0" bIns="0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 marL="719138" indent="0">
              <a:buNone/>
              <a:defRPr/>
            </a:lvl4pPr>
            <a:lvl5pPr>
              <a:buNone/>
              <a:defRPr/>
            </a:lvl5pPr>
            <a:lvl8pPr marL="719138" indent="0">
              <a:buNone/>
              <a:defRPr/>
            </a:lvl8pPr>
          </a:lstStyle>
          <a:p>
            <a:pPr lvl="0">
              <a:buNone/>
            </a:pPr>
            <a:r>
              <a:t>Klik for at indsætte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D2EFCBA-F6BC-4A4B-9B2F-780B00C8F16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E4FFEAA-BA47-4F55-BB2A-ABDD4DBF5CDE}" type="datetime1">
              <a:t>25/08/2026</a:t>
            </a:fld>
            <a:endParaRPr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9389E4-4639-480D-91C6-00AAEE6021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ADE8B9B-4E46-44A7-94AA-FFEC882EAC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3D74861D-2DDD-4D73-A775-3BBF964992D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43639" y="1635125"/>
            <a:ext cx="5357812" cy="467518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2304000" rIns="0" anchor="t"/>
          <a:lstStyle>
            <a:lvl1pPr marL="0" indent="0" algn="ctr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Klik på ikonet, hvis du vil udskifte billedet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B836EC-66CE-4D00-97F2-92F8A6661D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/>
          <a:p>
            <a:pPr lvl="0">
              <a:buNone/>
            </a:pPr>
            <a:r>
              <a:t>Klik for at tilføje 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6F14F2B-A32C-4D9E-B964-7A6AE9F75C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8964" y="1635125"/>
            <a:ext cx="5359398" cy="4675188"/>
          </a:xfrm>
        </p:spPr>
        <p:txBody>
          <a:bodyPr vert="horz" lIns="0" tIns="0" rIns="0" bIns="0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Klik for at indsætte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BDAB746-5FB0-4365-82FE-CA130DF072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822542C-E4D2-4366-8573-42718107279F}" type="datetime1">
              <a:t>25/08/2026</a:t>
            </a:fld>
            <a:endParaRPr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6A03C4A-03CD-4727-88FA-B8C0A16A1F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F098EE0-4D00-4317-915A-EC0C42E694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0DD71D8-24C1-4C2A-A275-03EC34D8044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88963" y="1635125"/>
            <a:ext cx="11012487" cy="4675188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2304000" rIns="0" anchor="t"/>
          <a:lstStyle>
            <a:lvl1pPr marL="0" indent="0" algn="ctr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Klik på ikonet, hvis du vil udskifte billedet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642BD7-4CF1-414F-B419-F246B4063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t>Klik for at tilføje overskrift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4767CB7-0AE2-4DAC-B68A-75102A3EEE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5854C8-09F9-49F3-9200-F6E55E50E9FD}" type="datetime1">
              <a:t>25/08/2026</a:t>
            </a:fld>
            <a:endParaRPr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676AC93-628C-41D5-A294-6EC1F0BF3B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86AE9F1-EB62-4007-A705-33A144B978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>
            <a:extLst>
              <a:ext uri="{FF2B5EF4-FFF2-40B4-BE49-F238E27FC236}">
                <a16:creationId xmlns:a16="http://schemas.microsoft.com/office/drawing/2014/main" id="{9EB9D5AA-E666-4139-93FC-0A7A7A933CB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334851"/>
            <a:ext cx="12192000" cy="652314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360000" rIns="6408000" anchor="ctr"/>
          <a:lstStyle>
            <a:lvl1pPr marL="0" indent="0" algn="r">
              <a:buNone/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t>Klik på ikonet, hvis du vil udskifte billedet 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F5AFAB-AF28-4C2A-997D-49508DE38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3638" y="4903567"/>
            <a:ext cx="5948362" cy="1398808"/>
          </a:xfrm>
          <a:prstGeom prst="rect">
            <a:avLst/>
          </a:prstGeom>
          <a:solidFill>
            <a:srgbClr val="A31D20">
              <a:alpha val="95000"/>
            </a:srgbClr>
          </a:solidFill>
        </p:spPr>
        <p:txBody>
          <a:bodyPr lIns="252000" tIns="144000" rIns="540000" bIns="144000" anchor="t"/>
          <a:lstStyle>
            <a:lvl1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t>Klik for at tilføje tekst 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C827567-1F24-4C71-B4EC-8F6674823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8CF2C5F-F0E5-452B-A2F2-3EA33BA229B5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551CD4E-CEB7-45EE-9818-462B9F0FD7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C198B34-BB30-4258-8D79-EF31252BA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le tekstlabel venstre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>
            <a:extLst>
              <a:ext uri="{FF2B5EF4-FFF2-40B4-BE49-F238E27FC236}">
                <a16:creationId xmlns:a16="http://schemas.microsoft.com/office/drawing/2014/main" id="{A8C2B637-8154-476C-9A47-0CB42B2C715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334851"/>
            <a:ext cx="12192000" cy="652314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360000" rIns="6408000" anchor="ctr"/>
          <a:lstStyle>
            <a:lvl1pPr marL="0" indent="0" algn="r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Klik på ikonet, hvis du vil udskifte billedet 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0A1BE5-76F9-40D1-A84B-B17B417A2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03567"/>
            <a:ext cx="5948362" cy="1398808"/>
          </a:xfrm>
          <a:prstGeom prst="rect">
            <a:avLst/>
          </a:prstGeom>
          <a:solidFill>
            <a:srgbClr val="A31D20">
              <a:alpha val="95000"/>
            </a:srgbClr>
          </a:solidFill>
        </p:spPr>
        <p:txBody>
          <a:bodyPr lIns="576000" tIns="144000" rIns="252000" bIns="144000" anchor="t"/>
          <a:lstStyle>
            <a:lvl1pPr marL="0" marR="0" indent="0" algn="l" defTabSz="91440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t>Klik for at tilføje tekst</a:t>
            </a:r>
            <a:br/>
            <a:r>
              <a:t> 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AF4AF5C-381B-457A-BB1F-BE7CC400CF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446445-93A7-4948-90C3-5E545867631D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2849241-2272-4F7F-9D5D-6891D8D477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8476458-8893-4348-A456-859AF5A4F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høj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>
            <a:extLst>
              <a:ext uri="{FF2B5EF4-FFF2-40B4-BE49-F238E27FC236}">
                <a16:creationId xmlns:a16="http://schemas.microsoft.com/office/drawing/2014/main" id="{7279CE29-A300-4A96-94EA-842621D27226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334851"/>
            <a:ext cx="12192000" cy="652314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360000" rIns="6408000" anchor="ctr"/>
          <a:lstStyle>
            <a:lvl1pPr marL="0" indent="0" algn="r">
              <a:buNone/>
              <a:defRPr sz="3200" baseline="0"/>
            </a:lvl1pPr>
          </a:lstStyle>
          <a:p>
            <a:r>
              <a:t>Klik på ikonet, hvis du vil udskifte billedet  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3D495BF-13C5-4541-9570-F8312476E1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24DFD51-CB30-4E30-94A9-3C7B4B0535D6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C1077B6-8B82-40FF-99EF-8D7AF2A86C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FF746EC-2918-499E-BBC4-A1F2BE6433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68C8202A-6799-4C7F-A294-60B57F98595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43638" y="2036763"/>
            <a:ext cx="5948362" cy="4265612"/>
          </a:xfrm>
          <a:prstGeom prst="rect">
            <a:avLst/>
          </a:prstGeom>
          <a:solidFill>
            <a:schemeClr val="accent1">
              <a:alpha val="95000"/>
            </a:schemeClr>
          </a:solidFill>
        </p:spPr>
        <p:txBody>
          <a:bodyPr lIns="252000" tIns="144000" rIns="540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19138" indent="-357188">
              <a:buNone/>
              <a:defRPr>
                <a:solidFill>
                  <a:schemeClr val="bg1"/>
                </a:solidFill>
              </a:defRPr>
            </a:lvl2pPr>
            <a:lvl3pPr marL="719138" indent="-358775">
              <a:buNone/>
              <a:defRPr>
                <a:solidFill>
                  <a:schemeClr val="bg1"/>
                </a:solidFill>
              </a:defRPr>
            </a:lvl3pPr>
            <a:lvl4pPr marL="719138" indent="-358775">
              <a:buNone/>
              <a:defRPr>
                <a:solidFill>
                  <a:schemeClr val="bg1"/>
                </a:solidFill>
              </a:defRPr>
            </a:lvl4pPr>
            <a:lvl5pPr marL="719138" indent="-358775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Fjerde niveau</a:t>
            </a:r>
          </a:p>
          <a:p>
            <a:pPr lvl="4">
              <a:buNone/>
            </a:pPr>
            <a:r>
              <a:t>Femte niveau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tekstlabel venstre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9">
            <a:extLst>
              <a:ext uri="{FF2B5EF4-FFF2-40B4-BE49-F238E27FC236}">
                <a16:creationId xmlns:a16="http://schemas.microsoft.com/office/drawing/2014/main" id="{DD8AB331-0CDB-4870-AFF8-05746BEB130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334851"/>
            <a:ext cx="12192000" cy="6523149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lIns="6408000" tIns="360000" rIns="0" anchor="ctr"/>
          <a:lstStyle>
            <a:lvl1pPr marL="0" indent="0" algn="l">
              <a:buNone/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t> Klik på ikonet, hvis </a:t>
            </a:r>
            <a:br/>
            <a:r>
              <a:t>du vil udskifte billedet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2166984-3F3E-4E0E-9CCD-B7AFBA4BF3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EE4329-2AA9-435B-BDB4-F4C3408B6DCE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E4E6CD3-4409-4BDD-B121-76D09B2372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0C10569-A6CD-4B21-B7E3-E832C0301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8" name="Pladsholder til tekst 9">
            <a:extLst>
              <a:ext uri="{FF2B5EF4-FFF2-40B4-BE49-F238E27FC236}">
                <a16:creationId xmlns:a16="http://schemas.microsoft.com/office/drawing/2014/main" id="{EAF129CC-75A4-4E5E-AA0B-2874DBD98D5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0" y="2036763"/>
            <a:ext cx="5948362" cy="4265612"/>
          </a:xfrm>
          <a:prstGeom prst="rect">
            <a:avLst/>
          </a:prstGeom>
          <a:solidFill>
            <a:schemeClr val="accent1">
              <a:alpha val="95000"/>
            </a:schemeClr>
          </a:solidFill>
        </p:spPr>
        <p:txBody>
          <a:bodyPr lIns="576000" tIns="144000" rIns="252000" bIns="144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719138" indent="-358775">
              <a:buNone/>
              <a:defRPr>
                <a:solidFill>
                  <a:schemeClr val="bg1"/>
                </a:solidFill>
              </a:defRPr>
            </a:lvl2pPr>
            <a:lvl3pPr marL="719138" indent="-358775">
              <a:buNone/>
              <a:defRPr>
                <a:solidFill>
                  <a:schemeClr val="bg1"/>
                </a:solidFill>
              </a:defRPr>
            </a:lvl3pPr>
            <a:lvl4pPr marL="719138" indent="-358775">
              <a:buNone/>
              <a:defRPr>
                <a:solidFill>
                  <a:schemeClr val="bg1"/>
                </a:solidFill>
              </a:defRPr>
            </a:lvl4pPr>
            <a:lvl5pPr marL="719138" indent="-358775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Fjerde niveau</a:t>
            </a:r>
          </a:p>
          <a:p>
            <a:pPr lvl="4">
              <a:buNone/>
            </a:pPr>
            <a:r>
              <a:t>Femte niveau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al-punktopstilling rø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F1049DA-F09A-4532-8F74-8DECB5AB33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964807-3496-47E8-915B-96DB96A167BC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653D5FA-5608-467E-8911-8747B4CFE7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084D07-6211-4AD0-B3FC-57B68B7DF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7" name="Pladsholder til tekst 9">
            <a:extLst>
              <a:ext uri="{FF2B5EF4-FFF2-40B4-BE49-F238E27FC236}">
                <a16:creationId xmlns:a16="http://schemas.microsoft.com/office/drawing/2014/main" id="{4C10E11D-5E10-4941-B003-554163E41B4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88963" y="620713"/>
            <a:ext cx="11012487" cy="5682589"/>
          </a:xfrm>
          <a:prstGeom prst="rect">
            <a:avLst/>
          </a:prstGeom>
          <a:noFill/>
        </p:spPr>
        <p:txBody>
          <a:bodyPr lIns="0" tIns="0" rIns="0" bIns="0"/>
          <a:lstStyle>
            <a:lvl1pPr marL="449263" indent="-449263" algn="l" defTabSz="914400">
              <a:lnSpc>
                <a:spcPct val="90000"/>
              </a:lnSpc>
              <a:buFont typeface="Arial"/>
              <a:buChar char="•"/>
              <a:defRPr sz="4800" b="0" kern="1200" cap="all" spc="24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49263" indent="-449263" algn="l" defTabSz="914400">
              <a:lnSpc>
                <a:spcPct val="90000"/>
              </a:lnSpc>
              <a:buFont typeface="Arial"/>
              <a:buChar char="•"/>
              <a:defRPr sz="4800" b="0" kern="1200" cap="all" spc="24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449263" indent="-449263" algn="l" defTabSz="914400">
              <a:lnSpc>
                <a:spcPct val="90000"/>
              </a:lnSpc>
              <a:buFont typeface="Arial"/>
              <a:buChar char="•"/>
              <a:defRPr sz="4800" b="0" kern="1200" cap="all" spc="24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449263" indent="-449263" algn="l" defTabSz="914400">
              <a:lnSpc>
                <a:spcPct val="90000"/>
              </a:lnSpc>
              <a:buFont typeface="Arial"/>
              <a:buChar char="•"/>
              <a:defRPr sz="4800" b="0" kern="1200" cap="all" spc="24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449263" indent="-449263" algn="l" defTabSz="914400">
              <a:lnSpc>
                <a:spcPct val="90000"/>
              </a:lnSpc>
              <a:buFont typeface="Arial"/>
              <a:buChar char="•"/>
              <a:defRPr sz="4800" b="0" kern="1200" cap="all" spc="240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Fjerde niveau</a:t>
            </a:r>
          </a:p>
          <a:p>
            <a:pPr lvl="4">
              <a:buNone/>
            </a:pPr>
            <a:r>
              <a:t>Femte niveau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felt 8">
            <a:extLst>
              <a:ext uri="{FF2B5EF4-FFF2-40B4-BE49-F238E27FC236}">
                <a16:creationId xmlns:a16="http://schemas.microsoft.com/office/drawing/2014/main" id="{948253AB-9064-4BD1-96E8-D17E8D9AA532}"/>
              </a:ext>
            </a:extLst>
          </p:cNvPr>
          <p:cNvSpPr>
            <a:spLocks noGrp="1"/>
          </p:cNvSpPr>
          <p:nvPr/>
        </p:nvSpPr>
        <p:spPr>
          <a:xfrm>
            <a:off x="421280" y="612884"/>
            <a:ext cx="116761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0" b="1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40A5290-47B0-4189-A048-FC3950191E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8EEB03B-DE17-4D8C-BE2B-1AD42424342D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B84E69E-C092-44A7-82CF-DF4A69E37B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26D32CA-FCD7-4A5A-839D-8AFB898CA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7" name="Pladsholder til tekst 9">
            <a:extLst>
              <a:ext uri="{FF2B5EF4-FFF2-40B4-BE49-F238E27FC236}">
                <a16:creationId xmlns:a16="http://schemas.microsoft.com/office/drawing/2014/main" id="{95DF7DD1-656B-4530-BFE0-6DA6173B774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88963" y="1628775"/>
            <a:ext cx="11012487" cy="4114799"/>
          </a:xfrm>
          <a:prstGeom prst="rect">
            <a:avLst/>
          </a:prstGeom>
          <a:noFill/>
        </p:spPr>
        <p:txBody>
          <a:bodyPr lIns="0" tIns="0" rIns="0" bIns="0" anchor="t"/>
          <a:lstStyle>
            <a:lvl1pPr marL="0" indent="0" algn="l" defTabSz="914400">
              <a:lnSpc>
                <a:spcPct val="90000"/>
              </a:lnSpc>
              <a:buFont typeface="Arial"/>
              <a:buNone/>
              <a:defRPr sz="48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0" indent="0" algn="l" defTabSz="914400">
              <a:lnSpc>
                <a:spcPct val="90000"/>
              </a:lnSpc>
              <a:buFont typeface="Arial"/>
              <a:buNone/>
              <a:defRPr sz="4800" b="1" kern="1200" cap="all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0" indent="0" algn="l" defTabSz="914400">
              <a:lnSpc>
                <a:spcPct val="90000"/>
              </a:lnSpc>
              <a:buFont typeface="Arial"/>
              <a:buNone/>
              <a:defRPr sz="4800" b="1" kern="1200" cap="all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0" indent="0" algn="l" defTabSz="914400">
              <a:lnSpc>
                <a:spcPct val="90000"/>
              </a:lnSpc>
              <a:buFont typeface="Arial"/>
              <a:buNone/>
              <a:defRPr sz="4800" b="1" kern="1200" cap="all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0" indent="0" algn="l" defTabSz="914400">
              <a:lnSpc>
                <a:spcPct val="90000"/>
              </a:lnSpc>
              <a:buFont typeface="Arial"/>
              <a:buNone/>
              <a:defRPr sz="4800" b="1" kern="1200" cap="all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</p:txBody>
      </p:sp>
      <p:sp>
        <p:nvSpPr>
          <p:cNvPr id="8" name="Pladsholder til tekst 14">
            <a:extLst>
              <a:ext uri="{FF2B5EF4-FFF2-40B4-BE49-F238E27FC236}">
                <a16:creationId xmlns:a16="http://schemas.microsoft.com/office/drawing/2014/main" id="{8F61CE68-F6B3-48BB-B45E-81DEDAFBA58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2712" y="5934971"/>
            <a:ext cx="11019496" cy="367404"/>
          </a:xfrm>
        </p:spPr>
        <p:txBody>
          <a:bodyPr>
            <a:normAutofit/>
          </a:bodyPr>
          <a:lstStyle>
            <a:lvl1pPr marL="0" indent="0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Navn, kilde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ejlede tek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29A33EC-216B-4A4E-95E8-28985849D6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6554F7B-C476-4203-AE9B-5470D905B3E4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318C580-CADD-4C42-8F57-5FF7A8DF5E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B42EF86-1EDC-4496-9EEC-3714021E9B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9" name="Pladsholder til tekst 9">
            <a:extLst>
              <a:ext uri="{FF2B5EF4-FFF2-40B4-BE49-F238E27FC236}">
                <a16:creationId xmlns:a16="http://schemas.microsoft.com/office/drawing/2014/main" id="{0A6A811D-3027-4173-B554-DB692D2610B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88964" y="1628775"/>
            <a:ext cx="5358535" cy="467452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r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1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0" indent="0" algn="r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1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0" indent="0" algn="r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1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0" indent="0" algn="r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1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0" indent="0" algn="r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1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Fjerde niveau</a:t>
            </a:r>
          </a:p>
          <a:p>
            <a:pPr lvl="4">
              <a:buNone/>
            </a:pPr>
            <a:r>
              <a:t>Femte niveau</a:t>
            </a:r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26A007DF-34AF-4F49-9439-A2EA8553C57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244503" y="1628775"/>
            <a:ext cx="5356948" cy="467452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0" indent="0" algn="l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2pPr>
            <a:lvl3pPr marL="0" indent="0" algn="l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3pPr>
            <a:lvl4pPr marL="0" indent="0" algn="l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4pPr>
            <a:lvl5pPr marL="0" indent="0" algn="l" defTabSz="914400">
              <a:lnSpc>
                <a:spcPct val="90000"/>
              </a:lnSpc>
              <a:spcAft>
                <a:spcPts val="1200"/>
              </a:spcAft>
              <a:buFont typeface="Arial"/>
              <a:buNone/>
              <a:defRPr sz="3600" b="0" kern="120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r>
              <a:t>Klik for at tilføje tekst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Fjerde niveau</a:t>
            </a:r>
          </a:p>
          <a:p>
            <a:pPr lvl="4">
              <a:buNone/>
            </a:pPr>
            <a:r>
              <a:t>Femte niveau 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3C41F30-8FE1-4DA2-9FDA-314757D9E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3599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Klik for at tilføje overskrift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746FC13-1750-49BD-BD41-D15F20E556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E84363C-5D45-41B3-8FA7-E4A3C28213BA}" type="datetime1">
              <a:t>25/08/2026</a:t>
            </a:fld>
            <a:endParaRPr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CDD099B-3B31-4BC9-AB58-28C7F37C81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F9FFED2-3DFA-4E1C-9D9B-0BD99F3E0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608995D-D89D-41D2-B875-6D2096BB2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1628775"/>
            <a:ext cx="11012487" cy="4673600"/>
          </a:xfrm>
        </p:spPr>
        <p:txBody>
          <a:bodyPr anchor="t"/>
          <a:lstStyle>
            <a:lvl1pPr>
              <a:buNone/>
              <a:defRPr sz="6400" b="0" baseline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Klik for at tilføje tekst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B0B21-214B-47A7-8663-E67E9BD50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Klik for at tilføje overskrift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E1DCBEB-0C32-41E2-9F40-17DB778C69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197C15-2114-4FA8-A531-51E467CB49E5}" type="datetime1">
              <a:t>25/08/2026</a:t>
            </a:fld>
            <a:endParaRPr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C844FB5-F0D4-4D36-B897-8EF70683DD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6082F08C-C3FF-4028-9C7A-BFD8053925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551833C-652D-465A-93DA-71F6D9EB5A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F47E5B2-C656-407A-ACD0-1DF350477539}" type="datetime1">
              <a:t>25/08/2026</a:t>
            </a:fld>
            <a:endParaRPr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91844183-1E8E-405D-94C9-73C8E20D75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27C8114-8D32-424F-A0E9-4505F75DC9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91A926C-488A-4E3E-9C21-57CAA120E11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0CE975-A7A1-4BD5-997F-8308C33069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CCC239FB-F465-40C3-A937-2BFEE757D945}"/>
              </a:ext>
            </a:extLst>
          </p:cNvPr>
          <p:cNvSpPr>
            <a:spLocks noGrp="1"/>
          </p:cNvSpPr>
          <p:nvPr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rPr sz="3000">
                <a:solidFill>
                  <a:schemeClr val="tx1"/>
                </a:solidFill>
              </a:rPr>
              <a:t>Brugerguide</a:t>
            </a:r>
            <a:r>
              <a:rPr>
                <a:solidFill>
                  <a:schemeClr val="tx1"/>
                </a:solidFill>
              </a:rPr>
              <a:t> </a:t>
            </a:r>
            <a:r>
              <a:rPr sz="1800">
                <a:solidFill>
                  <a:schemeClr val="tx1"/>
                </a:solidFill>
              </a:rPr>
              <a:t>– Slet, før du færdiggør din præsentation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987D59E3-E721-4B9D-92FE-93DE50C947A7}"/>
              </a:ext>
            </a:extLst>
          </p:cNvPr>
          <p:cNvSpPr>
            <a:spLocks noGrp="1"/>
          </p:cNvSpPr>
          <p:nvPr/>
        </p:nvSpPr>
        <p:spPr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KU-skabeloner til PowerPoint</a:t>
            </a:r>
            <a:br/>
            <a:r>
              <a:rPr sz="800">
                <a:latin typeface="+mj-lt"/>
                <a:ea typeface="+mj-lt"/>
                <a:cs typeface="+mj-lt"/>
              </a:rPr>
              <a:t>Når du åbner PowerPoint på din KU-pc, åbner en skabelon i 4:3-format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800">
                <a:latin typeface="+mj-lt"/>
                <a:ea typeface="+mj-lt"/>
                <a:cs typeface="+mj-lt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sz="800">
                <a:latin typeface="+mj-lt"/>
                <a:ea typeface="+mj-lt"/>
                <a:cs typeface="+mj-lt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sz="800">
                <a:latin typeface="+mj-lt"/>
                <a:ea typeface="+mj-lt"/>
                <a:cs typeface="+mj-lt"/>
              </a:rPr>
              <a:t>i formaterne 4:3 og 16:9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/>
              <a:buChar char="•"/>
            </a:pPr>
            <a:r>
              <a:rPr sz="800">
                <a:latin typeface="+mj-lt"/>
                <a:ea typeface="+mj-lt"/>
                <a:cs typeface="+mj-lt"/>
              </a:rPr>
              <a:t>i ”fuld” eller ”tom”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800">
                <a:latin typeface="+mj-lt"/>
                <a:ea typeface="+mj-lt"/>
                <a:cs typeface="+mj-lt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sz="800">
                <a:latin typeface="+mj-lt"/>
                <a:ea typeface="+mj-lt"/>
                <a:cs typeface="+mj-lt"/>
              </a:rPr>
              <a:t>Hvis du bruger en ”fuld” version, skal du slette de dias, du ikke vil bruge.</a:t>
            </a:r>
            <a:br/>
            <a:br/>
            <a:r>
              <a:rPr sz="800">
                <a:latin typeface="+mj-lt"/>
                <a:ea typeface="+mj-lt"/>
                <a:cs typeface="+mj-lt"/>
              </a:rPr>
              <a:t>Mac-brugere m.fl. kan hente PowerPoint-skabelonerne på </a:t>
            </a:r>
            <a:r>
              <a:rPr sz="80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www.designguide.ku.dk/ku/</a:t>
            </a:r>
            <a:br/>
            <a:r>
              <a:rPr sz="80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skabeloner/powerpoint/</a:t>
            </a:r>
            <a:br/>
            <a:r>
              <a:rPr sz="80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praesentationer/</a:t>
            </a:r>
          </a:p>
        </p:txBody>
      </p:sp>
      <p:sp>
        <p:nvSpPr>
          <p:cNvPr id="49" name="Text Box 48">
            <a:extLst>
              <a:ext uri="{FF2B5EF4-FFF2-40B4-BE49-F238E27FC236}">
                <a16:creationId xmlns:a16="http://schemas.microsoft.com/office/drawing/2014/main" id="{9BC2BE95-2DD9-42EB-82D1-9642E5A4C3C5}"/>
              </a:ext>
            </a:extLst>
          </p:cNvPr>
          <p:cNvSpPr>
            <a:spLocks noGrp="1"/>
          </p:cNvSpPr>
          <p:nvPr/>
        </p:nvSpPr>
        <p:spPr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Indsæt  din enheds navn (fx institut), sidenummer og dato</a:t>
            </a:r>
            <a:br/>
            <a:r>
              <a:rPr sz="800" b="1">
                <a:latin typeface="+mj-lt"/>
                <a:ea typeface="+mj-lt"/>
                <a:cs typeface="+mj-lt"/>
              </a:rPr>
              <a:t>1. </a:t>
            </a:r>
            <a:r>
              <a:rPr sz="800">
                <a:latin typeface="+mj-lt"/>
                <a:ea typeface="+mj-lt"/>
                <a:cs typeface="+mj-lt"/>
              </a:rPr>
              <a:t>Vælg </a:t>
            </a:r>
            <a:r>
              <a:rPr sz="800" b="1">
                <a:latin typeface="+mj-lt"/>
                <a:ea typeface="+mj-lt"/>
                <a:cs typeface="+mj-lt"/>
              </a:rPr>
              <a:t>Indsæt </a:t>
            </a:r>
            <a:r>
              <a:rPr sz="800">
                <a:latin typeface="+mj-lt"/>
                <a:ea typeface="+mj-lt"/>
                <a:cs typeface="+mj-lt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  <a:buNone/>
            </a:pPr>
            <a:r>
              <a:rPr sz="800" b="1">
                <a:latin typeface="+mj-lt"/>
                <a:ea typeface="+mj-lt"/>
                <a:cs typeface="+mj-lt"/>
              </a:rPr>
              <a:t>2. </a:t>
            </a:r>
            <a:r>
              <a:rPr sz="800">
                <a:latin typeface="+mj-lt"/>
                <a:ea typeface="+mj-lt"/>
                <a:cs typeface="+mj-lt"/>
              </a:rPr>
              <a:t>Vælg </a:t>
            </a:r>
            <a:r>
              <a:rPr sz="800" b="1">
                <a:latin typeface="+mj-lt"/>
                <a:ea typeface="+mj-lt"/>
                <a:cs typeface="+mj-lt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  <a:buNone/>
            </a:pPr>
            <a:r>
              <a:rPr sz="800" b="1">
                <a:latin typeface="+mj-lt"/>
                <a:ea typeface="+mj-lt"/>
                <a:cs typeface="+mj-lt"/>
              </a:rPr>
              <a:t>3. </a:t>
            </a:r>
            <a:r>
              <a:rPr sz="800">
                <a:latin typeface="+mj-lt"/>
                <a:ea typeface="+mj-lt"/>
                <a:cs typeface="+mj-lt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  <a:buNone/>
            </a:pPr>
            <a:r>
              <a:rPr sz="800">
                <a:latin typeface="+mj-lt"/>
                <a:ea typeface="+mj-lt"/>
                <a:cs typeface="+mj-lt"/>
              </a:rPr>
              <a:t>4. Vælg </a:t>
            </a:r>
            <a:r>
              <a:rPr sz="800" b="1">
                <a:latin typeface="+mj-lt"/>
                <a:ea typeface="+mj-lt"/>
                <a:cs typeface="+mj-lt"/>
              </a:rPr>
              <a:t>Anvend på alle </a:t>
            </a:r>
            <a:r>
              <a:rPr sz="800">
                <a:latin typeface="+mj-lt"/>
                <a:ea typeface="+mj-lt"/>
                <a:cs typeface="+mj-lt"/>
              </a:rPr>
              <a:t>- eller </a:t>
            </a:r>
            <a:r>
              <a:rPr sz="800" b="1">
                <a:latin typeface="+mj-lt"/>
                <a:ea typeface="+mj-lt"/>
                <a:cs typeface="+mj-lt"/>
              </a:rPr>
              <a:t>Anvend</a:t>
            </a:r>
            <a:r>
              <a:rPr sz="800">
                <a:latin typeface="+mj-lt"/>
                <a:ea typeface="+mj-lt"/>
                <a:cs typeface="+mj-lt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  <a:buNone/>
            </a:pPr>
            <a:r>
              <a:rPr sz="800">
                <a:latin typeface="+mj-lt"/>
                <a:ea typeface="+mj-lt"/>
                <a:cs typeface="+mj-lt"/>
              </a:rPr>
              <a:t>Oplysningerne placeres i højre side af den grå topbjælke.</a:t>
            </a:r>
          </a:p>
        </p:txBody>
      </p:sp>
      <p:sp>
        <p:nvSpPr>
          <p:cNvPr id="50" name="Text Box 48">
            <a:extLst>
              <a:ext uri="{FF2B5EF4-FFF2-40B4-BE49-F238E27FC236}">
                <a16:creationId xmlns:a16="http://schemas.microsoft.com/office/drawing/2014/main" id="{6FFAFF8B-0389-4B34-B98D-63D16DD9BE38}"/>
              </a:ext>
            </a:extLst>
          </p:cNvPr>
          <p:cNvSpPr>
            <a:spLocks noGrp="1"/>
          </p:cNvSpPr>
          <p:nvPr/>
        </p:nvSpPr>
        <p:spPr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0"/>
              </a:spcAft>
              <a:buNone/>
            </a:pPr>
            <a:r>
              <a:rPr sz="10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Lav nyt dias/slide (hhv. 2010- + 2013- og 2016-version) </a:t>
            </a:r>
            <a:br/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1. 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Klik på </a:t>
            </a: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Startside/Hjem</a:t>
            </a:r>
          </a:p>
        </p:txBody>
      </p:sp>
      <p:pic>
        <p:nvPicPr>
          <p:cNvPr id="76" name="Billede 40"/>
          <p:cNvPicPr>
            <a:picLocks noChangeAspect="1"/>
          </p:cNvPicPr>
          <p:nvPr/>
        </p:nvPicPr>
        <p:blipFill rotWithShape="1">
          <a:blip r:embed="rId2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>
            <a:extLst>
              <a:ext uri="{FF2B5EF4-FFF2-40B4-BE49-F238E27FC236}">
                <a16:creationId xmlns:a16="http://schemas.microsoft.com/office/drawing/2014/main" id="{63775D25-D3FA-464A-8398-0D674B26790F}"/>
              </a:ext>
            </a:extLst>
          </p:cNvPr>
          <p:cNvSpPr>
            <a:spLocks noGrp="1"/>
          </p:cNvSpPr>
          <p:nvPr/>
        </p:nvSpPr>
        <p:spPr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Diastype</a:t>
            </a:r>
            <a:br/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1. 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Klik på </a:t>
            </a: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Startside/Hjem</a:t>
            </a:r>
          </a:p>
          <a:p>
            <a:pPr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2. 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Vælg </a:t>
            </a: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Layout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for at ændre dit nuværende dias/slide til et alternativt layout</a:t>
            </a:r>
          </a:p>
        </p:txBody>
      </p:sp>
      <p:sp>
        <p:nvSpPr>
          <p:cNvPr id="53" name="Text Box 48">
            <a:extLst>
              <a:ext uri="{FF2B5EF4-FFF2-40B4-BE49-F238E27FC236}">
                <a16:creationId xmlns:a16="http://schemas.microsoft.com/office/drawing/2014/main" id="{54AAAE23-9574-43A6-9385-18030F2FB61F}"/>
              </a:ext>
            </a:extLst>
          </p:cNvPr>
          <p:cNvSpPr>
            <a:spLocks noGrp="1"/>
          </p:cNvSpPr>
          <p:nvPr/>
        </p:nvSpPr>
        <p:spPr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Skrift</a:t>
            </a:r>
            <a:br/>
            <a:r>
              <a:rPr sz="8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KU Anvender skriften Microsoft New Tai Lue i PowerPoint.</a:t>
            </a:r>
            <a:endParaRPr sz="800" b="0" baseline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4" name="Text Box 48">
            <a:extLst>
              <a:ext uri="{FF2B5EF4-FFF2-40B4-BE49-F238E27FC236}">
                <a16:creationId xmlns:a16="http://schemas.microsoft.com/office/drawing/2014/main" id="{8F841ECA-F79D-4774-9AD4-6A68B379C9B5}"/>
              </a:ext>
            </a:extLst>
          </p:cNvPr>
          <p:cNvSpPr>
            <a:spLocks noGrp="1"/>
          </p:cNvSpPr>
          <p:nvPr/>
        </p:nvSpPr>
        <p:spPr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Gitter- og hjælpelinjer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For at se gitter- og hjælpelinjer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1.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Klik på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Vis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2.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Vælg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Gitterlinjer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og/eller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Hjælpelinjer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For at etablere flere gitter- og hjælpelinjer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1.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Før musen over en eksisterende hjælpelinje og klik på linjen (koordinater på linjen vises)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2.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Hold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CTRL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nede, mens du flytter placeringen af den eksisterende linje (tilføjer en ny)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Tip: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Tryk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Alt + F9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for hurtig visning af hjælpelinjer</a:t>
            </a:r>
          </a:p>
        </p:txBody>
      </p:sp>
      <p:sp>
        <p:nvSpPr>
          <p:cNvPr id="55" name="Text Box 48">
            <a:extLst>
              <a:ext uri="{FF2B5EF4-FFF2-40B4-BE49-F238E27FC236}">
                <a16:creationId xmlns:a16="http://schemas.microsoft.com/office/drawing/2014/main" id="{183B69E2-F7AC-460D-83EE-361A011AE207}"/>
              </a:ext>
            </a:extLst>
          </p:cNvPr>
          <p:cNvSpPr>
            <a:spLocks noGrp="1"/>
          </p:cNvSpPr>
          <p:nvPr/>
        </p:nvSpPr>
        <p:spPr>
          <a:xfrm>
            <a:off x="4728822" y="4141417"/>
            <a:ext cx="1634624" cy="1920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Indsæt billede</a:t>
            </a:r>
            <a:br/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På layouts med billedholder: Klik på ikon og vælg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Indsæt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Teksten ”Klik her, hvis du vil udskifte billedet” bliver ikke vist i din præsentation. 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Du kan hente KU-billeder, som er tilpasset og minimeret til henholdsvis 4:3- og 16:9-format via dette link:</a:t>
            </a:r>
            <a:br/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</a:t>
            </a:r>
            <a:r>
              <a:rPr sz="800" b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http://image.ku.dk/lightbox/211/13407586855728741badb20/ 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Vælg slideshow-visning for at gøre linket aktivt.</a:t>
            </a:r>
          </a:p>
        </p:txBody>
      </p:sp>
      <p:sp>
        <p:nvSpPr>
          <p:cNvPr id="56" name="Text Box 48">
            <a:extLst>
              <a:ext uri="{FF2B5EF4-FFF2-40B4-BE49-F238E27FC236}">
                <a16:creationId xmlns:a16="http://schemas.microsoft.com/office/drawing/2014/main" id="{4C8339F5-1F9C-4250-A039-BA0823F6D0F1}"/>
              </a:ext>
            </a:extLst>
          </p:cNvPr>
          <p:cNvSpPr>
            <a:spLocks noGrp="1"/>
          </p:cNvSpPr>
          <p:nvPr/>
        </p:nvSpPr>
        <p:spPr>
          <a:xfrm>
            <a:off x="6691561" y="1640495"/>
            <a:ext cx="1634624" cy="923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Billedstørrelser</a:t>
            </a:r>
            <a:br/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De optimale billedstørrelser 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4:3-format: 1.500 x 1.073 pixels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16:9-format: 1.500 x 818 pixels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Gem billederne i 72 dpi og i ”jpg-medium-kvalitet”</a:t>
            </a:r>
          </a:p>
        </p:txBody>
      </p:sp>
      <p:sp>
        <p:nvSpPr>
          <p:cNvPr id="57" name="Text Box 48">
            <a:extLst>
              <a:ext uri="{FF2B5EF4-FFF2-40B4-BE49-F238E27FC236}">
                <a16:creationId xmlns:a16="http://schemas.microsoft.com/office/drawing/2014/main" id="{DBAE5E58-8FDC-4FE7-A3E6-89EF6DC4481A}"/>
              </a:ext>
            </a:extLst>
          </p:cNvPr>
          <p:cNvSpPr>
            <a:spLocks noGrp="1"/>
          </p:cNvSpPr>
          <p:nvPr/>
        </p:nvSpPr>
        <p:spPr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Beskær billede</a:t>
            </a:r>
            <a:br/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1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. Klik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Beskær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 for at ændre billedets fokus/størrelse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2.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Ønsker du at skalere billedet, så hold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SHIFT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-knappen nede, mens du trækker i billedets hjørner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3.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Højreklik på billedet og vælg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Placer bagerst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Tip: </a:t>
            </a: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Hvis du sletter billedet og indsætter et nyt, kan billedet lægge sig foran tekst og grafik. Hvis dette sker, skal du vælge billedet, højreklikke og vælge </a:t>
            </a:r>
            <a:r>
              <a:rPr sz="8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Placer bagerst</a:t>
            </a:r>
          </a:p>
        </p:txBody>
      </p:sp>
      <p:sp>
        <p:nvSpPr>
          <p:cNvPr id="58" name="Text Box 48">
            <a:extLst>
              <a:ext uri="{FF2B5EF4-FFF2-40B4-BE49-F238E27FC236}">
                <a16:creationId xmlns:a16="http://schemas.microsoft.com/office/drawing/2014/main" id="{1AAEA51B-ED7B-4471-8EC7-23E50E4BE599}"/>
              </a:ext>
            </a:extLst>
          </p:cNvPr>
          <p:cNvSpPr>
            <a:spLocks noGrp="1"/>
          </p:cNvSpPr>
          <p:nvPr/>
        </p:nvSpPr>
        <p:spPr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Skabelonens farver</a:t>
            </a:r>
            <a:br/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Du kan vælge mellem en række farver til baggrunde og grafer.</a:t>
            </a:r>
          </a:p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>
            <a:extLst>
              <a:ext uri="{FF2B5EF4-FFF2-40B4-BE49-F238E27FC236}">
                <a16:creationId xmlns:a16="http://schemas.microsoft.com/office/drawing/2014/main" id="{6FB35716-5813-4779-9F67-31C719A954D5}"/>
              </a:ext>
            </a:extLst>
          </p:cNvPr>
          <p:cNvSpPr>
            <a:spLocks noGrp="1"/>
          </p:cNvSpPr>
          <p:nvPr/>
        </p:nvSpPr>
        <p:spPr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buNone/>
            </a:pPr>
            <a:r>
              <a:rPr sz="1000" b="1">
                <a:solidFill>
                  <a:schemeClr val="tx1"/>
                </a:solidFill>
                <a:latin typeface="+mj-lt"/>
                <a:ea typeface="+mj-lt"/>
                <a:cs typeface="+mj-lt"/>
              </a:rPr>
              <a:t>Mere information</a:t>
            </a:r>
            <a:br/>
            <a:r>
              <a:rPr sz="800" b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Se designguiden på</a:t>
            </a:r>
            <a:br/>
            <a:r>
              <a:rPr sz="800" b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www.designguide.ku.dk/ku/</a:t>
            </a:r>
            <a:br/>
            <a:r>
              <a:rPr sz="800" b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skabeloner/powerpoint/</a:t>
            </a:r>
            <a:br/>
            <a:r>
              <a:rPr sz="800" b="0">
                <a:solidFill>
                  <a:schemeClr val="accent4"/>
                </a:solidFill>
                <a:latin typeface="+mj-lt"/>
                <a:ea typeface="+mj-lt"/>
                <a:cs typeface="+mj-lt"/>
              </a:rPr>
              <a:t>praesentationer/</a:t>
            </a:r>
          </a:p>
        </p:txBody>
      </p:sp>
      <p:pic>
        <p:nvPicPr>
          <p:cNvPr id="85" name="Billed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86" name="Billed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87" name="Billed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>
            <a:extLst>
              <a:ext uri="{FF2B5EF4-FFF2-40B4-BE49-F238E27FC236}">
                <a16:creationId xmlns:a16="http://schemas.microsoft.com/office/drawing/2014/main" id="{DE125507-81C0-4FE9-BADC-17D3274CF018}"/>
              </a:ext>
            </a:extLst>
          </p:cNvPr>
          <p:cNvSpPr>
            <a:spLocks noGrp="1"/>
          </p:cNvSpPr>
          <p:nvPr/>
        </p:nvSpPr>
        <p:spPr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144000" bIns="0" anchor="t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2. 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Under knappen </a:t>
            </a:r>
            <a:r>
              <a:rPr sz="800" b="1">
                <a:solidFill>
                  <a:schemeClr val="tx1"/>
                </a:solidFill>
                <a:latin typeface="+mn-lt"/>
                <a:ea typeface="+mn-lt"/>
                <a:cs typeface="+mn-lt"/>
              </a:rPr>
              <a:t>Nyt dias/Nyt slide</a:t>
            </a:r>
            <a:r>
              <a:rPr sz="800">
                <a:solidFill>
                  <a:schemeClr val="tx1"/>
                </a:solidFill>
                <a:latin typeface="+mn-lt"/>
                <a:ea typeface="+mn-lt"/>
                <a:cs typeface="+mn-lt"/>
              </a:rPr>
              <a:t>. Klik på øverste del af knappen for at oprette i et dias/slide magen til det markerede. Klik på nederste del for at se et udvalg af mulige layoutvalg</a:t>
            </a:r>
          </a:p>
        </p:txBody>
      </p:sp>
      <p:pic>
        <p:nvPicPr>
          <p:cNvPr id="89" name="Billede 39"/>
          <p:cNvPicPr>
            <a:picLocks noChangeAspect="1"/>
          </p:cNvPicPr>
          <p:nvPr/>
        </p:nvPicPr>
        <p:blipFill rotWithShape="1">
          <a:blip r:embed="rId2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>
            <a:extLst>
              <a:ext uri="{FF2B5EF4-FFF2-40B4-BE49-F238E27FC236}">
                <a16:creationId xmlns:a16="http://schemas.microsoft.com/office/drawing/2014/main" id="{7E5C1D9B-951E-4711-8061-F255B6C5098C}"/>
              </a:ext>
            </a:extLst>
          </p:cNvPr>
          <p:cNvSpPr>
            <a:spLocks noGrp="1"/>
          </p:cNvSpPr>
          <p:nvPr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/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6" name="Freeform 10">
            <a:extLst>
              <a:ext uri="{FF2B5EF4-FFF2-40B4-BE49-F238E27FC236}">
                <a16:creationId xmlns:a16="http://schemas.microsoft.com/office/drawing/2014/main" id="{6E02C591-4385-4642-BCE2-65610A1E6116}"/>
              </a:ext>
            </a:extLst>
          </p:cNvPr>
          <p:cNvSpPr>
            <a:spLocks noGrp="1"/>
          </p:cNvSpPr>
          <p:nvPr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/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>
            <a:extLst>
              <a:ext uri="{FF2B5EF4-FFF2-40B4-BE49-F238E27FC236}">
                <a16:creationId xmlns:a16="http://schemas.microsoft.com/office/drawing/2014/main" id="{2C8AC8B9-AA6B-47F7-8807-8E262F32C4A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>
            <a:extLst>
              <a:ext uri="{FF2B5EF4-FFF2-40B4-BE49-F238E27FC236}">
                <a16:creationId xmlns:a16="http://schemas.microsoft.com/office/drawing/2014/main" id="{B73E5E9B-110A-4885-B922-42FA53061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>
              <a:buNone/>
            </a:pPr>
            <a:r>
              <a:t>Body Level Two</a:t>
            </a:r>
          </a:p>
          <a:p>
            <a:pPr lvl="2">
              <a:buNone/>
            </a:pPr>
            <a:r>
              <a:t>Body Level Three</a:t>
            </a:r>
          </a:p>
          <a:p>
            <a:pPr lvl="3">
              <a:buNone/>
            </a:pPr>
            <a:r>
              <a:t>Body Level Four</a:t>
            </a:r>
          </a:p>
          <a:p>
            <a:pPr lvl="4">
              <a:buNone/>
            </a:pPr>
            <a:r>
              <a:t>Body Level Five</a:t>
            </a:r>
          </a:p>
        </p:txBody>
      </p:sp>
      <p:sp>
        <p:nvSpPr>
          <p:cNvPr id="58" name="Slide Number">
            <a:extLst>
              <a:ext uri="{FF2B5EF4-FFF2-40B4-BE49-F238E27FC236}">
                <a16:creationId xmlns:a16="http://schemas.microsoft.com/office/drawing/2014/main" id="{F4D5CEB6-2FC8-4262-B43B-DD3AECD9E7D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>
            <a:extLst>
              <a:ext uri="{FF2B5EF4-FFF2-40B4-BE49-F238E27FC236}">
                <a16:creationId xmlns:a16="http://schemas.microsoft.com/office/drawing/2014/main" id="{A23EF00C-A58A-45B5-8D5F-0FE2BBE78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2268141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CA4534A8-0FE9-4226-BE23-1AD043D89DB6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image" Target="../media/image13.emf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DFC59160-52C1-446A-8F02-426BA9BE3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sz="3000" b="0" i="0" u="none" cap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A5E5E290-F412-4C18-81D4-6C32684C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" name="Google Shape;12;p1">
            <a:extLst>
              <a:ext uri="{FF2B5EF4-FFF2-40B4-BE49-F238E27FC236}">
                <a16:creationId xmlns:a16="http://schemas.microsoft.com/office/drawing/2014/main" id="{3DD36700-3A8D-4098-9E34-5988D1677D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32655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1">
            <a:extLst>
              <a:ext uri="{FF2B5EF4-FFF2-40B4-BE49-F238E27FC236}">
                <a16:creationId xmlns:a16="http://schemas.microsoft.com/office/drawing/2014/main" id="{5C939C3F-62D9-4B35-888C-769079DB68F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36495" y="85745"/>
            <a:ext cx="6981162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" name="Google Shape;14;p1">
            <a:extLst>
              <a:ext uri="{FF2B5EF4-FFF2-40B4-BE49-F238E27FC236}">
                <a16:creationId xmlns:a16="http://schemas.microsoft.com/office/drawing/2014/main" id="{8919F661-FCB1-4343-AC58-B2B6590CE3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5" name="Google Shape;15;p1">
            <a:extLst>
              <a:ext uri="{FF2B5EF4-FFF2-40B4-BE49-F238E27FC236}">
                <a16:creationId xmlns:a16="http://schemas.microsoft.com/office/drawing/2014/main" id="{DA6E14B9-E9B2-490E-B2D6-D72F0A5B740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>
            <a:noAutofit/>
          </a:bodyPr>
          <a:lstStyle>
            <a:lvl1pPr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cap="none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pic>
        <p:nvPicPr>
          <p:cNvPr id="24" name="Google Shape;16;p1"/>
          <p:cNvPicPr>
            <a:picLocks noChangeAspect="1"/>
          </p:cNvPicPr>
          <p:nvPr/>
        </p:nvPicPr>
        <p:blipFill rotWithShape="1">
          <a:blip r:embed="rId32">
            <a:alphaModFix/>
          </a:blip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  <a:ln>
            <a:noFill/>
          </a:ln>
        </p:spPr>
      </p:pic>
      <p:pic>
        <p:nvPicPr>
          <p:cNvPr id="25" name="Google Shape;17;p1"/>
          <p:cNvPicPr>
            <a:picLocks noChangeAspect="1"/>
          </p:cNvPicPr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61694" y="96467"/>
            <a:ext cx="2332648" cy="159521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pos="371">
          <p15:clr>
            <a:srgbClr val="F26B43"/>
          </p15:clr>
        </p15:guide>
        <p15:guide id="4" pos="7308">
          <p15:clr>
            <a:srgbClr val="F26B43"/>
          </p15:clr>
        </p15:guide>
        <p15:guide id="5" orient="horz" pos="1026">
          <p15:clr>
            <a:srgbClr val="F26B43"/>
          </p15:clr>
        </p15:guide>
        <p15:guide id="6" orient="horz" pos="397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69CCF7A-81CB-4DA7-9471-840B6C220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5186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/>
          <a:p>
            <a:r>
              <a:t>Klik for at redigere i master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DE53067-272A-4D84-ADD9-7838275ED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4" y="1635125"/>
            <a:ext cx="11012487" cy="467518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 lvl="0">
              <a:buNone/>
            </a:pPr>
            <a:r>
              <a:t>Klik for at redigere i master</a:t>
            </a:r>
          </a:p>
          <a:p>
            <a:pPr lvl="1">
              <a:buNone/>
            </a:pPr>
            <a:r>
              <a:t>Andet niveau</a:t>
            </a:r>
          </a:p>
          <a:p>
            <a:pPr lvl="2">
              <a:buNone/>
            </a:pPr>
            <a:r>
              <a:t>Tredje niveau</a:t>
            </a:r>
          </a:p>
          <a:p>
            <a:pPr lvl="3">
              <a:buNone/>
            </a:pPr>
            <a:r>
              <a:t>4</a:t>
            </a:r>
          </a:p>
          <a:p>
            <a:pPr lvl="4">
              <a:buNone/>
            </a:pPr>
            <a:r>
              <a:t>5</a:t>
            </a:r>
          </a:p>
          <a:p>
            <a:pPr lvl="5">
              <a:buNone/>
            </a:pPr>
            <a:r>
              <a:t>6</a:t>
            </a:r>
          </a:p>
          <a:p>
            <a:pPr lvl="6">
              <a:buNone/>
            </a:pPr>
            <a:r>
              <a:t>7</a:t>
            </a:r>
          </a:p>
          <a:p>
            <a:pPr lvl="7">
              <a:buNone/>
            </a:pPr>
            <a:r>
              <a:t>8</a:t>
            </a:r>
          </a:p>
          <a:p>
            <a:pPr lvl="8">
              <a:buNone/>
            </a:pPr>
            <a:r>
              <a:t>9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D711658C-25C9-40E3-B81A-BFC7F4A0B370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33265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EEFEE">
                  <a:alpha val="93000"/>
                </a:srgbClr>
              </a:gs>
            </a:gsLst>
            <a:lin ang="5400000" scaled="0"/>
            <a:tileRect/>
          </a:gradFill>
          <a:ln w="381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" name="Picture 7"/>
          <p:cNvPicPr>
            <a:picLocks noChangeAspect="1"/>
          </p:cNvPicPr>
          <p:nvPr/>
        </p:nvPicPr>
        <p:blipFill rotWithShape="1">
          <a:blip r:embed="rId26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4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1BEFAF0-A5FE-4F69-BE58-916C646BEF3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>
                <a:solidFill>
                  <a:srgbClr val="333333"/>
                </a:solidFill>
              </a:defRPr>
            </a:lvl1pPr>
          </a:lstStyle>
          <a:p>
            <a:endParaRPr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F993B09-EE77-417F-B01D-66F936D86C2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t>‹#›</a:t>
            </a:fld>
            <a:endParaRPr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EB783E9-871B-4D95-B76F-65562A0901D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>
                <a:solidFill>
                  <a:srgbClr val="333333"/>
                </a:solidFill>
              </a:defRPr>
            </a:lvl1pPr>
          </a:lstStyle>
          <a:p>
            <a:fld id="{4276E65D-4FB3-40ED-B65A-20F69F4A226A}" type="datetime1">
              <a:t>25/08/2026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</p:sldLayoutIdLst>
  <p:hf hdr="0" ftr="0"/>
  <p:txStyles>
    <p:titleStyle>
      <a:lvl1pPr algn="l" defTabSz="914400">
        <a:lnSpc>
          <a:spcPct val="100000"/>
        </a:lnSpc>
        <a:spcBef>
          <a:spcPct val="0"/>
        </a:spcBef>
        <a:buNone/>
        <a:defRPr sz="3000" kern="1200" spc="60" baseline="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61950" indent="-361950" algn="l" defTabSz="914400">
        <a:lnSpc>
          <a:spcPct val="100000"/>
        </a:lnSpc>
        <a:spcBef>
          <a:spcPts val="1000"/>
        </a:spcBef>
        <a:buFont typeface="Arial"/>
        <a:buChar char="•"/>
        <a:defRPr sz="2400" kern="1200" spc="60" baseline="0">
          <a:solidFill>
            <a:schemeClr val="tx1"/>
          </a:solidFill>
          <a:latin typeface="+mn-lt"/>
          <a:ea typeface="+mn-lt"/>
          <a:cs typeface="+mn-lt"/>
        </a:defRPr>
      </a:lvl1pPr>
      <a:lvl2pPr marL="719138" marR="0" indent="-358775" algn="l" defTabSz="914400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defRPr sz="2000" kern="1200" spc="60" baseline="0">
          <a:solidFill>
            <a:schemeClr val="tx1"/>
          </a:solidFill>
          <a:latin typeface="+mn-lt"/>
          <a:ea typeface="+mn-lt"/>
          <a:cs typeface="+mn-lt"/>
        </a:defRPr>
      </a:lvl2pPr>
      <a:lvl3pPr marL="1073150" indent="-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+mn-lt"/>
          <a:ea typeface="+mn-lt"/>
          <a:cs typeface="+mn-lt"/>
        </a:defRPr>
      </a:lvl3pPr>
      <a:lvl4pPr marL="719138" indent="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719138" indent="354013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 spc="60" baseline="0">
          <a:solidFill>
            <a:schemeClr val="tx1"/>
          </a:solidFill>
          <a:latin typeface="+mn-lt"/>
          <a:ea typeface="+mn-lt"/>
          <a:cs typeface="+mn-lt"/>
        </a:defRPr>
      </a:lvl5pPr>
      <a:lvl6pPr marL="719138" indent="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719138" indent="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719138" indent="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719138" indent="354013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70">
          <p15:clr>
            <a:srgbClr val="F26B43"/>
          </p15:clr>
        </p15:guide>
        <p15:guide id="2" pos="7307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pos="371">
          <p15:clr>
            <a:srgbClr val="F26B43"/>
          </p15:clr>
        </p15:guide>
        <p15:guide id="6" pos="7308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>
            <a:extLst>
              <a:ext uri="{FF2B5EF4-FFF2-40B4-BE49-F238E27FC236}">
                <a16:creationId xmlns:a16="http://schemas.microsoft.com/office/drawing/2014/main" id="{E60CB784-53A4-4062-A88A-356A2FC2C0B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87374" y="2511636"/>
            <a:ext cx="7396796" cy="66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b="1" dirty="0"/>
              <a:t>Integrative Post-GWAS Methods: Advanced Statistics, Functional Genomics, and Machine Learning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GB" sz="2000" b="1" dirty="0"/>
          </a:p>
        </p:txBody>
      </p:sp>
      <p:sp>
        <p:nvSpPr>
          <p:cNvPr id="250" name="Google Shape;250;p32">
            <a:extLst>
              <a:ext uri="{FF2B5EF4-FFF2-40B4-BE49-F238E27FC236}">
                <a16:creationId xmlns:a16="http://schemas.microsoft.com/office/drawing/2014/main" id="{9A130978-6CE9-4192-9F1E-BF4447E88AF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88962" y="3855024"/>
            <a:ext cx="10155238" cy="178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b="1" dirty="0"/>
              <a:t>Magnus Tvede Jungersen, Research Assistant</a:t>
            </a:r>
            <a:endParaRPr lang="en-GB" sz="1300" dirty="0"/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Simon Rasmussen, Professor</a:t>
            </a:r>
            <a:endParaRPr lang="en-GB" b="1" dirty="0">
              <a:solidFill>
                <a:srgbClr val="000000"/>
              </a:solidFill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Novo Nordisk Foundation </a:t>
            </a:r>
            <a:r>
              <a:rPr kumimoji="0" lang="en-GB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Center</a:t>
            </a: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for Basic Metabolic Research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lang="en-GB" b="1" dirty="0">
                <a:solidFill>
                  <a:srgbClr val="000000"/>
                </a:solidFill>
              </a:rPr>
              <a:t>University of Copenhagen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GB" sz="13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GB" sz="1300" dirty="0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dirty="0"/>
              <a:t>August 26</a:t>
            </a:r>
            <a:r>
              <a:rPr lang="en-GB" baseline="30000" dirty="0"/>
              <a:t>th</a:t>
            </a:r>
            <a:r>
              <a:rPr lang="en-GB" dirty="0"/>
              <a:t>, 2026, Aarhus University</a:t>
            </a:r>
          </a:p>
        </p:txBody>
      </p:sp>
      <p:sp>
        <p:nvSpPr>
          <p:cNvPr id="251" name="Google Shape;251;p32">
            <a:extLst>
              <a:ext uri="{FF2B5EF4-FFF2-40B4-BE49-F238E27FC236}">
                <a16:creationId xmlns:a16="http://schemas.microsoft.com/office/drawing/2014/main" id="{7375EBA6-E5BF-465C-A8F8-BCAAAACE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020200"/>
            <a:ext cx="8907145" cy="147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</a:pPr>
            <a:r>
              <a:rPr lang="en-GB" dirty="0"/>
              <a:t>Introduction to EHR modality, transformers and disease trajectories</a:t>
            </a:r>
          </a:p>
        </p:txBody>
      </p:sp>
    </p:spTree>
    <p:extLst>
      <p:ext uri="{BB962C8B-B14F-4D97-AF65-F5344CB8AC3E}">
        <p14:creationId xmlns:p14="http://schemas.microsoft.com/office/powerpoint/2010/main" val="199871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>
            <a:extLst>
              <a:ext uri="{FF2B5EF4-FFF2-40B4-BE49-F238E27FC236}">
                <a16:creationId xmlns:a16="http://schemas.microsoft.com/office/drawing/2014/main" id="{28268E20-EC45-405E-A1F3-233D913E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Agenda</a:t>
            </a:r>
          </a:p>
        </p:txBody>
      </p:sp>
      <p:sp>
        <p:nvSpPr>
          <p:cNvPr id="258" name="Google Shape;258;p33">
            <a:extLst>
              <a:ext uri="{FF2B5EF4-FFF2-40B4-BE49-F238E27FC236}">
                <a16:creationId xmlns:a16="http://schemas.microsoft.com/office/drawing/2014/main" id="{5382997F-934B-48C9-A0AB-9FD50F4D9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Part 1 - Longitudinal Electronic Health Record (EHR) data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Part 2 - Transformer models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Part 3 - EHR-Transformer models</a:t>
            </a:r>
          </a:p>
        </p:txBody>
      </p:sp>
      <p:sp>
        <p:nvSpPr>
          <p:cNvPr id="259" name="Google Shape;259;p33">
            <a:extLst>
              <a:ext uri="{FF2B5EF4-FFF2-40B4-BE49-F238E27FC236}">
                <a16:creationId xmlns:a16="http://schemas.microsoft.com/office/drawing/2014/main" id="{D60F3C0D-3A2A-4B4E-9DA2-151FF640F4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</a:t>
            </a:fld>
            <a:endParaRPr/>
          </a:p>
        </p:txBody>
      </p:sp>
      <p:pic>
        <p:nvPicPr>
          <p:cNvPr id="266" name="Google Shape;260;p3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8550" y="1011750"/>
            <a:ext cx="3561701" cy="1351550"/>
          </a:xfrm>
          <a:prstGeom prst="rect">
            <a:avLst/>
          </a:prstGeom>
          <a:ln>
            <a:noFill/>
          </a:ln>
        </p:spPr>
      </p:pic>
      <p:pic>
        <p:nvPicPr>
          <p:cNvPr id="267" name="Google Shape;261;p33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4750" y="2495700"/>
            <a:ext cx="2167075" cy="3097875"/>
          </a:xfrm>
          <a:prstGeom prst="rect">
            <a:avLst/>
          </a:prstGeom>
          <a:ln>
            <a:noFill/>
          </a:ln>
        </p:spPr>
      </p:pic>
      <p:pic>
        <p:nvPicPr>
          <p:cNvPr id="268" name="Google Shape;262;p33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5750" y="4876549"/>
            <a:ext cx="5447875" cy="14258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50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>
            <a:extLst>
              <a:ext uri="{FF2B5EF4-FFF2-40B4-BE49-F238E27FC236}">
                <a16:creationId xmlns:a16="http://schemas.microsoft.com/office/drawing/2014/main" id="{788F94F0-5A2C-4899-BC48-65D033CF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997150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chemeClr val="accent4"/>
                </a:solidFill>
              </a:rPr>
              <a:t>Part 1</a:t>
            </a:r>
            <a:r>
              <a:rPr lang="da-DK" b="1" dirty="0">
                <a:solidFill>
                  <a:schemeClr val="accent4"/>
                </a:solidFill>
              </a:rPr>
              <a:t>: EHR data and </a:t>
            </a:r>
            <a:r>
              <a:rPr lang="da-DK" b="1" dirty="0" err="1">
                <a:solidFill>
                  <a:schemeClr val="accent4"/>
                </a:solidFill>
              </a:rPr>
              <a:t>their</a:t>
            </a:r>
            <a:r>
              <a:rPr lang="da-DK" b="1" dirty="0">
                <a:solidFill>
                  <a:schemeClr val="accent4"/>
                </a:solidFill>
              </a:rPr>
              <a:t> </a:t>
            </a:r>
            <a:r>
              <a:rPr lang="da-DK" b="1" dirty="0" err="1">
                <a:solidFill>
                  <a:schemeClr val="accent4"/>
                </a:solidFill>
              </a:rPr>
              <a:t>use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277" name="Google Shape;277;p35">
            <a:extLst>
              <a:ext uri="{FF2B5EF4-FFF2-40B4-BE49-F238E27FC236}">
                <a16:creationId xmlns:a16="http://schemas.microsoft.com/office/drawing/2014/main" id="{3F9ED0F1-7404-4475-ACF9-7E52A071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3789780"/>
            <a:ext cx="11012400" cy="206575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What does EHR data add beyond DNA?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How are clinical events represented?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Why do order and timing matter?</a:t>
            </a:r>
            <a:endParaRPr lang="da-DK"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How do sequences become disease trajectories?</a:t>
            </a:r>
          </a:p>
        </p:txBody>
      </p:sp>
      <p:sp>
        <p:nvSpPr>
          <p:cNvPr id="278" name="Google Shape;278;p35">
            <a:extLst>
              <a:ext uri="{FF2B5EF4-FFF2-40B4-BE49-F238E27FC236}">
                <a16:creationId xmlns:a16="http://schemas.microsoft.com/office/drawing/2014/main" id="{59F91FDF-4CD8-42EF-9225-CB910E75C9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</a:t>
            </a:fld>
            <a:endParaRPr/>
          </a:p>
        </p:txBody>
      </p:sp>
      <p:sp>
        <p:nvSpPr>
          <p:cNvPr id="279" name="Google Shape;279;p35">
            <a:extLst>
              <a:ext uri="{FF2B5EF4-FFF2-40B4-BE49-F238E27FC236}">
                <a16:creationId xmlns:a16="http://schemas.microsoft.com/office/drawing/2014/main" id="{3AEE4753-6D4E-4D81-A17A-168AC60D2FC7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00">
                <a:solidFill>
                  <a:srgbClr val="666666"/>
                </a:solidFill>
              </a:rPr>
              <a:t>Part 1: Longitudinal Electronic Health Record (EHR) data</a:t>
            </a:r>
          </a:p>
        </p:txBody>
      </p:sp>
    </p:spTree>
    <p:extLst>
      <p:ext uri="{BB962C8B-B14F-4D97-AF65-F5344CB8AC3E}">
        <p14:creationId xmlns:p14="http://schemas.microsoft.com/office/powerpoint/2010/main" val="144637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>
            <a:extLst>
              <a:ext uri="{FF2B5EF4-FFF2-40B4-BE49-F238E27FC236}">
                <a16:creationId xmlns:a16="http://schemas.microsoft.com/office/drawing/2014/main" id="{473C6B89-964D-4266-B3DF-639566EF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DNA is static and electronic health records are dynamic</a:t>
            </a:r>
          </a:p>
        </p:txBody>
      </p:sp>
      <p:sp>
        <p:nvSpPr>
          <p:cNvPr id="286" name="Google Shape;286;p36">
            <a:extLst>
              <a:ext uri="{FF2B5EF4-FFF2-40B4-BE49-F238E27FC236}">
                <a16:creationId xmlns:a16="http://schemas.microsoft.com/office/drawing/2014/main" id="{E7DF682A-8B84-4540-A275-455D68E83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8" y="1628775"/>
            <a:ext cx="47169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DNA: a largely static baseline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GWAS identifies associations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PRS summarizes inherited risk</a:t>
            </a:r>
          </a:p>
        </p:txBody>
      </p:sp>
      <p:sp>
        <p:nvSpPr>
          <p:cNvPr id="287" name="Google Shape;287;p36">
            <a:extLst>
              <a:ext uri="{FF2B5EF4-FFF2-40B4-BE49-F238E27FC236}">
                <a16:creationId xmlns:a16="http://schemas.microsoft.com/office/drawing/2014/main" id="{276E2F7D-6DDB-453C-8BBC-6202CCD04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4</a:t>
            </a:fld>
            <a:endParaRPr/>
          </a:p>
        </p:txBody>
      </p:sp>
      <p:pic>
        <p:nvPicPr>
          <p:cNvPr id="298" name="Google Shape;288;p36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050" y="4068700"/>
            <a:ext cx="5335572" cy="1672575"/>
          </a:xfrm>
          <a:prstGeom prst="rect">
            <a:avLst/>
          </a:prstGeom>
          <a:ln>
            <a:noFill/>
          </a:ln>
        </p:spPr>
      </p:pic>
      <p:sp>
        <p:nvSpPr>
          <p:cNvPr id="289" name="Google Shape;289;p36">
            <a:extLst>
              <a:ext uri="{FF2B5EF4-FFF2-40B4-BE49-F238E27FC236}">
                <a16:creationId xmlns:a16="http://schemas.microsoft.com/office/drawing/2014/main" id="{2E77D2EC-4E62-4BA9-85BD-44FF7418C6E9}"/>
              </a:ext>
            </a:extLst>
          </p:cNvPr>
          <p:cNvSpPr>
            <a:spLocks noGrp="1"/>
          </p:cNvSpPr>
          <p:nvPr/>
        </p:nvSpPr>
        <p:spPr>
          <a:xfrm>
            <a:off x="9881025" y="6020575"/>
            <a:ext cx="2070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(Lutsker et. al 2026)</a:t>
            </a:r>
          </a:p>
        </p:txBody>
      </p:sp>
      <p:pic>
        <p:nvPicPr>
          <p:cNvPr id="300" name="Google Shape;290;p36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225" y="3768637"/>
            <a:ext cx="4483700" cy="2407550"/>
          </a:xfrm>
          <a:prstGeom prst="rect">
            <a:avLst/>
          </a:prstGeom>
          <a:ln>
            <a:noFill/>
          </a:ln>
        </p:spPr>
      </p:pic>
      <p:sp>
        <p:nvSpPr>
          <p:cNvPr id="291" name="Google Shape;291;p36">
            <a:extLst>
              <a:ext uri="{FF2B5EF4-FFF2-40B4-BE49-F238E27FC236}">
                <a16:creationId xmlns:a16="http://schemas.microsoft.com/office/drawing/2014/main" id="{A1245178-901D-440A-BF57-84CDAC666A59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1: Longitudinal Electronic Health Record (EHR) data</a:t>
            </a:r>
          </a:p>
        </p:txBody>
      </p:sp>
      <p:sp>
        <p:nvSpPr>
          <p:cNvPr id="292" name="Google Shape;292;p36">
            <a:extLst>
              <a:ext uri="{FF2B5EF4-FFF2-40B4-BE49-F238E27FC236}">
                <a16:creationId xmlns:a16="http://schemas.microsoft.com/office/drawing/2014/main" id="{C9DB8A35-C022-433F-80C9-666680AA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3677" y="1628775"/>
            <a:ext cx="58662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EHR: a dynamic trajectory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Diagnoses, drugs and laboratory values accumulate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Risk changes with exposures and disease history</a:t>
            </a:r>
          </a:p>
        </p:txBody>
      </p:sp>
    </p:spTree>
    <p:extLst>
      <p:ext uri="{BB962C8B-B14F-4D97-AF65-F5344CB8AC3E}">
        <p14:creationId xmlns:p14="http://schemas.microsoft.com/office/powerpoint/2010/main" val="164453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>
            <a:extLst>
              <a:ext uri="{FF2B5EF4-FFF2-40B4-BE49-F238E27FC236}">
                <a16:creationId xmlns:a16="http://schemas.microsoft.com/office/drawing/2014/main" id="{27CD3A1F-A0A8-459D-B6DA-7FDF2FDA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EHRs combine structured and unstructured modalities</a:t>
            </a:r>
          </a:p>
        </p:txBody>
      </p:sp>
      <p:sp>
        <p:nvSpPr>
          <p:cNvPr id="299" name="Google Shape;299;p37">
            <a:extLst>
              <a:ext uri="{FF2B5EF4-FFF2-40B4-BE49-F238E27FC236}">
                <a16:creationId xmlns:a16="http://schemas.microsoft.com/office/drawing/2014/main" id="{377B13D1-5270-4C25-983B-5B255412A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Structured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diagnoses and medications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laboratory measurements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genomics and lifestyle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Unstructured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clinical notes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images</a:t>
            </a:r>
          </a:p>
        </p:txBody>
      </p:sp>
      <p:sp>
        <p:nvSpPr>
          <p:cNvPr id="300" name="Google Shape;300;p37">
            <a:extLst>
              <a:ext uri="{FF2B5EF4-FFF2-40B4-BE49-F238E27FC236}">
                <a16:creationId xmlns:a16="http://schemas.microsoft.com/office/drawing/2014/main" id="{89CD581C-912F-4BD8-A770-8860077920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5</a:t>
            </a:fld>
            <a:endParaRPr/>
          </a:p>
        </p:txBody>
      </p:sp>
      <p:sp>
        <p:nvSpPr>
          <p:cNvPr id="301" name="Google Shape;301;p37">
            <a:extLst>
              <a:ext uri="{FF2B5EF4-FFF2-40B4-BE49-F238E27FC236}">
                <a16:creationId xmlns:a16="http://schemas.microsoft.com/office/drawing/2014/main" id="{D9303C1F-5694-4EF4-97CE-7F35A8CDA707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1: Longitudinal Electronic Health Record (EHR) data</a:t>
            </a:r>
          </a:p>
        </p:txBody>
      </p:sp>
      <p:pic>
        <p:nvPicPr>
          <p:cNvPr id="309" name="Google Shape;302;p3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44" y="1988836"/>
            <a:ext cx="5413150" cy="3360075"/>
          </a:xfrm>
          <a:prstGeom prst="rect">
            <a:avLst/>
          </a:prstGeom>
          <a:ln>
            <a:noFill/>
          </a:ln>
        </p:spPr>
      </p:pic>
      <p:sp>
        <p:nvSpPr>
          <p:cNvPr id="303" name="Google Shape;303;p37">
            <a:extLst>
              <a:ext uri="{FF2B5EF4-FFF2-40B4-BE49-F238E27FC236}">
                <a16:creationId xmlns:a16="http://schemas.microsoft.com/office/drawing/2014/main" id="{EFD5A1DD-30D2-480D-BD3A-065393ECD01D}"/>
              </a:ext>
            </a:extLst>
          </p:cNvPr>
          <p:cNvSpPr>
            <a:spLocks noGrp="1"/>
          </p:cNvSpPr>
          <p:nvPr/>
        </p:nvSpPr>
        <p:spPr>
          <a:xfrm>
            <a:off x="10110627" y="6055936"/>
            <a:ext cx="19959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Icons from BioRender</a:t>
            </a:r>
          </a:p>
        </p:txBody>
      </p:sp>
    </p:spTree>
    <p:extLst>
      <p:ext uri="{BB962C8B-B14F-4D97-AF65-F5344CB8AC3E}">
        <p14:creationId xmlns:p14="http://schemas.microsoft.com/office/powerpoint/2010/main" val="156079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>
            <a:extLst>
              <a:ext uri="{FF2B5EF4-FFF2-40B4-BE49-F238E27FC236}">
                <a16:creationId xmlns:a16="http://schemas.microsoft.com/office/drawing/2014/main" id="{7C054AEA-62F5-43CB-9E5F-888A7E5D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Sequential data adds a temporal dimension</a:t>
            </a:r>
          </a:p>
        </p:txBody>
      </p:sp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CB1311D-ECCA-4641-9F08-A67A8F612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Take home: order, timing and modality jointly define the trajectory</a:t>
            </a: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31795671-6EAB-4FEA-A69B-54DC683DAE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6</a:t>
            </a:fld>
            <a:endParaRPr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1478D96-F8BE-4F9D-BC92-3FC0DA7A0C29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1: Longitudinal Electronic Health Record (EHR) data</a:t>
            </a:r>
          </a:p>
        </p:txBody>
      </p:sp>
      <p:pic>
        <p:nvPicPr>
          <p:cNvPr id="319" name="Google Shape;313;p38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842" y="1991425"/>
            <a:ext cx="4049616" cy="2751168"/>
          </a:xfrm>
          <a:prstGeom prst="rect">
            <a:avLst/>
          </a:prstGeom>
          <a:ln>
            <a:noFill/>
          </a:ln>
        </p:spPr>
      </p:pic>
      <p:pic>
        <p:nvPicPr>
          <p:cNvPr id="320" name="Google Shape;314;p38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6698" y="2426308"/>
            <a:ext cx="5921685" cy="22470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705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1BFB-CBEA-542E-3959-BB8BF3FA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4"/>
            <a:ext cx="11012486" cy="865186"/>
          </a:xfrm>
        </p:spPr>
        <p:txBody>
          <a:bodyPr anchor="t">
            <a:normAutofit/>
          </a:bodyPr>
          <a:lstStyle/>
          <a:p>
            <a:r>
              <a:rPr lang="en-DK" dirty="0"/>
              <a:t>META-TWIN: Medical digital twins for precision health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9E01E-F8C0-7A12-0C4B-2780BF0E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29111" y="85745"/>
            <a:ext cx="814976" cy="176797"/>
          </a:xfrm>
        </p:spPr>
        <p:txBody>
          <a:bodyPr anchor="b">
            <a:normAutofit fontScale="77500" lnSpcReduction="20000"/>
          </a:bodyPr>
          <a:lstStyle/>
          <a:p>
            <a:pPr>
              <a:spcAft>
                <a:spcPts val="600"/>
              </a:spcAft>
            </a:pPr>
            <a:fld id="{3C829339-1C74-4825-ADEB-BCD7E13EFC81}" type="datetime1">
              <a:rPr lang="da-DK" smtClean="0"/>
              <a:pPr>
                <a:spcAft>
                  <a:spcPts val="600"/>
                </a:spcAft>
              </a:pPr>
              <a:t>25.08.2026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AE0FF-EE6F-AF0C-B98C-34EAB8B5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9691" y="85745"/>
            <a:ext cx="381759" cy="176797"/>
          </a:xfrm>
        </p:spPr>
        <p:txBody>
          <a:bodyPr anchor="b">
            <a:normAutofit fontScale="77500" lnSpcReduction="20000"/>
          </a:bodyPr>
          <a:lstStyle/>
          <a:p>
            <a:pPr>
              <a:spcAft>
                <a:spcPts val="600"/>
              </a:spcAft>
            </a:pPr>
            <a:fld id="{091A926C-488A-4E3E-9C21-57CAA120E114}" type="slidenum">
              <a:rPr lang="da-DK" smtClean="0"/>
              <a:pPr>
                <a:spcAft>
                  <a:spcPts val="600"/>
                </a:spcAft>
              </a:pPr>
              <a:t>7</a:t>
            </a:fld>
            <a:endParaRPr lang="da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94B46F-3A00-9029-A651-9ABCE8EAB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35125"/>
            <a:ext cx="5671145" cy="4884208"/>
          </a:xfrm>
        </p:spPr>
        <p:txBody>
          <a:bodyPr anchor="t" anchorCtr="0"/>
          <a:lstStyle/>
          <a:p>
            <a:pPr marL="0" indent="0">
              <a:buNone/>
            </a:pPr>
            <a:r>
              <a:rPr lang="en-GB" b="1" spc="0" dirty="0">
                <a:solidFill>
                  <a:srgbClr val="001267"/>
                </a:solidFill>
              </a:rPr>
              <a:t>MDTs: </a:t>
            </a:r>
            <a:endParaRPr lang="en-GB" dirty="0"/>
          </a:p>
          <a:p>
            <a:r>
              <a:rPr lang="en-GB" dirty="0"/>
              <a:t>Transform </a:t>
            </a:r>
            <a:r>
              <a:rPr lang="en-GB" b="1" dirty="0"/>
              <a:t>lifelong health data </a:t>
            </a:r>
            <a:r>
              <a:rPr lang="en-GB" dirty="0"/>
              <a:t>into representations</a:t>
            </a:r>
          </a:p>
          <a:p>
            <a:endParaRPr lang="en-GB" dirty="0"/>
          </a:p>
          <a:p>
            <a:r>
              <a:rPr lang="en-GB" dirty="0"/>
              <a:t>Captures the entirety of a </a:t>
            </a:r>
            <a:r>
              <a:rPr lang="en-GB" b="1" dirty="0"/>
              <a:t>single individuals health journey</a:t>
            </a:r>
          </a:p>
          <a:p>
            <a:endParaRPr lang="en-GB" dirty="0"/>
          </a:p>
          <a:p>
            <a:r>
              <a:rPr lang="en-GB" b="1" dirty="0"/>
              <a:t>Dynamic</a:t>
            </a:r>
            <a:r>
              <a:rPr lang="en-GB" dirty="0"/>
              <a:t> across lifetime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ABFF7A-7105-6B34-18B9-87E5E442B763}"/>
              </a:ext>
            </a:extLst>
          </p:cNvPr>
          <p:cNvGrpSpPr/>
          <p:nvPr/>
        </p:nvGrpSpPr>
        <p:grpSpPr>
          <a:xfrm>
            <a:off x="6886248" y="1485900"/>
            <a:ext cx="4589930" cy="4589930"/>
            <a:chOff x="995082" y="1799756"/>
            <a:chExt cx="4589930" cy="4589930"/>
          </a:xfrm>
        </p:grpSpPr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89F49194-959E-3A67-8A6D-AD0D236DAE36}"/>
                </a:ext>
              </a:extLst>
            </p:cNvPr>
            <p:cNvSpPr/>
            <p:nvPr/>
          </p:nvSpPr>
          <p:spPr>
            <a:xfrm flipH="1" flipV="1">
              <a:off x="995082" y="1799756"/>
              <a:ext cx="4589930" cy="4589929"/>
            </a:xfrm>
            <a:prstGeom prst="cube">
              <a:avLst/>
            </a:pr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CE3D5F4C-2D5B-8611-5C4A-F0155F053CB6}"/>
                </a:ext>
              </a:extLst>
            </p:cNvPr>
            <p:cNvSpPr/>
            <p:nvPr/>
          </p:nvSpPr>
          <p:spPr>
            <a:xfrm>
              <a:off x="995082" y="1799757"/>
              <a:ext cx="4589930" cy="4589929"/>
            </a:xfrm>
            <a:prstGeom prst="cub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7881C5C-C7E3-AAF3-9FB9-DB6361896DE4}"/>
              </a:ext>
            </a:extLst>
          </p:cNvPr>
          <p:cNvGrpSpPr/>
          <p:nvPr/>
        </p:nvGrpSpPr>
        <p:grpSpPr>
          <a:xfrm>
            <a:off x="8332989" y="2969944"/>
            <a:ext cx="706200" cy="721979"/>
            <a:chOff x="5023658" y="3131400"/>
            <a:chExt cx="706200" cy="721979"/>
          </a:xfrm>
          <a:solidFill>
            <a:schemeClr val="tx1"/>
          </a:solidFill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F55BCDB-7BCB-3F8D-CC8D-4385B7436E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7458" y="32490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F0CC384-049D-9955-CBA5-2FF29FDDAE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9858" y="340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E4BAB79-3DD4-D5A2-C869-68F47FF4D2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23658" y="34776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F020665-0C2E-7B1C-BE32-72EFF12F79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9858" y="313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A40063A-EFA1-1427-B7B4-957AA7E1B5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893" y="3673379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5DCAE68-12BB-CEC5-0A09-28D01D040FCB}"/>
              </a:ext>
            </a:extLst>
          </p:cNvPr>
          <p:cNvGrpSpPr/>
          <p:nvPr/>
        </p:nvGrpSpPr>
        <p:grpSpPr>
          <a:xfrm>
            <a:off x="9530128" y="4103594"/>
            <a:ext cx="503084" cy="376132"/>
            <a:chOff x="6220797" y="4265050"/>
            <a:chExt cx="503084" cy="376132"/>
          </a:xfrm>
          <a:solidFill>
            <a:schemeClr val="tx1"/>
          </a:solidFill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FFD9142-6219-4D6B-CD32-867955906C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3881" y="426505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DC707B5-089F-888A-6E75-A51B08355B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3881" y="4461182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F2FA509-A2A1-2956-0746-F9738B7AFD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20797" y="4371182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FECF1951-6E7F-DCAB-060E-F7687970D1B1}"/>
              </a:ext>
            </a:extLst>
          </p:cNvPr>
          <p:cNvSpPr>
            <a:spLocks noChangeAspect="1"/>
          </p:cNvSpPr>
          <p:nvPr/>
        </p:nvSpPr>
        <p:spPr>
          <a:xfrm>
            <a:off x="9656891" y="3939726"/>
            <a:ext cx="180000" cy="18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7630DA4-323B-13A5-8A49-42BBCD0F674D}"/>
              </a:ext>
            </a:extLst>
          </p:cNvPr>
          <p:cNvGrpSpPr/>
          <p:nvPr/>
        </p:nvGrpSpPr>
        <p:grpSpPr>
          <a:xfrm>
            <a:off x="8156204" y="3966117"/>
            <a:ext cx="706200" cy="721979"/>
            <a:chOff x="5023658" y="3131400"/>
            <a:chExt cx="706200" cy="721979"/>
          </a:xfrm>
          <a:solidFill>
            <a:schemeClr val="tx1"/>
          </a:solidFill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D4A5349-CB32-8691-6914-A1D690FD6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7458" y="32490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81A5DA0-F360-7C59-8A53-14454E2927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9858" y="340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C0E3848-7C1C-8E61-49B9-B5980AE040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23658" y="34776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274FBFBE-5330-E175-C13E-D3318C62D1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9858" y="313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36832488-6858-F1AF-1D4B-7305C01E59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893" y="3673379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7464A622-2E30-CB47-C449-7E258E92959A}"/>
              </a:ext>
            </a:extLst>
          </p:cNvPr>
          <p:cNvGrpSpPr/>
          <p:nvPr/>
        </p:nvGrpSpPr>
        <p:grpSpPr>
          <a:xfrm>
            <a:off x="8616789" y="4420699"/>
            <a:ext cx="706200" cy="721979"/>
            <a:chOff x="5023658" y="3131400"/>
            <a:chExt cx="706200" cy="721979"/>
          </a:xfrm>
          <a:solidFill>
            <a:schemeClr val="tx1"/>
          </a:solidFill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633414B-58B2-EFAE-6D16-EC1F3AD62A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7458" y="32490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613DC34-AC4F-0221-E8CB-38C15D7AC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9858" y="340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6865FAA-8334-0F15-051E-8DC605FCC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23658" y="34776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E22219D-5355-43BA-804A-7718540F66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9858" y="313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4C0E67B4-A4FA-9260-F0C2-94C1C21331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893" y="3673379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67A6261C-40DD-C7D6-D8F5-A02CD82C722C}"/>
              </a:ext>
            </a:extLst>
          </p:cNvPr>
          <p:cNvGrpSpPr/>
          <p:nvPr/>
        </p:nvGrpSpPr>
        <p:grpSpPr>
          <a:xfrm>
            <a:off x="9017686" y="3190924"/>
            <a:ext cx="706200" cy="721979"/>
            <a:chOff x="5023658" y="3131400"/>
            <a:chExt cx="706200" cy="721979"/>
          </a:xfrm>
          <a:solidFill>
            <a:schemeClr val="tx1"/>
          </a:solidFill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597B4003-2FD0-C44B-D061-66E397D6A1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7458" y="32490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55EA344-D6E5-0D05-C710-08FBEF37DF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69858" y="340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9852288C-EEF4-D699-8306-9CF9CC115A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23658" y="34776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3FFD772-AB26-B903-AE2F-904AD568E6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49858" y="3131400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1BF19ACB-B796-123E-A1C8-154ACE955F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70893" y="3673379"/>
              <a:ext cx="180000" cy="180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151" name="Oval 150">
            <a:extLst>
              <a:ext uri="{FF2B5EF4-FFF2-40B4-BE49-F238E27FC236}">
                <a16:creationId xmlns:a16="http://schemas.microsoft.com/office/drawing/2014/main" id="{89EA5D3D-F70E-969F-2F43-18E39A36DF8F}"/>
              </a:ext>
            </a:extLst>
          </p:cNvPr>
          <p:cNvSpPr>
            <a:spLocks noChangeAspect="1"/>
          </p:cNvSpPr>
          <p:nvPr/>
        </p:nvSpPr>
        <p:spPr>
          <a:xfrm>
            <a:off x="7464928" y="3113404"/>
            <a:ext cx="180000" cy="180000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BBA1F7A4-F384-04BF-474E-417A1633D415}"/>
              </a:ext>
            </a:extLst>
          </p:cNvPr>
          <p:cNvSpPr>
            <a:spLocks noChangeAspect="1"/>
          </p:cNvSpPr>
          <p:nvPr/>
        </p:nvSpPr>
        <p:spPr>
          <a:xfrm>
            <a:off x="7803741" y="3331923"/>
            <a:ext cx="180000" cy="180000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7BAF5EB0-FC0E-3FB5-D252-67CCE2557A2A}"/>
              </a:ext>
            </a:extLst>
          </p:cNvPr>
          <p:cNvSpPr>
            <a:spLocks noChangeAspect="1"/>
          </p:cNvSpPr>
          <p:nvPr/>
        </p:nvSpPr>
        <p:spPr>
          <a:xfrm>
            <a:off x="8098393" y="3570198"/>
            <a:ext cx="180000" cy="180000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F1B79F3B-FA66-9D27-C3E9-315AF1DAF023}"/>
              </a:ext>
            </a:extLst>
          </p:cNvPr>
          <p:cNvSpPr>
            <a:spLocks noChangeAspect="1"/>
          </p:cNvSpPr>
          <p:nvPr/>
        </p:nvSpPr>
        <p:spPr>
          <a:xfrm>
            <a:off x="8098393" y="3866877"/>
            <a:ext cx="180000" cy="180000"/>
          </a:xfrm>
          <a:prstGeom prst="ellipse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E23E803D-5753-3638-68AA-B3725788BBEE}"/>
              </a:ext>
            </a:extLst>
          </p:cNvPr>
          <p:cNvSpPr>
            <a:spLocks noChangeAspect="1"/>
          </p:cNvSpPr>
          <p:nvPr/>
        </p:nvSpPr>
        <p:spPr>
          <a:xfrm>
            <a:off x="8264619" y="4113795"/>
            <a:ext cx="180000" cy="180000"/>
          </a:xfrm>
          <a:prstGeom prst="ellipse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FBA0171-0B30-C611-04C8-139E2290504E}"/>
              </a:ext>
            </a:extLst>
          </p:cNvPr>
          <p:cNvSpPr>
            <a:spLocks noChangeAspect="1"/>
          </p:cNvSpPr>
          <p:nvPr/>
        </p:nvSpPr>
        <p:spPr>
          <a:xfrm>
            <a:off x="8570115" y="4263717"/>
            <a:ext cx="180000" cy="180000"/>
          </a:xfrm>
          <a:prstGeom prst="ellipse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3D4F0997-9750-99E0-05A7-ED7D4F357085}"/>
              </a:ext>
            </a:extLst>
          </p:cNvPr>
          <p:cNvSpPr>
            <a:spLocks noChangeAspect="1"/>
          </p:cNvSpPr>
          <p:nvPr/>
        </p:nvSpPr>
        <p:spPr>
          <a:xfrm>
            <a:off x="8870121" y="4293795"/>
            <a:ext cx="180000" cy="180000"/>
          </a:xfrm>
          <a:prstGeom prst="ellipse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4361863-D0A8-4360-AA70-2806663685D4}"/>
              </a:ext>
            </a:extLst>
          </p:cNvPr>
          <p:cNvSpPr>
            <a:spLocks noChangeAspect="1"/>
          </p:cNvSpPr>
          <p:nvPr/>
        </p:nvSpPr>
        <p:spPr>
          <a:xfrm>
            <a:off x="9177846" y="4212469"/>
            <a:ext cx="180000" cy="180000"/>
          </a:xfrm>
          <a:prstGeom prst="ellipse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E2EFDC50-1B40-FBDA-0C52-4529E5B42568}"/>
              </a:ext>
            </a:extLst>
          </p:cNvPr>
          <p:cNvSpPr>
            <a:spLocks noChangeAspect="1"/>
          </p:cNvSpPr>
          <p:nvPr/>
        </p:nvSpPr>
        <p:spPr>
          <a:xfrm>
            <a:off x="9403887" y="4077265"/>
            <a:ext cx="180000" cy="180000"/>
          </a:xfrm>
          <a:prstGeom prst="ellipse">
            <a:avLst/>
          </a:prstGeom>
          <a:solidFill>
            <a:schemeClr val="accent1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accent1"/>
              </a:solidFill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39E3A35-BF27-D04D-1B07-47DAF58C6AD6}"/>
              </a:ext>
            </a:extLst>
          </p:cNvPr>
          <p:cNvSpPr>
            <a:spLocks noChangeAspect="1"/>
          </p:cNvSpPr>
          <p:nvPr/>
        </p:nvSpPr>
        <p:spPr>
          <a:xfrm>
            <a:off x="9855741" y="4108035"/>
            <a:ext cx="180000" cy="18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DA9C9691-D9BD-9567-8658-24B0AA4F8EA7}"/>
              </a:ext>
            </a:extLst>
          </p:cNvPr>
          <p:cNvSpPr>
            <a:spLocks noChangeAspect="1"/>
          </p:cNvSpPr>
          <p:nvPr/>
        </p:nvSpPr>
        <p:spPr>
          <a:xfrm>
            <a:off x="9206283" y="2879944"/>
            <a:ext cx="180000" cy="180000"/>
          </a:xfrm>
          <a:prstGeom prst="ellipse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69EAB69-2988-F82C-AC27-73200A60DB89}"/>
              </a:ext>
            </a:extLst>
          </p:cNvPr>
          <p:cNvSpPr>
            <a:spLocks noChangeAspect="1"/>
          </p:cNvSpPr>
          <p:nvPr/>
        </p:nvSpPr>
        <p:spPr>
          <a:xfrm>
            <a:off x="9296283" y="3108037"/>
            <a:ext cx="180000" cy="180000"/>
          </a:xfrm>
          <a:prstGeom prst="ellipse">
            <a:avLst/>
          </a:prstGeom>
          <a:solidFill>
            <a:schemeClr val="accent4">
              <a:alpha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F19CCD62-76B2-5FB2-BDF3-6EB28890CF49}"/>
              </a:ext>
            </a:extLst>
          </p:cNvPr>
          <p:cNvSpPr>
            <a:spLocks noChangeAspect="1"/>
          </p:cNvSpPr>
          <p:nvPr/>
        </p:nvSpPr>
        <p:spPr>
          <a:xfrm>
            <a:off x="9440128" y="3354955"/>
            <a:ext cx="180000" cy="180000"/>
          </a:xfrm>
          <a:prstGeom prst="ellipse">
            <a:avLst/>
          </a:prstGeom>
          <a:solidFill>
            <a:schemeClr val="accent4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B9B5E47D-D1DF-A287-50AE-030E79A19BCC}"/>
              </a:ext>
            </a:extLst>
          </p:cNvPr>
          <p:cNvSpPr>
            <a:spLocks noChangeAspect="1"/>
          </p:cNvSpPr>
          <p:nvPr/>
        </p:nvSpPr>
        <p:spPr>
          <a:xfrm>
            <a:off x="9583212" y="3560428"/>
            <a:ext cx="180000" cy="180000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622E9B8-89D4-7138-F7E3-0B03B6BEE139}"/>
              </a:ext>
            </a:extLst>
          </p:cNvPr>
          <p:cNvSpPr>
            <a:spLocks noChangeAspect="1"/>
          </p:cNvSpPr>
          <p:nvPr/>
        </p:nvSpPr>
        <p:spPr>
          <a:xfrm>
            <a:off x="9763212" y="3732765"/>
            <a:ext cx="180000" cy="180000"/>
          </a:xfrm>
          <a:prstGeom prst="ellipse">
            <a:avLst/>
          </a:prstGeom>
          <a:solidFill>
            <a:schemeClr val="accent4">
              <a:alpha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B62A3FD-05A3-4F05-65A3-E0C74C2B4A6A}"/>
              </a:ext>
            </a:extLst>
          </p:cNvPr>
          <p:cNvSpPr>
            <a:spLocks noChangeAspect="1"/>
          </p:cNvSpPr>
          <p:nvPr/>
        </p:nvSpPr>
        <p:spPr>
          <a:xfrm>
            <a:off x="9941404" y="3897265"/>
            <a:ext cx="180000" cy="180000"/>
          </a:xfrm>
          <a:prstGeom prst="ellipse">
            <a:avLst/>
          </a:prstGeom>
          <a:solidFill>
            <a:schemeClr val="accent4"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7724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>
            <a:extLst>
              <a:ext uri="{FF2B5EF4-FFF2-40B4-BE49-F238E27FC236}">
                <a16:creationId xmlns:a16="http://schemas.microsoft.com/office/drawing/2014/main" id="{4A9660DF-73DF-44C9-A83E-27589B0C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From static genetic risk to dynamic patient representations</a:t>
            </a:r>
          </a:p>
        </p:txBody>
      </p:sp>
      <p:sp>
        <p:nvSpPr>
          <p:cNvPr id="321" name="Google Shape;321;p39">
            <a:extLst>
              <a:ext uri="{FF2B5EF4-FFF2-40B4-BE49-F238E27FC236}">
                <a16:creationId xmlns:a16="http://schemas.microsoft.com/office/drawing/2014/main" id="{6313ED44-6CB8-4EB9-ACF3-918D86E6AB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8</a:t>
            </a:fld>
            <a:endParaRPr/>
          </a:p>
        </p:txBody>
      </p:sp>
      <p:pic>
        <p:nvPicPr>
          <p:cNvPr id="327" name="Google Shape;322;p39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075" y="2037125"/>
            <a:ext cx="8382000" cy="3219450"/>
          </a:xfrm>
          <a:prstGeom prst="rect">
            <a:avLst/>
          </a:prstGeom>
          <a:ln>
            <a:noFill/>
          </a:ln>
        </p:spPr>
      </p:pic>
      <p:sp>
        <p:nvSpPr>
          <p:cNvPr id="323" name="Google Shape;323;p39">
            <a:extLst>
              <a:ext uri="{FF2B5EF4-FFF2-40B4-BE49-F238E27FC236}">
                <a16:creationId xmlns:a16="http://schemas.microsoft.com/office/drawing/2014/main" id="{B15DD324-048A-4CCD-B4AA-6725DF984621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1: Longitudinal Electronic Health Record (EHR) data</a:t>
            </a:r>
          </a:p>
        </p:txBody>
      </p:sp>
    </p:spTree>
    <p:extLst>
      <p:ext uri="{BB962C8B-B14F-4D97-AF65-F5344CB8AC3E}">
        <p14:creationId xmlns:p14="http://schemas.microsoft.com/office/powerpoint/2010/main" val="163917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0">
            <a:extLst>
              <a:ext uri="{FF2B5EF4-FFF2-40B4-BE49-F238E27FC236}">
                <a16:creationId xmlns:a16="http://schemas.microsoft.com/office/drawing/2014/main" id="{1EFDA120-5CDE-41BC-B547-F9499484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Discussion: what does an EHR represent?</a:t>
            </a:r>
          </a:p>
        </p:txBody>
      </p:sp>
      <p:sp>
        <p:nvSpPr>
          <p:cNvPr id="331" name="Google Shape;331;p40">
            <a:extLst>
              <a:ext uri="{FF2B5EF4-FFF2-40B4-BE49-F238E27FC236}">
                <a16:creationId xmlns:a16="http://schemas.microsoft.com/office/drawing/2014/main" id="{E61307A5-D694-4EA4-8976-568299575A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9</a:t>
            </a:fld>
            <a:endParaRPr/>
          </a:p>
        </p:txBody>
      </p:sp>
      <p:sp>
        <p:nvSpPr>
          <p:cNvPr id="332" name="Google Shape;332;p40">
            <a:extLst>
              <a:ext uri="{FF2B5EF4-FFF2-40B4-BE49-F238E27FC236}">
                <a16:creationId xmlns:a16="http://schemas.microsoft.com/office/drawing/2014/main" id="{3D174C17-2134-48AE-8C18-D7803B949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da-DK" dirty="0"/>
              <a:t>Q</a:t>
            </a:r>
            <a:r>
              <a:rPr dirty="0"/>
              <a:t>1. What can longitudinal EHR data capture that germline genetics cannot—and vice versa?
</a:t>
            </a:r>
            <a:r>
              <a:rPr lang="da-DK" dirty="0"/>
              <a:t>Q</a:t>
            </a:r>
            <a:r>
              <a:rPr dirty="0"/>
              <a:t>2. Which patterns reflect patient biology, and which reflect how care is delivered?
</a:t>
            </a:r>
            <a:r>
              <a:rPr lang="da-DK" dirty="0"/>
              <a:t>Q</a:t>
            </a:r>
            <a:r>
              <a:rPr dirty="0"/>
              <a:t>3. When is missingness informative, and when does it create bias?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Q</a:t>
            </a:r>
            <a:r>
              <a:rPr dirty="0"/>
              <a:t>4. What would make a patient representation generalize across hospitals and populations?</a:t>
            </a:r>
          </a:p>
        </p:txBody>
      </p:sp>
    </p:spTree>
    <p:extLst>
      <p:ext uri="{BB962C8B-B14F-4D97-AF65-F5344CB8AC3E}">
        <p14:creationId xmlns:p14="http://schemas.microsoft.com/office/powerpoint/2010/main" val="191571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>
            <a:extLst>
              <a:ext uri="{FF2B5EF4-FFF2-40B4-BE49-F238E27FC236}">
                <a16:creationId xmlns:a16="http://schemas.microsoft.com/office/drawing/2014/main" id="{D471B71D-FA8C-4108-A0F8-F4522E7D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997150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chemeClr val="accent4"/>
                </a:solidFill>
              </a:rPr>
              <a:t>Part 2</a:t>
            </a:r>
            <a:r>
              <a:rPr lang="da-DK" b="1" dirty="0">
                <a:solidFill>
                  <a:schemeClr val="accent4"/>
                </a:solidFill>
              </a:rPr>
              <a:t>: Transformer models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339" name="Google Shape;339;p41">
            <a:extLst>
              <a:ext uri="{FF2B5EF4-FFF2-40B4-BE49-F238E27FC236}">
                <a16:creationId xmlns:a16="http://schemas.microsoft.com/office/drawing/2014/main" id="{AD72C647-47C1-4AC1-BFF8-9A084DFB5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3759300"/>
            <a:ext cx="11012400" cy="232483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What is representation learning?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What is a transformer?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Why does attention suit sequential data?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How do tokens and embeddings turn biology into model inputs?</a:t>
            </a:r>
          </a:p>
        </p:txBody>
      </p:sp>
      <p:sp>
        <p:nvSpPr>
          <p:cNvPr id="340" name="Google Shape;340;p41">
            <a:extLst>
              <a:ext uri="{FF2B5EF4-FFF2-40B4-BE49-F238E27FC236}">
                <a16:creationId xmlns:a16="http://schemas.microsoft.com/office/drawing/2014/main" id="{09EBC817-68EE-43AC-952D-5309A37BF1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10</a:t>
            </a:fld>
            <a:endParaRPr/>
          </a:p>
        </p:txBody>
      </p:sp>
      <p:sp>
        <p:nvSpPr>
          <p:cNvPr id="341" name="Google Shape;341;p41">
            <a:extLst>
              <a:ext uri="{FF2B5EF4-FFF2-40B4-BE49-F238E27FC236}">
                <a16:creationId xmlns:a16="http://schemas.microsoft.com/office/drawing/2014/main" id="{C9DC7628-EEB8-4E34-B727-6703F0057120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11932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215DCC5-D318-863C-986C-52B920847E2C}"/>
              </a:ext>
            </a:extLst>
          </p:cNvPr>
          <p:cNvSpPr>
            <a:spLocks noGrp="1"/>
          </p:cNvSpPr>
          <p:nvPr/>
        </p:nvSpPr>
        <p:spPr>
          <a:xfrm>
            <a:off x="3360084" y="2130555"/>
            <a:ext cx="2036679" cy="35108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30DC8-57ED-B49A-983D-524984988435}"/>
              </a:ext>
            </a:extLst>
          </p:cNvPr>
          <p:cNvSpPr>
            <a:spLocks noGrp="1"/>
          </p:cNvSpPr>
          <p:nvPr/>
        </p:nvSpPr>
        <p:spPr>
          <a:xfrm>
            <a:off x="3918173" y="5733809"/>
            <a:ext cx="945369" cy="287038"/>
          </a:xfrm>
          <a:prstGeom prst="rect">
            <a:avLst/>
          </a:prstGeom>
        </p:spPr>
        <p:txBody>
          <a:bodyPr vert="horz" wrap="none" lIns="0" tIns="0" rIns="0" bIns="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prstClr val="black"/>
                </a:solidFill>
                <a:latin typeface="Microsoft New Tai Lue"/>
                <a:ea typeface="Microsoft New Tai Lue"/>
                <a:cs typeface="Microsoft New Tai Lue"/>
              </a:rPr>
              <a:t>Decoder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227C20-5840-2D1E-B839-8084C79903A5}"/>
              </a:ext>
            </a:extLst>
          </p:cNvPr>
          <p:cNvSpPr>
            <a:spLocks noGrp="1"/>
          </p:cNvSpPr>
          <p:nvPr/>
        </p:nvSpPr>
        <p:spPr>
          <a:xfrm>
            <a:off x="216976" y="2130555"/>
            <a:ext cx="2036679" cy="351082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58431-2A0B-047F-71B2-75E2C9A5D73B}"/>
              </a:ext>
            </a:extLst>
          </p:cNvPr>
          <p:cNvSpPr>
            <a:spLocks noGrp="1"/>
          </p:cNvSpPr>
          <p:nvPr/>
        </p:nvSpPr>
        <p:spPr>
          <a:xfrm>
            <a:off x="715924" y="5736034"/>
            <a:ext cx="945369" cy="287038"/>
          </a:xfrm>
          <a:prstGeom prst="rect">
            <a:avLst/>
          </a:prstGeom>
        </p:spPr>
        <p:txBody>
          <a:bodyPr vert="horz" wrap="none" lIns="0" tIns="0" rIns="0" bIns="0">
            <a:no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prstClr val="black"/>
                </a:solidFill>
                <a:latin typeface="Microsoft New Tai Lue"/>
                <a:ea typeface="Microsoft New Tai Lue"/>
                <a:cs typeface="Microsoft New Tai Lue"/>
              </a:rPr>
              <a:t>Encoder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F69F9-51EF-E224-D95B-AEDDDC4F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Autoencoders learn compressed representations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1687E-0FA7-2F39-D73D-01728810E7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3C829339-1C74-4825-ADEB-BCD7E13EFC81}" type="datetime1">
              <a:rPr sz="1000" b="0" i="0" u="none" cap="none" spc="0">
                <a:ln>
                  <a:noFill/>
                </a:ln>
                <a:solidFill>
                  <a:srgbClr val="333333"/>
                </a:solidFill>
                <a:latin typeface="Microsoft New Tai Lue"/>
                <a:ea typeface="Microsoft New Tai Lue"/>
                <a:cs typeface="Microsoft New Tai Lue"/>
              </a:rPr>
              <a:t>25/08/2026</a:t>
            </a:fld>
            <a:endParaRPr sz="1000" b="0" i="0" u="none" kern="1200" cap="none" spc="0" baseline="0">
              <a:ln>
                <a:noFill/>
              </a:ln>
              <a:solidFill>
                <a:srgbClr val="333333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F18CD-09EB-C5DA-8D75-2DADCCC5B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91A926C-488A-4E3E-9C21-57CAA120E114}" type="slidenum">
              <a:rPr sz="1000" b="0" i="0" u="none" cap="none" spc="0">
                <a:ln>
                  <a:noFill/>
                </a:ln>
                <a:solidFill>
                  <a:srgbClr val="333333"/>
                </a:solidFill>
                <a:latin typeface="Microsoft New Tai Lue"/>
                <a:ea typeface="Microsoft New Tai Lue"/>
                <a:cs typeface="Microsoft New Tai Lue"/>
              </a:rPr>
              <a:t>11</a:t>
            </a:fld>
            <a:endParaRPr sz="1000" b="0" i="0" u="none" kern="1200" cap="none" spc="0" baseline="0">
              <a:ln>
                <a:noFill/>
              </a:ln>
              <a:solidFill>
                <a:srgbClr val="333333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sp>
        <p:nvSpPr>
          <p:cNvPr id="44" name="Circle">
            <a:extLst>
              <a:ext uri="{FF2B5EF4-FFF2-40B4-BE49-F238E27FC236}">
                <a16:creationId xmlns:a16="http://schemas.microsoft.com/office/drawing/2014/main" id="{0DDF6AA8-78FE-4A1A-EEF2-0048ED47237B}"/>
              </a:ext>
            </a:extLst>
          </p:cNvPr>
          <p:cNvSpPr>
            <a:spLocks noGrp="1"/>
          </p:cNvSpPr>
          <p:nvPr/>
        </p:nvSpPr>
        <p:spPr>
          <a:xfrm rot="10800000">
            <a:off x="3592819" y="3764503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3CEFE05D-35D6-6C89-5929-C7C9F77D6734}"/>
              </a:ext>
            </a:extLst>
          </p:cNvPr>
          <p:cNvSpPr>
            <a:spLocks noGrp="1"/>
          </p:cNvSpPr>
          <p:nvPr/>
        </p:nvSpPr>
        <p:spPr>
          <a:xfrm rot="10800000">
            <a:off x="3592819" y="3404733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CB3A850B-ED88-D742-595E-34112A33C17B}"/>
              </a:ext>
            </a:extLst>
          </p:cNvPr>
          <p:cNvSpPr>
            <a:spLocks noGrp="1"/>
          </p:cNvSpPr>
          <p:nvPr/>
        </p:nvSpPr>
        <p:spPr>
          <a:xfrm rot="10800000">
            <a:off x="3592959" y="4484040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7" name="Circle">
            <a:extLst>
              <a:ext uri="{FF2B5EF4-FFF2-40B4-BE49-F238E27FC236}">
                <a16:creationId xmlns:a16="http://schemas.microsoft.com/office/drawing/2014/main" id="{E6524E1E-7E1B-DCE7-6663-2C2F00A1C4A6}"/>
              </a:ext>
            </a:extLst>
          </p:cNvPr>
          <p:cNvSpPr>
            <a:spLocks noGrp="1"/>
          </p:cNvSpPr>
          <p:nvPr/>
        </p:nvSpPr>
        <p:spPr>
          <a:xfrm rot="10800000">
            <a:off x="3592959" y="4124272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8" name="Rounded Rectangle">
            <a:extLst>
              <a:ext uri="{FF2B5EF4-FFF2-40B4-BE49-F238E27FC236}">
                <a16:creationId xmlns:a16="http://schemas.microsoft.com/office/drawing/2014/main" id="{1490D2F8-6623-9999-F2D2-40C67C86606B}"/>
              </a:ext>
            </a:extLst>
          </p:cNvPr>
          <p:cNvSpPr>
            <a:spLocks noGrp="1"/>
          </p:cNvSpPr>
          <p:nvPr/>
        </p:nvSpPr>
        <p:spPr>
          <a:xfrm>
            <a:off x="3511767" y="3258674"/>
            <a:ext cx="344340" cy="1554189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A495117B-077D-D90D-7B6C-2CD2E8B47E14}"/>
              </a:ext>
            </a:extLst>
          </p:cNvPr>
          <p:cNvSpPr>
            <a:spLocks noGrp="1"/>
          </p:cNvSpPr>
          <p:nvPr/>
        </p:nvSpPr>
        <p:spPr>
          <a:xfrm>
            <a:off x="1309088" y="4035768"/>
            <a:ext cx="36435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41" name="Circle">
            <a:extLst>
              <a:ext uri="{FF2B5EF4-FFF2-40B4-BE49-F238E27FC236}">
                <a16:creationId xmlns:a16="http://schemas.microsoft.com/office/drawing/2014/main" id="{C073E7B5-8235-A8E2-FFDE-FAA5236981C7}"/>
              </a:ext>
            </a:extLst>
          </p:cNvPr>
          <p:cNvSpPr>
            <a:spLocks noGrp="1"/>
          </p:cNvSpPr>
          <p:nvPr/>
        </p:nvSpPr>
        <p:spPr>
          <a:xfrm rot="10800000">
            <a:off x="2711012" y="3764503"/>
            <a:ext cx="182236" cy="182761"/>
          </a:xfrm>
          <a:prstGeom prst="ellipse">
            <a:avLst/>
          </a:prstGeom>
          <a:solidFill>
            <a:schemeClr val="accent5">
              <a:lumOff val="-29866"/>
            </a:schemeClr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2" name="Circle">
            <a:extLst>
              <a:ext uri="{FF2B5EF4-FFF2-40B4-BE49-F238E27FC236}">
                <a16:creationId xmlns:a16="http://schemas.microsoft.com/office/drawing/2014/main" id="{D0B9F682-8CF7-C32C-35EB-9E9EBF20C086}"/>
              </a:ext>
            </a:extLst>
          </p:cNvPr>
          <p:cNvSpPr>
            <a:spLocks noGrp="1"/>
          </p:cNvSpPr>
          <p:nvPr/>
        </p:nvSpPr>
        <p:spPr>
          <a:xfrm rot="10800000">
            <a:off x="2711152" y="4124272"/>
            <a:ext cx="182237" cy="182761"/>
          </a:xfrm>
          <a:prstGeom prst="ellipse">
            <a:avLst/>
          </a:prstGeom>
          <a:solidFill>
            <a:schemeClr val="accent5">
              <a:lumOff val="-29866"/>
            </a:schemeClr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3" name="Rounded Rectangle">
            <a:extLst>
              <a:ext uri="{FF2B5EF4-FFF2-40B4-BE49-F238E27FC236}">
                <a16:creationId xmlns:a16="http://schemas.microsoft.com/office/drawing/2014/main" id="{4B6B4ED1-5043-0BCF-65B6-2F65F232EEE2}"/>
              </a:ext>
            </a:extLst>
          </p:cNvPr>
          <p:cNvSpPr>
            <a:spLocks noGrp="1"/>
          </p:cNvSpPr>
          <p:nvPr/>
        </p:nvSpPr>
        <p:spPr>
          <a:xfrm>
            <a:off x="2632733" y="3665724"/>
            <a:ext cx="344340" cy="74009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00"/>
            </a:solidFill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33" name="Rounded Rectangle">
            <a:extLst>
              <a:ext uri="{FF2B5EF4-FFF2-40B4-BE49-F238E27FC236}">
                <a16:creationId xmlns:a16="http://schemas.microsoft.com/office/drawing/2014/main" id="{86D34CEA-0404-9ACD-B70A-F0C9C8CE2CD4}"/>
              </a:ext>
            </a:extLst>
          </p:cNvPr>
          <p:cNvSpPr>
            <a:spLocks noGrp="1"/>
          </p:cNvSpPr>
          <p:nvPr/>
        </p:nvSpPr>
        <p:spPr>
          <a:xfrm>
            <a:off x="859319" y="2743058"/>
            <a:ext cx="344200" cy="2585420"/>
          </a:xfrm>
          <a:prstGeom prst="roundRect">
            <a:avLst>
              <a:gd name="adj" fmla="val 49485"/>
            </a:avLst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96B4F350-A608-00A1-E81A-6C871D82D8DE}"/>
              </a:ext>
            </a:extLst>
          </p:cNvPr>
          <p:cNvSpPr>
            <a:spLocks noGrp="1"/>
          </p:cNvSpPr>
          <p:nvPr/>
        </p:nvSpPr>
        <p:spPr>
          <a:xfrm rot="10800000">
            <a:off x="940300" y="3584618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5" name="Circle">
            <a:extLst>
              <a:ext uri="{FF2B5EF4-FFF2-40B4-BE49-F238E27FC236}">
                <a16:creationId xmlns:a16="http://schemas.microsoft.com/office/drawing/2014/main" id="{D6CF45CC-3368-0090-2940-A16FF9F212A7}"/>
              </a:ext>
            </a:extLst>
          </p:cNvPr>
          <p:cNvSpPr>
            <a:spLocks noGrp="1"/>
          </p:cNvSpPr>
          <p:nvPr/>
        </p:nvSpPr>
        <p:spPr>
          <a:xfrm rot="10800000">
            <a:off x="940300" y="3224997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6" name="Circle">
            <a:extLst>
              <a:ext uri="{FF2B5EF4-FFF2-40B4-BE49-F238E27FC236}">
                <a16:creationId xmlns:a16="http://schemas.microsoft.com/office/drawing/2014/main" id="{0DA9B14A-34B9-B99D-033A-BF286B69609D}"/>
              </a:ext>
            </a:extLst>
          </p:cNvPr>
          <p:cNvSpPr>
            <a:spLocks noGrp="1"/>
          </p:cNvSpPr>
          <p:nvPr/>
        </p:nvSpPr>
        <p:spPr>
          <a:xfrm rot="10800000">
            <a:off x="940582" y="2865375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D6CADEDF-4D4E-CF5D-207C-D41C03B895BF}"/>
              </a:ext>
            </a:extLst>
          </p:cNvPr>
          <p:cNvSpPr>
            <a:spLocks noGrp="1"/>
          </p:cNvSpPr>
          <p:nvPr/>
        </p:nvSpPr>
        <p:spPr>
          <a:xfrm rot="10800000">
            <a:off x="940159" y="5023399"/>
            <a:ext cx="182236" cy="182762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2CB65B6C-ABBE-3F0F-0469-9B5B9459A4B2}"/>
              </a:ext>
            </a:extLst>
          </p:cNvPr>
          <p:cNvSpPr>
            <a:spLocks noGrp="1"/>
          </p:cNvSpPr>
          <p:nvPr/>
        </p:nvSpPr>
        <p:spPr>
          <a:xfrm rot="10800000">
            <a:off x="940159" y="4663630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D0363CDF-3244-4089-F210-A79E04336D31}"/>
              </a:ext>
            </a:extLst>
          </p:cNvPr>
          <p:cNvSpPr>
            <a:spLocks noGrp="1"/>
          </p:cNvSpPr>
          <p:nvPr/>
        </p:nvSpPr>
        <p:spPr>
          <a:xfrm rot="10800000">
            <a:off x="940441" y="4304038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B3E33EA6-3368-C990-BAA4-F5FD66691432}"/>
              </a:ext>
            </a:extLst>
          </p:cNvPr>
          <p:cNvSpPr>
            <a:spLocks noGrp="1"/>
          </p:cNvSpPr>
          <p:nvPr/>
        </p:nvSpPr>
        <p:spPr>
          <a:xfrm rot="10800000">
            <a:off x="940441" y="3944387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5" name="Rounded Rectangle">
            <a:extLst>
              <a:ext uri="{FF2B5EF4-FFF2-40B4-BE49-F238E27FC236}">
                <a16:creationId xmlns:a16="http://schemas.microsoft.com/office/drawing/2014/main" id="{36E557FF-C203-559A-30B0-6ABE228B4E33}"/>
              </a:ext>
            </a:extLst>
          </p:cNvPr>
          <p:cNvSpPr>
            <a:spLocks noGrp="1"/>
          </p:cNvSpPr>
          <p:nvPr/>
        </p:nvSpPr>
        <p:spPr>
          <a:xfrm>
            <a:off x="4390801" y="2743058"/>
            <a:ext cx="344200" cy="2585420"/>
          </a:xfrm>
          <a:prstGeom prst="roundRect">
            <a:avLst>
              <a:gd name="adj" fmla="val 49485"/>
            </a:avLst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26" name="Circle">
            <a:extLst>
              <a:ext uri="{FF2B5EF4-FFF2-40B4-BE49-F238E27FC236}">
                <a16:creationId xmlns:a16="http://schemas.microsoft.com/office/drawing/2014/main" id="{DE15A5F3-4207-47BD-99DA-E56DA8DD4D63}"/>
              </a:ext>
            </a:extLst>
          </p:cNvPr>
          <p:cNvSpPr>
            <a:spLocks noGrp="1"/>
          </p:cNvSpPr>
          <p:nvPr/>
        </p:nvSpPr>
        <p:spPr>
          <a:xfrm rot="10800000">
            <a:off x="4471782" y="3584618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70EBDD89-8217-718F-3B98-47F4E95B879E}"/>
              </a:ext>
            </a:extLst>
          </p:cNvPr>
          <p:cNvSpPr>
            <a:spLocks noGrp="1"/>
          </p:cNvSpPr>
          <p:nvPr/>
        </p:nvSpPr>
        <p:spPr>
          <a:xfrm rot="10800000">
            <a:off x="4471782" y="3224997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1A340BCB-B685-6FEC-6880-2FB45DC83DB3}"/>
              </a:ext>
            </a:extLst>
          </p:cNvPr>
          <p:cNvSpPr>
            <a:spLocks noGrp="1"/>
          </p:cNvSpPr>
          <p:nvPr/>
        </p:nvSpPr>
        <p:spPr>
          <a:xfrm rot="10800000">
            <a:off x="4472064" y="2865375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29065074-6CC7-3CD0-E412-B976DC1CDA08}"/>
              </a:ext>
            </a:extLst>
          </p:cNvPr>
          <p:cNvSpPr>
            <a:spLocks noGrp="1"/>
          </p:cNvSpPr>
          <p:nvPr/>
        </p:nvSpPr>
        <p:spPr>
          <a:xfrm rot="10800000">
            <a:off x="4471641" y="5023399"/>
            <a:ext cx="182236" cy="182762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0" name="Circle">
            <a:extLst>
              <a:ext uri="{FF2B5EF4-FFF2-40B4-BE49-F238E27FC236}">
                <a16:creationId xmlns:a16="http://schemas.microsoft.com/office/drawing/2014/main" id="{F5285DDD-079F-8919-12EE-5A2D4CB08BE0}"/>
              </a:ext>
            </a:extLst>
          </p:cNvPr>
          <p:cNvSpPr>
            <a:spLocks noGrp="1"/>
          </p:cNvSpPr>
          <p:nvPr/>
        </p:nvSpPr>
        <p:spPr>
          <a:xfrm rot="10800000">
            <a:off x="4471641" y="4663630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96B06E5C-12B9-ED96-6C5E-BADEBCA3517E}"/>
              </a:ext>
            </a:extLst>
          </p:cNvPr>
          <p:cNvSpPr>
            <a:spLocks noGrp="1"/>
          </p:cNvSpPr>
          <p:nvPr/>
        </p:nvSpPr>
        <p:spPr>
          <a:xfrm rot="10800000">
            <a:off x="4471923" y="4304038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32" name="Circle">
            <a:extLst>
              <a:ext uri="{FF2B5EF4-FFF2-40B4-BE49-F238E27FC236}">
                <a16:creationId xmlns:a16="http://schemas.microsoft.com/office/drawing/2014/main" id="{7D453947-F9B9-82C4-3DFE-BD927186435E}"/>
              </a:ext>
            </a:extLst>
          </p:cNvPr>
          <p:cNvSpPr>
            <a:spLocks noGrp="1"/>
          </p:cNvSpPr>
          <p:nvPr/>
        </p:nvSpPr>
        <p:spPr>
          <a:xfrm rot="10800000">
            <a:off x="4471923" y="3944387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C363BED1-1B12-C96B-13A9-D78E1599674C}"/>
              </a:ext>
            </a:extLst>
          </p:cNvPr>
          <p:cNvSpPr>
            <a:spLocks noGrp="1"/>
          </p:cNvSpPr>
          <p:nvPr/>
        </p:nvSpPr>
        <p:spPr>
          <a:xfrm>
            <a:off x="2203607" y="4035768"/>
            <a:ext cx="3670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92DE7926-EA1E-F1CE-95DD-A7408044DFF6}"/>
              </a:ext>
            </a:extLst>
          </p:cNvPr>
          <p:cNvSpPr>
            <a:spLocks noGrp="1"/>
          </p:cNvSpPr>
          <p:nvPr/>
        </p:nvSpPr>
        <p:spPr>
          <a:xfrm rot="10800000">
            <a:off x="1843517" y="3764503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C9AEA04D-48C8-0D61-260A-B6B0F22927BF}"/>
              </a:ext>
            </a:extLst>
          </p:cNvPr>
          <p:cNvSpPr>
            <a:spLocks noGrp="1"/>
          </p:cNvSpPr>
          <p:nvPr/>
        </p:nvSpPr>
        <p:spPr>
          <a:xfrm rot="10800000">
            <a:off x="1843517" y="3404733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14B871EF-6D9A-C4F6-E19C-3A0B5BF184D9}"/>
              </a:ext>
            </a:extLst>
          </p:cNvPr>
          <p:cNvSpPr>
            <a:spLocks noGrp="1"/>
          </p:cNvSpPr>
          <p:nvPr/>
        </p:nvSpPr>
        <p:spPr>
          <a:xfrm rot="10800000">
            <a:off x="1843658" y="4484040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4B1959A8-3B90-AB08-2FEA-C5A6C7DBF9AD}"/>
              </a:ext>
            </a:extLst>
          </p:cNvPr>
          <p:cNvSpPr>
            <a:spLocks noGrp="1"/>
          </p:cNvSpPr>
          <p:nvPr/>
        </p:nvSpPr>
        <p:spPr>
          <a:xfrm rot="10800000">
            <a:off x="1843658" y="4124272"/>
            <a:ext cx="182236" cy="182761"/>
          </a:xfrm>
          <a:prstGeom prst="ellipse">
            <a:avLst/>
          </a:prstGeom>
          <a:solidFill>
            <a:srgbClr val="51A7F9"/>
          </a:solidFill>
          <a:ln w="635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Light"/>
              <a:ea typeface="Helvetica Light"/>
              <a:cs typeface="Helvetica Light"/>
            </a:endParaRPr>
          </a:p>
        </p:txBody>
      </p:sp>
      <p:sp>
        <p:nvSpPr>
          <p:cNvPr id="24" name="Rounded Rectangle">
            <a:extLst>
              <a:ext uri="{FF2B5EF4-FFF2-40B4-BE49-F238E27FC236}">
                <a16:creationId xmlns:a16="http://schemas.microsoft.com/office/drawing/2014/main" id="{30E3BC34-0EBA-F21D-F08A-410104F9FD88}"/>
              </a:ext>
            </a:extLst>
          </p:cNvPr>
          <p:cNvSpPr>
            <a:spLocks noGrp="1"/>
          </p:cNvSpPr>
          <p:nvPr/>
        </p:nvSpPr>
        <p:spPr>
          <a:xfrm>
            <a:off x="1762465" y="3258674"/>
            <a:ext cx="344341" cy="1554189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0000"/>
            </a:solidFill>
            <a:prstDash val="soli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7ACDF544-EAB4-26F4-9F45-6E86382FCC56}"/>
              </a:ext>
            </a:extLst>
          </p:cNvPr>
          <p:cNvSpPr>
            <a:spLocks noGrp="1"/>
          </p:cNvSpPr>
          <p:nvPr/>
        </p:nvSpPr>
        <p:spPr>
          <a:xfrm>
            <a:off x="3060890" y="4035768"/>
            <a:ext cx="3670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25F761F-A81D-14B3-61F8-B8587B3806D5}"/>
              </a:ext>
            </a:extLst>
          </p:cNvPr>
          <p:cNvSpPr>
            <a:spLocks noGrp="1"/>
          </p:cNvSpPr>
          <p:nvPr/>
        </p:nvSpPr>
        <p:spPr>
          <a:xfrm>
            <a:off x="3918173" y="4035768"/>
            <a:ext cx="36706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 w="med" len="med"/>
          </a:ln>
        </p:spPr>
        <p:txBody>
          <a:bodyPr wrap="square" lIns="50800" tIns="50800" rIns="50800" bIns="50800" anchor="ctr">
            <a:noAutofit/>
          </a:bodyPr>
          <a:lstStyle/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sz="22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</a:endParaRPr>
          </a:p>
        </p:txBody>
      </p:sp>
      <p:sp>
        <p:nvSpPr>
          <p:cNvPr id="50" name="Type of neural network…">
            <a:extLst>
              <a:ext uri="{FF2B5EF4-FFF2-40B4-BE49-F238E27FC236}">
                <a16:creationId xmlns:a16="http://schemas.microsoft.com/office/drawing/2014/main" id="{25BD7987-93C1-7816-47B5-7FC11D29C5DA}"/>
              </a:ext>
            </a:extLst>
          </p:cNvPr>
          <p:cNvSpPr>
            <a:spLocks noGrp="1"/>
          </p:cNvSpPr>
          <p:nvPr/>
        </p:nvSpPr>
        <p:spPr>
          <a:xfrm>
            <a:off x="6182108" y="1239568"/>
            <a:ext cx="5614426" cy="5180542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marL="361950" indent="-361950" algn="l" defTabSz="9144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400" kern="1200" spc="6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19138" marR="0" indent="-358775" algn="l" defTabSz="9144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defRPr sz="2000" kern="1200" spc="6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73150" indent="-354013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19138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9138" indent="354013" algn="l" defTabSz="9144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kern="1200" spc="6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19138" indent="354013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719138" indent="354013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19138" indent="354013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719138" indent="354013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426719" indent="-426719" defTabSz="560831">
              <a:spcBef>
                <a:spcPts val="4000"/>
              </a:spcBef>
              <a:defRPr sz="3072"/>
            </a:pPr>
            <a:r>
              <a:rPr lang="en-GB" sz="3072" dirty="0"/>
              <a:t>Type of neural network</a:t>
            </a:r>
          </a:p>
          <a:p>
            <a:pPr marL="426719" indent="-426719" defTabSz="560831">
              <a:spcBef>
                <a:spcPts val="4000"/>
              </a:spcBef>
              <a:defRPr sz="3072"/>
            </a:pPr>
            <a:r>
              <a:rPr lang="en-GB" sz="3072" dirty="0"/>
              <a:t>Minimise difference between input and output (training)</a:t>
            </a:r>
          </a:p>
          <a:p>
            <a:pPr marL="426719" indent="-426719" defTabSz="560831">
              <a:spcBef>
                <a:spcPts val="4000"/>
              </a:spcBef>
              <a:defRPr sz="3072"/>
            </a:pPr>
            <a:r>
              <a:rPr lang="en-GB" sz="3072" dirty="0"/>
              <a:t>Force the network to learn a </a:t>
            </a:r>
            <a:r>
              <a:rPr lang="en-GB" sz="3072" b="1" dirty="0">
                <a:solidFill>
                  <a:schemeClr val="accent5">
                    <a:lumOff val="-29866"/>
                  </a:schemeClr>
                </a:solidFill>
              </a:rPr>
              <a:t>latent representation</a:t>
            </a:r>
          </a:p>
        </p:txBody>
      </p:sp>
      <p:sp>
        <p:nvSpPr>
          <p:cNvPr id="51" name="Latent">
            <a:extLst>
              <a:ext uri="{FF2B5EF4-FFF2-40B4-BE49-F238E27FC236}">
                <a16:creationId xmlns:a16="http://schemas.microsoft.com/office/drawing/2014/main" id="{9B73CF6F-4A45-5BC3-874A-815C2D6C747D}"/>
              </a:ext>
            </a:extLst>
          </p:cNvPr>
          <p:cNvSpPr>
            <a:spLocks noGrp="1"/>
          </p:cNvSpPr>
          <p:nvPr/>
        </p:nvSpPr>
        <p:spPr>
          <a:xfrm>
            <a:off x="2253655" y="2863475"/>
            <a:ext cx="947375" cy="47192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Latent</a:t>
            </a:r>
          </a:p>
        </p:txBody>
      </p:sp>
      <p:sp>
        <p:nvSpPr>
          <p:cNvPr id="52" name="Out">
            <a:extLst>
              <a:ext uri="{FF2B5EF4-FFF2-40B4-BE49-F238E27FC236}">
                <a16:creationId xmlns:a16="http://schemas.microsoft.com/office/drawing/2014/main" id="{0A8DD833-A77A-690E-0848-76760FDE12D4}"/>
              </a:ext>
            </a:extLst>
          </p:cNvPr>
          <p:cNvSpPr>
            <a:spLocks noGrp="1"/>
          </p:cNvSpPr>
          <p:nvPr/>
        </p:nvSpPr>
        <p:spPr>
          <a:xfrm>
            <a:off x="4202049" y="2157841"/>
            <a:ext cx="613951" cy="47192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Out</a:t>
            </a:r>
          </a:p>
        </p:txBody>
      </p:sp>
      <p:sp>
        <p:nvSpPr>
          <p:cNvPr id="53" name="In">
            <a:extLst>
              <a:ext uri="{FF2B5EF4-FFF2-40B4-BE49-F238E27FC236}">
                <a16:creationId xmlns:a16="http://schemas.microsoft.com/office/drawing/2014/main" id="{9FB1F8C2-46B6-942F-1518-4214E2EC5071}"/>
              </a:ext>
            </a:extLst>
          </p:cNvPr>
          <p:cNvSpPr>
            <a:spLocks noGrp="1"/>
          </p:cNvSpPr>
          <p:nvPr/>
        </p:nvSpPr>
        <p:spPr>
          <a:xfrm>
            <a:off x="829536" y="2130555"/>
            <a:ext cx="359073" cy="471924"/>
          </a:xfrm>
          <a:prstGeom prst="rect">
            <a:avLst/>
          </a:prstGeom>
          <a:ln w="12700"/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In</a:t>
            </a:r>
          </a:p>
        </p:txBody>
      </p:sp>
      <p:sp>
        <p:nvSpPr>
          <p:cNvPr id="57" name="1">
            <a:extLst>
              <a:ext uri="{FF2B5EF4-FFF2-40B4-BE49-F238E27FC236}">
                <a16:creationId xmlns:a16="http://schemas.microsoft.com/office/drawing/2014/main" id="{114CB1A4-7F4B-1ED9-4495-709513CC1B2D}"/>
              </a:ext>
            </a:extLst>
          </p:cNvPr>
          <p:cNvSpPr>
            <a:spLocks noGrp="1"/>
          </p:cNvSpPr>
          <p:nvPr/>
        </p:nvSpPr>
        <p:spPr>
          <a:xfrm>
            <a:off x="446040" y="2743058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1</a:t>
            </a:r>
          </a:p>
        </p:txBody>
      </p:sp>
      <p:sp>
        <p:nvSpPr>
          <p:cNvPr id="58" name="5">
            <a:extLst>
              <a:ext uri="{FF2B5EF4-FFF2-40B4-BE49-F238E27FC236}">
                <a16:creationId xmlns:a16="http://schemas.microsoft.com/office/drawing/2014/main" id="{EC44A9EB-2A9D-12E6-0C8C-48F8648A817E}"/>
              </a:ext>
            </a:extLst>
          </p:cNvPr>
          <p:cNvSpPr>
            <a:spLocks noGrp="1"/>
          </p:cNvSpPr>
          <p:nvPr/>
        </p:nvSpPr>
        <p:spPr>
          <a:xfrm>
            <a:off x="446040" y="3116512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5</a:t>
            </a:r>
          </a:p>
        </p:txBody>
      </p:sp>
      <p:sp>
        <p:nvSpPr>
          <p:cNvPr id="59" name="3">
            <a:extLst>
              <a:ext uri="{FF2B5EF4-FFF2-40B4-BE49-F238E27FC236}">
                <a16:creationId xmlns:a16="http://schemas.microsoft.com/office/drawing/2014/main" id="{319EAC51-1997-3F44-2E14-18B7AC574154}"/>
              </a:ext>
            </a:extLst>
          </p:cNvPr>
          <p:cNvSpPr>
            <a:spLocks noGrp="1"/>
          </p:cNvSpPr>
          <p:nvPr/>
        </p:nvSpPr>
        <p:spPr>
          <a:xfrm>
            <a:off x="446040" y="3489967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3</a:t>
            </a:r>
          </a:p>
        </p:txBody>
      </p:sp>
      <p:sp>
        <p:nvSpPr>
          <p:cNvPr id="60" name="2">
            <a:extLst>
              <a:ext uri="{FF2B5EF4-FFF2-40B4-BE49-F238E27FC236}">
                <a16:creationId xmlns:a16="http://schemas.microsoft.com/office/drawing/2014/main" id="{2E51DF85-69F2-223D-4831-58F1059312EF}"/>
              </a:ext>
            </a:extLst>
          </p:cNvPr>
          <p:cNvSpPr>
            <a:spLocks noGrp="1"/>
          </p:cNvSpPr>
          <p:nvPr/>
        </p:nvSpPr>
        <p:spPr>
          <a:xfrm>
            <a:off x="446040" y="3849033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2</a:t>
            </a:r>
          </a:p>
        </p:txBody>
      </p:sp>
      <p:sp>
        <p:nvSpPr>
          <p:cNvPr id="61" name="1">
            <a:extLst>
              <a:ext uri="{FF2B5EF4-FFF2-40B4-BE49-F238E27FC236}">
                <a16:creationId xmlns:a16="http://schemas.microsoft.com/office/drawing/2014/main" id="{3AEDB56D-2B13-F4A3-8E9F-4E73C621D991}"/>
              </a:ext>
            </a:extLst>
          </p:cNvPr>
          <p:cNvSpPr>
            <a:spLocks noGrp="1"/>
          </p:cNvSpPr>
          <p:nvPr/>
        </p:nvSpPr>
        <p:spPr>
          <a:xfrm>
            <a:off x="446040" y="4236878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1</a:t>
            </a:r>
          </a:p>
        </p:txBody>
      </p:sp>
      <p:sp>
        <p:nvSpPr>
          <p:cNvPr id="62" name="4">
            <a:extLst>
              <a:ext uri="{FF2B5EF4-FFF2-40B4-BE49-F238E27FC236}">
                <a16:creationId xmlns:a16="http://schemas.microsoft.com/office/drawing/2014/main" id="{C2839870-F2B0-8DA9-840B-5F245C8ED094}"/>
              </a:ext>
            </a:extLst>
          </p:cNvPr>
          <p:cNvSpPr>
            <a:spLocks noGrp="1"/>
          </p:cNvSpPr>
          <p:nvPr/>
        </p:nvSpPr>
        <p:spPr>
          <a:xfrm>
            <a:off x="446040" y="4581555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4</a:t>
            </a:r>
          </a:p>
        </p:txBody>
      </p:sp>
      <p:sp>
        <p:nvSpPr>
          <p:cNvPr id="63" name="0">
            <a:extLst>
              <a:ext uri="{FF2B5EF4-FFF2-40B4-BE49-F238E27FC236}">
                <a16:creationId xmlns:a16="http://schemas.microsoft.com/office/drawing/2014/main" id="{1E05FCE7-9E4C-BFCB-FB2A-50FA92F8DFA5}"/>
              </a:ext>
            </a:extLst>
          </p:cNvPr>
          <p:cNvSpPr>
            <a:spLocks noGrp="1"/>
          </p:cNvSpPr>
          <p:nvPr/>
        </p:nvSpPr>
        <p:spPr>
          <a:xfrm>
            <a:off x="446040" y="4983787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0</a:t>
            </a:r>
          </a:p>
        </p:txBody>
      </p:sp>
      <p:sp>
        <p:nvSpPr>
          <p:cNvPr id="73" name="1">
            <a:extLst>
              <a:ext uri="{FF2B5EF4-FFF2-40B4-BE49-F238E27FC236}">
                <a16:creationId xmlns:a16="http://schemas.microsoft.com/office/drawing/2014/main" id="{DBFC442B-8244-FE63-9F71-A2DD57F5252C}"/>
              </a:ext>
            </a:extLst>
          </p:cNvPr>
          <p:cNvSpPr>
            <a:spLocks noGrp="1"/>
          </p:cNvSpPr>
          <p:nvPr/>
        </p:nvSpPr>
        <p:spPr>
          <a:xfrm>
            <a:off x="4875103" y="2812789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1</a:t>
            </a:r>
          </a:p>
        </p:txBody>
      </p:sp>
      <p:sp>
        <p:nvSpPr>
          <p:cNvPr id="74" name="5">
            <a:extLst>
              <a:ext uri="{FF2B5EF4-FFF2-40B4-BE49-F238E27FC236}">
                <a16:creationId xmlns:a16="http://schemas.microsoft.com/office/drawing/2014/main" id="{41A91980-E73A-E4EF-FE96-D25A8DA3E4AB}"/>
              </a:ext>
            </a:extLst>
          </p:cNvPr>
          <p:cNvSpPr>
            <a:spLocks noGrp="1"/>
          </p:cNvSpPr>
          <p:nvPr/>
        </p:nvSpPr>
        <p:spPr>
          <a:xfrm>
            <a:off x="4875103" y="3186243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5</a:t>
            </a:r>
          </a:p>
        </p:txBody>
      </p:sp>
      <p:sp>
        <p:nvSpPr>
          <p:cNvPr id="75" name="3">
            <a:extLst>
              <a:ext uri="{FF2B5EF4-FFF2-40B4-BE49-F238E27FC236}">
                <a16:creationId xmlns:a16="http://schemas.microsoft.com/office/drawing/2014/main" id="{8DBBBA6F-8893-1061-1772-8990CA75F4C2}"/>
              </a:ext>
            </a:extLst>
          </p:cNvPr>
          <p:cNvSpPr>
            <a:spLocks noGrp="1"/>
          </p:cNvSpPr>
          <p:nvPr/>
        </p:nvSpPr>
        <p:spPr>
          <a:xfrm>
            <a:off x="4875103" y="3559698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3</a:t>
            </a:r>
          </a:p>
        </p:txBody>
      </p:sp>
      <p:sp>
        <p:nvSpPr>
          <p:cNvPr id="76" name="2">
            <a:extLst>
              <a:ext uri="{FF2B5EF4-FFF2-40B4-BE49-F238E27FC236}">
                <a16:creationId xmlns:a16="http://schemas.microsoft.com/office/drawing/2014/main" id="{A5F6BC58-DFD3-D867-C3B3-834C5C75ABE6}"/>
              </a:ext>
            </a:extLst>
          </p:cNvPr>
          <p:cNvSpPr>
            <a:spLocks noGrp="1"/>
          </p:cNvSpPr>
          <p:nvPr/>
        </p:nvSpPr>
        <p:spPr>
          <a:xfrm>
            <a:off x="4875103" y="3918764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2</a:t>
            </a:r>
          </a:p>
        </p:txBody>
      </p:sp>
      <p:sp>
        <p:nvSpPr>
          <p:cNvPr id="77" name="1">
            <a:extLst>
              <a:ext uri="{FF2B5EF4-FFF2-40B4-BE49-F238E27FC236}">
                <a16:creationId xmlns:a16="http://schemas.microsoft.com/office/drawing/2014/main" id="{96DFB884-3185-E876-5350-910EEED4EAED}"/>
              </a:ext>
            </a:extLst>
          </p:cNvPr>
          <p:cNvSpPr>
            <a:spLocks noGrp="1"/>
          </p:cNvSpPr>
          <p:nvPr/>
        </p:nvSpPr>
        <p:spPr>
          <a:xfrm>
            <a:off x="4875103" y="4306609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1</a:t>
            </a:r>
          </a:p>
        </p:txBody>
      </p:sp>
      <p:sp>
        <p:nvSpPr>
          <p:cNvPr id="78" name="4">
            <a:extLst>
              <a:ext uri="{FF2B5EF4-FFF2-40B4-BE49-F238E27FC236}">
                <a16:creationId xmlns:a16="http://schemas.microsoft.com/office/drawing/2014/main" id="{5B3CBB30-01FB-A0C9-C6F3-CEFC535A80A9}"/>
              </a:ext>
            </a:extLst>
          </p:cNvPr>
          <p:cNvSpPr>
            <a:spLocks noGrp="1"/>
          </p:cNvSpPr>
          <p:nvPr/>
        </p:nvSpPr>
        <p:spPr>
          <a:xfrm>
            <a:off x="4875103" y="4651286"/>
            <a:ext cx="623374" cy="344691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4</a:t>
            </a:r>
          </a:p>
        </p:txBody>
      </p:sp>
      <p:sp>
        <p:nvSpPr>
          <p:cNvPr id="79" name="0">
            <a:extLst>
              <a:ext uri="{FF2B5EF4-FFF2-40B4-BE49-F238E27FC236}">
                <a16:creationId xmlns:a16="http://schemas.microsoft.com/office/drawing/2014/main" id="{730652CF-8957-DAC2-42E2-49207A67C7C8}"/>
              </a:ext>
            </a:extLst>
          </p:cNvPr>
          <p:cNvSpPr>
            <a:spLocks noGrp="1"/>
          </p:cNvSpPr>
          <p:nvPr/>
        </p:nvSpPr>
        <p:spPr>
          <a:xfrm>
            <a:off x="4875103" y="5053518"/>
            <a:ext cx="623374" cy="344692"/>
          </a:xfrm>
          <a:prstGeom prst="rect">
            <a:avLst/>
          </a:prstGeom>
          <a:noFill/>
          <a:ln w="12700">
            <a:noFill/>
          </a:ln>
        </p:spPr>
        <p:txBody>
          <a:bodyPr wrap="none" lIns="50800" tIns="50800" rIns="50800" bIns="50800" anchor="ctr">
            <a:spAutoFit/>
          </a:bodyPr>
          <a:lstStyle>
            <a:lvl1pPr defTabSz="584200">
              <a:buNone/>
              <a:defRPr sz="2400" b="1">
                <a:solidFill>
                  <a:srgbClr val="000000"/>
                </a:solidFill>
              </a:defRPr>
            </a:lvl1pPr>
          </a:lstStyle>
          <a:p>
            <a:pPr marL="0" marR="0" lvl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rgbClr val="000000"/>
                </a:solidFill>
                <a:latin typeface="Microsoft New Tai Lue"/>
                <a:ea typeface="Microsoft New Tai Lue"/>
                <a:cs typeface="Microsoft New Tai Lue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65823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6CA8-0965-EC8F-9680-E69E0423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5186"/>
          </a:xfrm>
        </p:spPr>
        <p:txBody>
          <a:bodyPr/>
          <a:lstStyle/>
          <a:p>
            <a:r>
              <a:t>A useful representation preserves structure and removes detail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FB43EF-F5FF-2B81-0123-24D6F7458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563" y="1635125"/>
            <a:ext cx="4987888" cy="4675188"/>
          </a:xfrm>
        </p:spPr>
        <p:txBody>
          <a:bodyPr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Learns structure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 on the important parts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dirty="0"/>
              <a:t>For EHRs: compresses many events into an informative patient state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DB5D-5D89-5FD1-92D2-49839BC6935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0329111" y="85745"/>
            <a:ext cx="814976" cy="176797"/>
          </a:xfrm>
        </p:spPr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3C829339-1C74-4825-ADEB-BCD7E13EFC81}" type="datetime1">
              <a:rPr sz="1000" b="0" i="0" u="none" cap="none" spc="0">
                <a:ln>
                  <a:noFill/>
                </a:ln>
                <a:solidFill>
                  <a:srgbClr val="333333"/>
                </a:solidFill>
                <a:latin typeface="Microsoft New Tai Lue"/>
                <a:ea typeface="Microsoft New Tai Lue"/>
                <a:cs typeface="Microsoft New Tai Lue"/>
              </a:rPr>
              <a:t>25/08/2026</a:t>
            </a:fld>
            <a:endParaRPr sz="1000" b="0" i="0" u="none" kern="1200" cap="none" spc="0" baseline="0">
              <a:ln>
                <a:noFill/>
              </a:ln>
              <a:solidFill>
                <a:srgbClr val="333333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E87C8-7688-3C94-1604-8EA0EEFE82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/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91A926C-488A-4E3E-9C21-57CAA120E114}" type="slidenum">
              <a:rPr sz="1000" b="0" i="0" u="none" cap="none" spc="0">
                <a:ln>
                  <a:noFill/>
                </a:ln>
                <a:solidFill>
                  <a:srgbClr val="333333"/>
                </a:solidFill>
                <a:latin typeface="Microsoft New Tai Lue"/>
                <a:ea typeface="Microsoft New Tai Lue"/>
                <a:cs typeface="Microsoft New Tai Lue"/>
              </a:rPr>
              <a:t>12</a:t>
            </a:fld>
            <a:endParaRPr sz="1000" b="0" i="0" u="none" kern="1200" cap="none" spc="0" baseline="0">
              <a:ln>
                <a:noFill/>
              </a:ln>
              <a:solidFill>
                <a:srgbClr val="333333"/>
              </a:solidFill>
              <a:latin typeface="Microsoft New Tai Lue"/>
              <a:ea typeface="Microsoft New Tai Lue"/>
              <a:cs typeface="Microsoft New Tai Lue"/>
            </a:endParaRPr>
          </a:p>
        </p:txBody>
      </p:sp>
      <p:pic>
        <p:nvPicPr>
          <p:cNvPr id="1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9561" y="1562098"/>
            <a:ext cx="4328878" cy="46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5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>
            <a:extLst>
              <a:ext uri="{FF2B5EF4-FFF2-40B4-BE49-F238E27FC236}">
                <a16:creationId xmlns:a16="http://schemas.microsoft.com/office/drawing/2014/main" id="{1EF9F9EC-9F50-458F-82CB-1D2F4972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EHR can be represented like a sentence</a:t>
            </a:r>
          </a:p>
        </p:txBody>
      </p:sp>
      <p:sp>
        <p:nvSpPr>
          <p:cNvPr id="348" name="Google Shape;348;p42">
            <a:extLst>
              <a:ext uri="{FF2B5EF4-FFF2-40B4-BE49-F238E27FC236}">
                <a16:creationId xmlns:a16="http://schemas.microsoft.com/office/drawing/2014/main" id="{CEE56B88-BF61-46FB-8BD3-F5B0288A13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13</a:t>
            </a:fld>
            <a:endParaRPr/>
          </a:p>
        </p:txBody>
      </p:sp>
      <p:pic>
        <p:nvPicPr>
          <p:cNvPr id="358" name="Google Shape;349;p4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575" y="2858825"/>
            <a:ext cx="5219549" cy="1980650"/>
          </a:xfrm>
          <a:prstGeom prst="rect">
            <a:avLst/>
          </a:prstGeom>
          <a:ln>
            <a:noFill/>
          </a:ln>
        </p:spPr>
      </p:pic>
      <p:pic>
        <p:nvPicPr>
          <p:cNvPr id="359" name="Google Shape;350;p42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2975" y="2125500"/>
            <a:ext cx="4639201" cy="2951175"/>
          </a:xfrm>
          <a:prstGeom prst="rect">
            <a:avLst/>
          </a:prstGeom>
          <a:ln>
            <a:noFill/>
          </a:ln>
        </p:spPr>
      </p:pic>
      <p:sp>
        <p:nvSpPr>
          <p:cNvPr id="351" name="Google Shape;351;p42">
            <a:extLst>
              <a:ext uri="{FF2B5EF4-FFF2-40B4-BE49-F238E27FC236}">
                <a16:creationId xmlns:a16="http://schemas.microsoft.com/office/drawing/2014/main" id="{D3A4A5E9-389D-46F7-8716-75070C49B353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  <p:sp>
        <p:nvSpPr>
          <p:cNvPr id="352" name="Google Shape;352;p42">
            <a:extLst>
              <a:ext uri="{FF2B5EF4-FFF2-40B4-BE49-F238E27FC236}">
                <a16:creationId xmlns:a16="http://schemas.microsoft.com/office/drawing/2014/main" id="{7E8A4AFC-A801-441F-B7A0-1E840BA21C4D}"/>
              </a:ext>
            </a:extLst>
          </p:cNvPr>
          <p:cNvSpPr>
            <a:spLocks noGrp="1"/>
          </p:cNvSpPr>
          <p:nvPr/>
        </p:nvSpPr>
        <p:spPr>
          <a:xfrm>
            <a:off x="459150" y="6178950"/>
            <a:ext cx="71808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(‘Post-training methods for language models’ Eyceoz &amp; Stevens)</a:t>
            </a:r>
          </a:p>
        </p:txBody>
      </p:sp>
      <p:sp>
        <p:nvSpPr>
          <p:cNvPr id="353" name="Google Shape;353;p42">
            <a:extLst>
              <a:ext uri="{FF2B5EF4-FFF2-40B4-BE49-F238E27FC236}">
                <a16:creationId xmlns:a16="http://schemas.microsoft.com/office/drawing/2014/main" id="{F24080BE-6A2F-44F2-B6A5-77EA6CAFCCE2}"/>
              </a:ext>
            </a:extLst>
          </p:cNvPr>
          <p:cNvSpPr>
            <a:spLocks noGrp="1"/>
          </p:cNvSpPr>
          <p:nvPr/>
        </p:nvSpPr>
        <p:spPr>
          <a:xfrm>
            <a:off x="6250775" y="6178950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1701826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B756-5135-6D5D-B585-4EA3B93F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are state-of-the-art models for sequences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CF09D-7EEE-1C8A-520E-88AA1E161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5507037" cy="4673600"/>
          </a:xfrm>
        </p:spPr>
        <p:txBody>
          <a:bodyPr/>
          <a:lstStyle/>
          <a:p>
            <a:r>
              <a:rPr dirty="0"/>
              <a:t>Introduced for translation</a:t>
            </a:r>
          </a:p>
          <a:p>
            <a:r>
              <a:rPr dirty="0"/>
              <a:t>Now used for text, DNA, proteins and EHRs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88C50-0970-36E6-08FB-E6857D423D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14</a:t>
            </a:fld>
            <a:endParaRPr/>
          </a:p>
        </p:txBody>
      </p:sp>
      <p:pic>
        <p:nvPicPr>
          <p:cNvPr id="18" name="Google Shape;361;p4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250" y="1193289"/>
            <a:ext cx="3545807" cy="5068786"/>
          </a:xfrm>
          <a:prstGeom prst="rect">
            <a:avLst/>
          </a:prstGeom>
          <a:ln>
            <a:noFill/>
          </a:ln>
        </p:spPr>
      </p:pic>
      <p:sp>
        <p:nvSpPr>
          <p:cNvPr id="8" name="Google Shape;364;p43">
            <a:extLst>
              <a:ext uri="{FF2B5EF4-FFF2-40B4-BE49-F238E27FC236}">
                <a16:creationId xmlns:a16="http://schemas.microsoft.com/office/drawing/2014/main" id="{5744B220-9770-32CF-B4C8-6D2BA9624437}"/>
              </a:ext>
            </a:extLst>
          </p:cNvPr>
          <p:cNvSpPr>
            <a:spLocks noGrp="1"/>
          </p:cNvSpPr>
          <p:nvPr/>
        </p:nvSpPr>
        <p:spPr>
          <a:xfrm>
            <a:off x="9647075" y="6302475"/>
            <a:ext cx="2070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(Vaswani et. al 2017)</a:t>
            </a:r>
          </a:p>
        </p:txBody>
      </p:sp>
      <p:sp>
        <p:nvSpPr>
          <p:cNvPr id="9" name="Google Shape;399;p45">
            <a:extLst>
              <a:ext uri="{FF2B5EF4-FFF2-40B4-BE49-F238E27FC236}">
                <a16:creationId xmlns:a16="http://schemas.microsoft.com/office/drawing/2014/main" id="{759ED15C-46AF-4FBE-845A-1A328B467710}"/>
              </a:ext>
            </a:extLst>
          </p:cNvPr>
          <p:cNvSpPr>
            <a:spLocks noGrp="1"/>
          </p:cNvSpPr>
          <p:nvPr/>
        </p:nvSpPr>
        <p:spPr>
          <a:xfrm>
            <a:off x="7377650" y="2679500"/>
            <a:ext cx="1777800" cy="3102300"/>
          </a:xfrm>
          <a:prstGeom prst="roundRect">
            <a:avLst>
              <a:gd name="adj" fmla="val 16667"/>
            </a:avLst>
          </a:prstGeom>
          <a:solidFill>
            <a:srgbClr val="E8F5E3">
              <a:alpha val="49370"/>
            </a:srgbClr>
          </a:solidFill>
          <a:ln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400;p45">
            <a:extLst>
              <a:ext uri="{FF2B5EF4-FFF2-40B4-BE49-F238E27FC236}">
                <a16:creationId xmlns:a16="http://schemas.microsoft.com/office/drawing/2014/main" id="{1DF38449-C067-36E8-E3B1-B60AAC7349FD}"/>
              </a:ext>
            </a:extLst>
          </p:cNvPr>
          <p:cNvSpPr>
            <a:spLocks noGrp="1"/>
          </p:cNvSpPr>
          <p:nvPr/>
        </p:nvSpPr>
        <p:spPr>
          <a:xfrm>
            <a:off x="9155450" y="1628775"/>
            <a:ext cx="1716000" cy="4119600"/>
          </a:xfrm>
          <a:prstGeom prst="roundRect">
            <a:avLst>
              <a:gd name="adj" fmla="val 16667"/>
            </a:avLst>
          </a:prstGeom>
          <a:solidFill>
            <a:srgbClr val="FBE7F1">
              <a:alpha val="50630"/>
            </a:srgbClr>
          </a:solidFill>
          <a:ln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401;p45">
            <a:extLst>
              <a:ext uri="{FF2B5EF4-FFF2-40B4-BE49-F238E27FC236}">
                <a16:creationId xmlns:a16="http://schemas.microsoft.com/office/drawing/2014/main" id="{2E9C096D-0CE9-1FA4-AA10-048AAA6AF08F}"/>
              </a:ext>
            </a:extLst>
          </p:cNvPr>
          <p:cNvSpPr>
            <a:spLocks noGrp="1"/>
          </p:cNvSpPr>
          <p:nvPr/>
        </p:nvSpPr>
        <p:spPr>
          <a:xfrm>
            <a:off x="7361250" y="2067406"/>
            <a:ext cx="16701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Font typeface="Arial"/>
              <a:buNone/>
            </a:pPr>
            <a:r>
              <a:t>Encoder</a:t>
            </a:r>
            <a:endParaRPr kern="0"/>
          </a:p>
        </p:txBody>
      </p:sp>
      <p:sp>
        <p:nvSpPr>
          <p:cNvPr id="12" name="Google Shape;402;p45">
            <a:extLst>
              <a:ext uri="{FF2B5EF4-FFF2-40B4-BE49-F238E27FC236}">
                <a16:creationId xmlns:a16="http://schemas.microsoft.com/office/drawing/2014/main" id="{90FE48D7-09F2-248A-07AB-904677E756B2}"/>
              </a:ext>
            </a:extLst>
          </p:cNvPr>
          <p:cNvSpPr>
            <a:spLocks noGrp="1"/>
          </p:cNvSpPr>
          <p:nvPr/>
        </p:nvSpPr>
        <p:spPr>
          <a:xfrm>
            <a:off x="10219565" y="1106700"/>
            <a:ext cx="16701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>
            <a:lvl1pPr marL="457200" marR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 spc="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Font typeface="Arial"/>
              <a:buNone/>
            </a:pPr>
            <a:r>
              <a:t>Decoder</a:t>
            </a:r>
          </a:p>
        </p:txBody>
      </p:sp>
      <p:pic>
        <p:nvPicPr>
          <p:cNvPr id="24" name="Google Shape;397;p45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460" y="2988522"/>
            <a:ext cx="5906396" cy="34583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2375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>
            <a:extLst>
              <a:ext uri="{FF2B5EF4-FFF2-40B4-BE49-F238E27FC236}">
                <a16:creationId xmlns:a16="http://schemas.microsoft.com/office/drawing/2014/main" id="{E3372CDB-5524-49C1-B039-55CB31BA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</p:spPr>
        <p:txBody>
          <a:bodyPr spcFirstLastPara="1" wrap="square" lIns="0" tIns="0" rIns="0" bIns="0" anchor="t">
            <a:noAutofit/>
          </a:bodyPr>
          <a:lstStyle/>
          <a:p>
            <a:pPr lvl="0">
              <a:buNone/>
            </a:pPr>
            <a:r>
              <a:t>Vocabulary and Tokenization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F9D4D-6C90-CA6E-5DCC-90DE21143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5682883" cy="4673600"/>
          </a:xfrm>
        </p:spPr>
        <p:txBody>
          <a:bodyPr anchor="ctr"/>
          <a:lstStyle/>
          <a:p>
            <a:pPr marL="76200" indent="0">
              <a:buNone/>
            </a:pPr>
            <a:r>
              <a:rPr b="1"/>
              <a:t>Vocabulary:</a:t>
            </a:r>
          </a:p>
          <a:p>
            <a:r>
              <a:t>All the “words” that the model knows</a:t>
            </a:r>
          </a:p>
          <a:p>
            <a:endParaRPr/>
          </a:p>
          <a:p>
            <a:pPr marL="76200" indent="0">
              <a:buNone/>
            </a:pPr>
            <a:endParaRPr/>
          </a:p>
          <a:p>
            <a:pPr marL="76200" indent="0">
              <a:buNone/>
            </a:pPr>
            <a:r>
              <a:rPr b="1"/>
              <a:t>Token:</a:t>
            </a:r>
          </a:p>
          <a:p>
            <a:r>
              <a:t>Each “word” gets represented by a number</a:t>
            </a:r>
          </a:p>
        </p:txBody>
      </p:sp>
      <p:sp>
        <p:nvSpPr>
          <p:cNvPr id="360" name="Google Shape;360;p43">
            <a:extLst>
              <a:ext uri="{FF2B5EF4-FFF2-40B4-BE49-F238E27FC236}">
                <a16:creationId xmlns:a16="http://schemas.microsoft.com/office/drawing/2014/main" id="{D1CA68C9-2D54-4BCE-A805-71C9C84280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spcFirstLastPara="1" wrap="square" lIns="0" tIns="0" rIns="0" bIns="0" anchor="b">
            <a:noAutofit/>
          </a:bodyPr>
          <a:lstStyle/>
          <a:p>
            <a:pPr lvl="0">
              <a:buNone/>
            </a:pPr>
            <a:fld id="{00000000-1234-1234-1234-123412341234}" type="slidenum">
              <a:rPr/>
              <a:t>15</a:t>
            </a:fld>
            <a:endParaRPr/>
          </a:p>
        </p:txBody>
      </p:sp>
      <p:pic>
        <p:nvPicPr>
          <p:cNvPr id="368" name="Google Shape;362;p4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7749" y="2193485"/>
            <a:ext cx="4639201" cy="2951175"/>
          </a:xfrm>
          <a:prstGeom prst="rect">
            <a:avLst/>
          </a:prstGeom>
          <a:ln>
            <a:noFill/>
          </a:ln>
        </p:spPr>
      </p:pic>
      <p:sp>
        <p:nvSpPr>
          <p:cNvPr id="363" name="Google Shape;363;p43">
            <a:extLst>
              <a:ext uri="{FF2B5EF4-FFF2-40B4-BE49-F238E27FC236}">
                <a16:creationId xmlns:a16="http://schemas.microsoft.com/office/drawing/2014/main" id="{7799C6F5-F1D1-4D2D-83B8-30A0F2A800D5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196365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>
            <a:extLst>
              <a:ext uri="{FF2B5EF4-FFF2-40B4-BE49-F238E27FC236}">
                <a16:creationId xmlns:a16="http://schemas.microsoft.com/office/drawing/2014/main" id="{6D819266-7256-4D4D-B7E1-F3D73F33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practice we need special tokens</a:t>
            </a:r>
          </a:p>
        </p:txBody>
      </p:sp>
      <p:sp>
        <p:nvSpPr>
          <p:cNvPr id="508" name="Google Shape;508;p54">
            <a:extLst>
              <a:ext uri="{FF2B5EF4-FFF2-40B4-BE49-F238E27FC236}">
                <a16:creationId xmlns:a16="http://schemas.microsoft.com/office/drawing/2014/main" id="{DBD7E1DD-B5A6-4C62-B60B-ECD0B08A5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475" y="4426489"/>
            <a:ext cx="10538216" cy="1487155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highlight>
                  <a:srgbClr val="FFFFFF"/>
                </a:highlight>
              </a:rPr>
              <a:t>[SEX] [VISIT_START] AGE_59 LAB_HDL_cholesterol_92% LAB_LDL_Cholesterol_84% LAB_Total_Triglycerides_22% DX_I25 [VISIT_END] </a:t>
            </a:r>
          </a:p>
          <a:p>
            <a:pPr marL="0" lvl="0" indent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highlight>
                  <a:srgbClr val="FFFFFF"/>
                </a:highlight>
              </a:rPr>
              <a:t>[SEP] </a:t>
            </a:r>
          </a:p>
          <a:p>
            <a:pPr marL="0" lvl="0" indent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highlight>
                  <a:srgbClr val="FFFFFF"/>
                </a:highlight>
              </a:rPr>
              <a:t>[VISIT_START] AGE_60 LAB_HDL_cholesterol_94% LAB_LDL_Cholesterol_96% LAB_Total_Triglycerides_24% DX_I25 [VISIT_END] </a:t>
            </a:r>
          </a:p>
          <a:p>
            <a:pPr marL="0" lvl="0" indent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highlight>
                  <a:srgbClr val="FFFFFF"/>
                </a:highlight>
              </a:rPr>
              <a:t>[SEP] </a:t>
            </a:r>
          </a:p>
          <a:p>
            <a:pPr marL="0" lvl="0" indent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highlight>
                  <a:srgbClr val="FFFFFF"/>
                </a:highlight>
              </a:rPr>
              <a:t>[VISIT_START] AGE_62 LAB_HDL_cholesterol_98% LAB_LDL_Cholesterol_98% LAB_Total_Triglycerides_30% DX_I25 [VISIT_END]</a:t>
            </a:r>
            <a:endParaRPr lang="en-GB" sz="2700" dirty="0"/>
          </a:p>
        </p:txBody>
      </p:sp>
      <p:sp>
        <p:nvSpPr>
          <p:cNvPr id="509" name="Google Shape;509;p54">
            <a:extLst>
              <a:ext uri="{FF2B5EF4-FFF2-40B4-BE49-F238E27FC236}">
                <a16:creationId xmlns:a16="http://schemas.microsoft.com/office/drawing/2014/main" id="{4B735EF8-ECF3-4850-AF44-38F7E2523C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DK" smtClean="0"/>
              <a:t>16</a:t>
            </a:fld>
            <a:endParaRPr lang="en-DK"/>
          </a:p>
        </p:txBody>
      </p:sp>
      <p:sp>
        <p:nvSpPr>
          <p:cNvPr id="510" name="Google Shape;510;p54">
            <a:extLst>
              <a:ext uri="{FF2B5EF4-FFF2-40B4-BE49-F238E27FC236}">
                <a16:creationId xmlns:a16="http://schemas.microsoft.com/office/drawing/2014/main" id="{F71AC650-AD5E-42B5-9C25-A43BFAC1BA22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pic>
        <p:nvPicPr>
          <p:cNvPr id="517" name="Google Shape;511;p5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63" y="1718628"/>
            <a:ext cx="6041682" cy="2292623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8C350D-7D0E-8E39-0BE3-EBBE24C6CBB6}"/>
              </a:ext>
            </a:extLst>
          </p:cNvPr>
          <p:cNvSpPr txBox="1"/>
          <p:nvPr/>
        </p:nvSpPr>
        <p:spPr>
          <a:xfrm>
            <a:off x="7291449" y="1662790"/>
            <a:ext cx="45244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b="1" dirty="0">
                <a:solidFill>
                  <a:schemeClr val="accent1"/>
                </a:solidFill>
              </a:rPr>
              <a:t>The model does not understand actual numbers!</a:t>
            </a:r>
          </a:p>
          <a:p>
            <a:endParaRPr lang="en-DK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E.g. LDL cholesterol 4 mmol/ml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K" dirty="0"/>
          </a:p>
          <a:p>
            <a:r>
              <a:rPr lang="en-DK" dirty="0"/>
              <a:t>How do we encode continous values?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K" dirty="0"/>
              <a:t>Making them discrete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K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00856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>
            <a:extLst>
              <a:ext uri="{FF2B5EF4-FFF2-40B4-BE49-F238E27FC236}">
                <a16:creationId xmlns:a16="http://schemas.microsoft.com/office/drawing/2014/main" id="{DACC8275-0C58-499E-9B53-B208D1F1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Encoder and decoder models optimize different objectives</a:t>
            </a:r>
          </a:p>
        </p:txBody>
      </p:sp>
      <p:sp>
        <p:nvSpPr>
          <p:cNvPr id="394" name="Google Shape;394;p45">
            <a:extLst>
              <a:ext uri="{FF2B5EF4-FFF2-40B4-BE49-F238E27FC236}">
                <a16:creationId xmlns:a16="http://schemas.microsoft.com/office/drawing/2014/main" id="{73801531-531E-4E56-A70A-FC35A1298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6"/>
            <a:ext cx="5694606" cy="1278548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/>
              <a:t>Encoder-only (BERT)</a:t>
            </a:r>
          </a:p>
          <a:p>
            <a:pPr marL="342900" indent="-342900">
              <a:buNone/>
            </a:pPr>
            <a:r>
              <a:t>reconstruct masked tokens</a:t>
            </a:r>
          </a:p>
        </p:txBody>
      </p:sp>
      <p:sp>
        <p:nvSpPr>
          <p:cNvPr id="395" name="Google Shape;395;p45">
            <a:extLst>
              <a:ext uri="{FF2B5EF4-FFF2-40B4-BE49-F238E27FC236}">
                <a16:creationId xmlns:a16="http://schemas.microsoft.com/office/drawing/2014/main" id="{3A93BE6B-63F6-490F-8EDF-7E105CDDFD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17</a:t>
            </a:fld>
            <a:endParaRPr/>
          </a:p>
        </p:txBody>
      </p:sp>
      <p:sp>
        <p:nvSpPr>
          <p:cNvPr id="396" name="Google Shape;396;p45">
            <a:extLst>
              <a:ext uri="{FF2B5EF4-FFF2-40B4-BE49-F238E27FC236}">
                <a16:creationId xmlns:a16="http://schemas.microsoft.com/office/drawing/2014/main" id="{60B3B1E6-B9F9-4000-AA93-546E3328F877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  <p:pic>
        <p:nvPicPr>
          <p:cNvPr id="411" name="Google Shape;398;p45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250" y="1193289"/>
            <a:ext cx="3545807" cy="5068786"/>
          </a:xfrm>
          <a:prstGeom prst="rect">
            <a:avLst/>
          </a:prstGeom>
          <a:ln>
            <a:noFill/>
          </a:ln>
        </p:spPr>
      </p:pic>
      <p:sp>
        <p:nvSpPr>
          <p:cNvPr id="399" name="Google Shape;399;p45">
            <a:extLst>
              <a:ext uri="{FF2B5EF4-FFF2-40B4-BE49-F238E27FC236}">
                <a16:creationId xmlns:a16="http://schemas.microsoft.com/office/drawing/2014/main" id="{96CE0071-D038-4686-85CC-C0FB816F28DF}"/>
              </a:ext>
            </a:extLst>
          </p:cNvPr>
          <p:cNvSpPr>
            <a:spLocks noGrp="1"/>
          </p:cNvSpPr>
          <p:nvPr/>
        </p:nvSpPr>
        <p:spPr>
          <a:xfrm>
            <a:off x="7377650" y="2679500"/>
            <a:ext cx="1777800" cy="3102300"/>
          </a:xfrm>
          <a:prstGeom prst="roundRect">
            <a:avLst>
              <a:gd name="adj" fmla="val 16667"/>
            </a:avLst>
          </a:prstGeom>
          <a:solidFill>
            <a:srgbClr val="E8F5E3">
              <a:alpha val="49370"/>
            </a:srgbClr>
          </a:solidFill>
          <a:ln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5">
            <a:extLst>
              <a:ext uri="{FF2B5EF4-FFF2-40B4-BE49-F238E27FC236}">
                <a16:creationId xmlns:a16="http://schemas.microsoft.com/office/drawing/2014/main" id="{52704CDA-0692-4917-BFF0-5F21D06920EC}"/>
              </a:ext>
            </a:extLst>
          </p:cNvPr>
          <p:cNvSpPr>
            <a:spLocks noGrp="1"/>
          </p:cNvSpPr>
          <p:nvPr/>
        </p:nvSpPr>
        <p:spPr>
          <a:xfrm>
            <a:off x="9155450" y="1628775"/>
            <a:ext cx="1716000" cy="4119600"/>
          </a:xfrm>
          <a:prstGeom prst="roundRect">
            <a:avLst>
              <a:gd name="adj" fmla="val 16667"/>
            </a:avLst>
          </a:prstGeom>
          <a:solidFill>
            <a:srgbClr val="FBE7F1">
              <a:alpha val="50630"/>
            </a:srgbClr>
          </a:solidFill>
          <a:ln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45">
            <a:extLst>
              <a:ext uri="{FF2B5EF4-FFF2-40B4-BE49-F238E27FC236}">
                <a16:creationId xmlns:a16="http://schemas.microsoft.com/office/drawing/2014/main" id="{C2872B72-9A7A-4611-9750-A4347F34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1250" y="2067406"/>
            <a:ext cx="1670100" cy="3792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Encoder</a:t>
            </a:r>
          </a:p>
        </p:txBody>
      </p:sp>
      <p:sp>
        <p:nvSpPr>
          <p:cNvPr id="402" name="Google Shape;402;p45">
            <a:extLst>
              <a:ext uri="{FF2B5EF4-FFF2-40B4-BE49-F238E27FC236}">
                <a16:creationId xmlns:a16="http://schemas.microsoft.com/office/drawing/2014/main" id="{7CF1D123-1854-4CEC-8609-9AF01CC6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9565" y="1106700"/>
            <a:ext cx="1670100" cy="3792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Decoder</a:t>
            </a:r>
          </a:p>
        </p:txBody>
      </p:sp>
      <p:sp>
        <p:nvSpPr>
          <p:cNvPr id="403" name="Google Shape;403;p45">
            <a:extLst>
              <a:ext uri="{FF2B5EF4-FFF2-40B4-BE49-F238E27FC236}">
                <a16:creationId xmlns:a16="http://schemas.microsoft.com/office/drawing/2014/main" id="{D75148DE-870E-4D07-94C9-012E726CEA95}"/>
              </a:ext>
            </a:extLst>
          </p:cNvPr>
          <p:cNvSpPr>
            <a:spLocks noGrp="1"/>
          </p:cNvSpPr>
          <p:nvPr/>
        </p:nvSpPr>
        <p:spPr>
          <a:xfrm>
            <a:off x="9647075" y="6302475"/>
            <a:ext cx="2070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(Vaswani et. al 2017)</a:t>
            </a:r>
          </a:p>
        </p:txBody>
      </p:sp>
      <p:pic>
        <p:nvPicPr>
          <p:cNvPr id="417" name="Google Shape;362;p43"/>
          <p:cNvPicPr>
            <a:picLocks noChangeAspect="1"/>
          </p:cNvPicPr>
          <p:nvPr/>
        </p:nvPicPr>
        <p:blipFill>
          <a:blip r:embed="rId4">
            <a:alphaModFix/>
          </a:blip>
          <a:srcRect t="47941" b="26214"/>
          <a:stretch>
            <a:fillRect/>
          </a:stretch>
        </p:blipFill>
        <p:spPr>
          <a:xfrm>
            <a:off x="588963" y="2869174"/>
            <a:ext cx="6107103" cy="1004070"/>
          </a:xfrm>
          <a:prstGeom prst="rect">
            <a:avLst/>
          </a:prstGeom>
          <a:ln>
            <a:noFill/>
          </a:ln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8AE8C1-90DB-7BE2-3BC8-7A8546F3F7B4}"/>
              </a:ext>
            </a:extLst>
          </p:cNvPr>
          <p:cNvSpPr>
            <a:spLocks noGrp="1"/>
          </p:cNvSpPr>
          <p:nvPr/>
        </p:nvSpPr>
        <p:spPr>
          <a:xfrm>
            <a:off x="2514414" y="2927789"/>
            <a:ext cx="949907" cy="8557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3C3AE-384F-4CB3-BE8B-E7D4EBAEC0FB}"/>
              </a:ext>
            </a:extLst>
          </p:cNvPr>
          <p:cNvSpPr>
            <a:spLocks noGrp="1"/>
          </p:cNvSpPr>
          <p:nvPr/>
        </p:nvSpPr>
        <p:spPr>
          <a:xfrm>
            <a:off x="570944" y="425872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2400" b="1"/>
              <a:t>Decoder-only (GPT): </a:t>
            </a:r>
          </a:p>
          <a:p>
            <a:pPr marL="342900" indent="-342900">
              <a:buFont typeface="Arial"/>
              <a:buChar char="•"/>
            </a:pPr>
            <a:r>
              <a:rPr sz="2400"/>
              <a:t>predict the next token</a:t>
            </a:r>
          </a:p>
        </p:txBody>
      </p:sp>
      <p:pic>
        <p:nvPicPr>
          <p:cNvPr id="420" name="Google Shape;362;p43"/>
          <p:cNvPicPr>
            <a:picLocks noChangeAspect="1"/>
          </p:cNvPicPr>
          <p:nvPr/>
        </p:nvPicPr>
        <p:blipFill>
          <a:blip r:embed="rId4">
            <a:alphaModFix/>
          </a:blip>
          <a:srcRect t="47941" b="26214"/>
          <a:stretch>
            <a:fillRect/>
          </a:stretch>
        </p:blipFill>
        <p:spPr>
          <a:xfrm>
            <a:off x="559841" y="5179600"/>
            <a:ext cx="6107103" cy="1004070"/>
          </a:xfrm>
          <a:prstGeom prst="rect">
            <a:avLst/>
          </a:prstGeom>
          <a:ln>
            <a:noFill/>
          </a:ln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020FBF-1C13-F321-E8AA-C9822FA4AC0E}"/>
              </a:ext>
            </a:extLst>
          </p:cNvPr>
          <p:cNvSpPr>
            <a:spLocks noGrp="1"/>
          </p:cNvSpPr>
          <p:nvPr/>
        </p:nvSpPr>
        <p:spPr>
          <a:xfrm>
            <a:off x="2486359" y="5253742"/>
            <a:ext cx="3797210" cy="8557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39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A002-0C16-B46C-AC43-7EFB11FE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need positional information to represent order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EBE5D-1B01-0CCF-75BB-6DD87781A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5647714" cy="4673600"/>
          </a:xfrm>
        </p:spPr>
        <p:txBody>
          <a:bodyPr/>
          <a:lstStyle/>
          <a:p>
            <a:pPr marL="0" indent="0">
              <a:buChar char=" "/>
            </a:pPr>
            <a:endParaRPr lang="da-DK" dirty="0"/>
          </a:p>
          <a:p>
            <a:pPr marL="342900" indent="-342900"/>
            <a:r>
              <a:rPr lang="da-DK" dirty="0"/>
              <a:t>The model</a:t>
            </a:r>
            <a:r>
              <a:rPr dirty="0"/>
              <a:t> does not know token order</a:t>
            </a:r>
            <a:endParaRPr lang="da-DK" dirty="0"/>
          </a:p>
          <a:p>
            <a:pPr marL="342900" indent="-342900"/>
            <a:endParaRPr lang="da-DK" dirty="0"/>
          </a:p>
          <a:p>
            <a:pPr marL="342900" indent="-342900"/>
            <a:r>
              <a:rPr dirty="0"/>
              <a:t>Positional embeddings add an order signal</a:t>
            </a:r>
            <a:endParaRPr lang="da-DK" dirty="0"/>
          </a:p>
          <a:p>
            <a:pPr marL="342900" indent="-342900"/>
            <a:endParaRPr lang="en-DK" dirty="0"/>
          </a:p>
          <a:p>
            <a:pPr marL="342900" indent="-342900"/>
            <a:r>
              <a:rPr dirty="0"/>
              <a:t>For EHRs, age and elapsed time may be more informative than sequence position alone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E2DD-F3C0-36E0-536C-F6B2FD33B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18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8552DB-FBEF-9DF9-40F0-1B56DA241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460" y="1842485"/>
            <a:ext cx="4911990" cy="394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08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>
            <a:extLst>
              <a:ext uri="{FF2B5EF4-FFF2-40B4-BE49-F238E27FC236}">
                <a16:creationId xmlns:a16="http://schemas.microsoft.com/office/drawing/2014/main" id="{7652D86E-5032-4257-904C-FAF856BF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</p:spPr>
        <p:txBody>
          <a:bodyPr spcFirstLastPara="1" wrap="square" lIns="0" tIns="0" rIns="0" bIns="0" anchor="t">
            <a:noAutofit/>
          </a:bodyPr>
          <a:lstStyle/>
          <a:p>
            <a:pPr lvl="0">
              <a:buNone/>
            </a:pPr>
            <a:r>
              <a:t>Attention identifies which earlier events are relevant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F1688-C4F3-D5C6-223F-489FC6764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5940791" cy="4673600"/>
          </a:xfrm>
        </p:spPr>
        <p:txBody>
          <a:bodyPr anchor="ctr"/>
          <a:lstStyle/>
          <a:p>
            <a:pPr marL="0" indent="0">
              <a:buNone/>
            </a:pPr>
            <a:r>
              <a:rPr lang="da-DK" b="1" dirty="0">
                <a:solidFill>
                  <a:schemeClr val="accent4"/>
                </a:solidFill>
              </a:rPr>
              <a:t>Attention</a:t>
            </a:r>
            <a:endParaRPr lang="da-DK" dirty="0"/>
          </a:p>
          <a:p>
            <a:pPr marL="342900" indent="-342900"/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tokens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important</a:t>
            </a:r>
            <a:r>
              <a:rPr lang="da-DK" dirty="0"/>
              <a:t>?</a:t>
            </a:r>
          </a:p>
          <a:p>
            <a:pPr marL="342900" indent="-342900"/>
            <a:endParaRPr lang="da-DK" dirty="0"/>
          </a:p>
          <a:p>
            <a:pPr marL="342900" indent="-342900"/>
            <a:r>
              <a:rPr dirty="0"/>
              <a:t>EHR example: a diagnosis may use earlier drugs, laboratory values or comorbidities</a:t>
            </a:r>
            <a:endParaRPr lang="da-DK" dirty="0"/>
          </a:p>
        </p:txBody>
      </p:sp>
      <p:sp>
        <p:nvSpPr>
          <p:cNvPr id="410" name="Google Shape;410;p46">
            <a:extLst>
              <a:ext uri="{FF2B5EF4-FFF2-40B4-BE49-F238E27FC236}">
                <a16:creationId xmlns:a16="http://schemas.microsoft.com/office/drawing/2014/main" id="{AAC23E73-E17D-4198-A823-5B7C0E682C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spcFirstLastPara="1" wrap="square" lIns="0" tIns="0" rIns="0" bIns="0" anchor="b">
            <a:noAutofit/>
          </a:bodyPr>
          <a:lstStyle/>
          <a:p>
            <a:pPr lvl="0">
              <a:buNone/>
            </a:pPr>
            <a:fld id="{00000000-1234-1234-1234-123412341234}" type="slidenum">
              <a:rPr/>
              <a:t>19</a:t>
            </a:fld>
            <a:endParaRPr/>
          </a:p>
        </p:txBody>
      </p:sp>
      <p:sp>
        <p:nvSpPr>
          <p:cNvPr id="411" name="Google Shape;411;p46">
            <a:extLst>
              <a:ext uri="{FF2B5EF4-FFF2-40B4-BE49-F238E27FC236}">
                <a16:creationId xmlns:a16="http://schemas.microsoft.com/office/drawing/2014/main" id="{7D09A1CE-0FE3-4EC9-A8AD-FC28CDC5F46D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  <p:pic>
        <p:nvPicPr>
          <p:cNvPr id="418" name="Google Shape;362;p4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249" y="2278050"/>
            <a:ext cx="4639201" cy="29511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575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>
            <a:extLst>
              <a:ext uri="{FF2B5EF4-FFF2-40B4-BE49-F238E27FC236}">
                <a16:creationId xmlns:a16="http://schemas.microsoft.com/office/drawing/2014/main" id="{BCB22622-49D8-4CA5-965D-4D6C00A2F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Attention compares each event with its relevant history</a:t>
            </a:r>
          </a:p>
        </p:txBody>
      </p:sp>
      <p:sp>
        <p:nvSpPr>
          <p:cNvPr id="426" name="Google Shape;426;p47">
            <a:extLst>
              <a:ext uri="{FF2B5EF4-FFF2-40B4-BE49-F238E27FC236}">
                <a16:creationId xmlns:a16="http://schemas.microsoft.com/office/drawing/2014/main" id="{87B8A000-2E96-4A66-A05A-8C4343C9A1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20</a:t>
            </a:fld>
            <a:endParaRPr/>
          </a:p>
        </p:txBody>
      </p:sp>
      <p:sp>
        <p:nvSpPr>
          <p:cNvPr id="427" name="Google Shape;427;p47">
            <a:extLst>
              <a:ext uri="{FF2B5EF4-FFF2-40B4-BE49-F238E27FC236}">
                <a16:creationId xmlns:a16="http://schemas.microsoft.com/office/drawing/2014/main" id="{0B243ECE-AD64-4EE1-8CEF-0C7218DE0E01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  <p:pic>
        <p:nvPicPr>
          <p:cNvPr id="438" name="Google Shape;428;p4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89" y="3141785"/>
            <a:ext cx="5404322" cy="3095501"/>
          </a:xfrm>
          <a:prstGeom prst="rect">
            <a:avLst/>
          </a:prstGeom>
          <a:ln>
            <a:noFill/>
          </a:ln>
        </p:spPr>
      </p:pic>
      <p:pic>
        <p:nvPicPr>
          <p:cNvPr id="439" name="Google Shape;429;p47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2973" y="1628775"/>
            <a:ext cx="5005754" cy="4560555"/>
          </a:xfrm>
          <a:prstGeom prst="rect">
            <a:avLst/>
          </a:prstGeom>
          <a:ln>
            <a:noFill/>
          </a:ln>
        </p:spPr>
      </p:pic>
      <p:sp>
        <p:nvSpPr>
          <p:cNvPr id="430" name="Google Shape;430;p47">
            <a:extLst>
              <a:ext uri="{FF2B5EF4-FFF2-40B4-BE49-F238E27FC236}">
                <a16:creationId xmlns:a16="http://schemas.microsoft.com/office/drawing/2014/main" id="{EAA60AA4-D562-47E7-A32B-2CF8E8BAEA02}"/>
              </a:ext>
            </a:extLst>
          </p:cNvPr>
          <p:cNvSpPr>
            <a:spLocks noGrp="1"/>
          </p:cNvSpPr>
          <p:nvPr/>
        </p:nvSpPr>
        <p:spPr>
          <a:xfrm>
            <a:off x="6239700" y="6382400"/>
            <a:ext cx="59523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(‘The Illustrated Transformer’ blogpost by Jay Alammar) </a:t>
            </a:r>
          </a:p>
        </p:txBody>
      </p:sp>
      <p:sp>
        <p:nvSpPr>
          <p:cNvPr id="431" name="Google Shape;431;p47">
            <a:extLst>
              <a:ext uri="{FF2B5EF4-FFF2-40B4-BE49-F238E27FC236}">
                <a16:creationId xmlns:a16="http://schemas.microsoft.com/office/drawing/2014/main" id="{02287133-C762-4530-9D5E-A51FDDD075C3}"/>
              </a:ext>
            </a:extLst>
          </p:cNvPr>
          <p:cNvSpPr>
            <a:spLocks noGrp="1"/>
          </p:cNvSpPr>
          <p:nvPr/>
        </p:nvSpPr>
        <p:spPr>
          <a:xfrm>
            <a:off x="0" y="6382400"/>
            <a:ext cx="59523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(‘Understanding Deep Learning’ by Simon J. D. Prince) </a:t>
            </a:r>
          </a:p>
        </p:txBody>
      </p:sp>
      <p:sp>
        <p:nvSpPr>
          <p:cNvPr id="432" name="Google Shape;432;p47">
            <a:extLst>
              <a:ext uri="{FF2B5EF4-FFF2-40B4-BE49-F238E27FC236}">
                <a16:creationId xmlns:a16="http://schemas.microsoft.com/office/drawing/2014/main" id="{2B465D08-B25B-430C-8632-93E1541AA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247042"/>
            <a:ext cx="3854083" cy="2192948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Conceptually: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compare events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weight relevant context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update the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715906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>
            <a:extLst>
              <a:ext uri="{FF2B5EF4-FFF2-40B4-BE49-F238E27FC236}">
                <a16:creationId xmlns:a16="http://schemas.microsoft.com/office/drawing/2014/main" id="{2505585A-3257-43FE-A47A-5B104643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Take-home messages: building a transformer input</a:t>
            </a:r>
          </a:p>
        </p:txBody>
      </p:sp>
      <p:sp>
        <p:nvSpPr>
          <p:cNvPr id="439" name="Google Shape;439;p48">
            <a:extLst>
              <a:ext uri="{FF2B5EF4-FFF2-40B4-BE49-F238E27FC236}">
                <a16:creationId xmlns:a16="http://schemas.microsoft.com/office/drawing/2014/main" id="{71EFCDC4-9B4F-4261-801D-1CB262BF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indent="0">
              <a:buChar char=" "/>
            </a:pPr>
            <a:r>
              <a:rPr dirty="0"/>
              <a:t>• </a:t>
            </a:r>
            <a:r>
              <a:rPr b="1" dirty="0">
                <a:solidFill>
                  <a:schemeClr val="accent4"/>
                </a:solidFill>
              </a:rPr>
              <a:t>Vocabulary</a:t>
            </a:r>
            <a:r>
              <a:rPr dirty="0"/>
              <a:t>: which events the model can recognize
• </a:t>
            </a:r>
            <a:r>
              <a:rPr b="1" dirty="0">
                <a:solidFill>
                  <a:schemeClr val="accent4"/>
                </a:solidFill>
              </a:rPr>
              <a:t>Tokens</a:t>
            </a:r>
            <a:r>
              <a:rPr dirty="0"/>
              <a:t>: numerical IDs for those events
• </a:t>
            </a:r>
            <a:r>
              <a:rPr b="1" dirty="0">
                <a:solidFill>
                  <a:schemeClr val="accent4"/>
                </a:solidFill>
              </a:rPr>
              <a:t>Embeddings</a:t>
            </a:r>
            <a:r>
              <a:rPr dirty="0"/>
              <a:t>: learned vector representations
• </a:t>
            </a:r>
            <a:r>
              <a:rPr b="1" dirty="0">
                <a:solidFill>
                  <a:schemeClr val="accent4"/>
                </a:solidFill>
              </a:rPr>
              <a:t>Position/time</a:t>
            </a:r>
            <a:r>
              <a:rPr dirty="0"/>
              <a:t>: where and when events occur
• </a:t>
            </a:r>
            <a:r>
              <a:rPr b="1" dirty="0">
                <a:solidFill>
                  <a:schemeClr val="accent4"/>
                </a:solidFill>
              </a:rPr>
              <a:t>Attention</a:t>
            </a:r>
            <a:r>
              <a:rPr dirty="0"/>
              <a:t>: which context is relevant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dirty="0"/>
              <a:t>Choose the </a:t>
            </a:r>
            <a:r>
              <a:rPr lang="da-DK" dirty="0"/>
              <a:t>model</a:t>
            </a:r>
            <a:r>
              <a:rPr dirty="0"/>
              <a:t> to match the task:</a:t>
            </a:r>
            <a:endParaRPr lang="da-DK" dirty="0"/>
          </a:p>
          <a:p>
            <a:pPr marL="342900" indent="-342900"/>
            <a:r>
              <a:rPr lang="da-DK" dirty="0"/>
              <a:t>R</a:t>
            </a:r>
            <a:r>
              <a:rPr dirty="0" err="1"/>
              <a:t>epresentation</a:t>
            </a:r>
            <a:r>
              <a:rPr dirty="0"/>
              <a:t> learning </a:t>
            </a:r>
            <a:r>
              <a:rPr lang="da-DK" dirty="0"/>
              <a:t>(BERT) </a:t>
            </a:r>
            <a:r>
              <a:rPr dirty="0"/>
              <a:t>or next-event prediction</a:t>
            </a:r>
            <a:r>
              <a:rPr lang="da-DK" dirty="0"/>
              <a:t> (GPT)</a:t>
            </a:r>
            <a:endParaRPr dirty="0"/>
          </a:p>
        </p:txBody>
      </p:sp>
      <p:sp>
        <p:nvSpPr>
          <p:cNvPr id="440" name="Google Shape;440;p48">
            <a:extLst>
              <a:ext uri="{FF2B5EF4-FFF2-40B4-BE49-F238E27FC236}">
                <a16:creationId xmlns:a16="http://schemas.microsoft.com/office/drawing/2014/main" id="{90083FBE-9269-453A-A1F7-5043DD316C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21</a:t>
            </a:fld>
            <a:endParaRPr/>
          </a:p>
        </p:txBody>
      </p:sp>
      <p:sp>
        <p:nvSpPr>
          <p:cNvPr id="441" name="Google Shape;441;p48">
            <a:extLst>
              <a:ext uri="{FF2B5EF4-FFF2-40B4-BE49-F238E27FC236}">
                <a16:creationId xmlns:a16="http://schemas.microsoft.com/office/drawing/2014/main" id="{C27BE052-E25D-45A1-9DE4-91AFB01B7D17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1690117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9">
            <a:extLst>
              <a:ext uri="{FF2B5EF4-FFF2-40B4-BE49-F238E27FC236}">
                <a16:creationId xmlns:a16="http://schemas.microsoft.com/office/drawing/2014/main" id="{233B4621-5576-40B0-8F59-6098B3B7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Discussion: design choices for an EHR transformer</a:t>
            </a:r>
          </a:p>
        </p:txBody>
      </p:sp>
      <p:sp>
        <p:nvSpPr>
          <p:cNvPr id="450" name="Google Shape;450;p49">
            <a:extLst>
              <a:ext uri="{FF2B5EF4-FFF2-40B4-BE49-F238E27FC236}">
                <a16:creationId xmlns:a16="http://schemas.microsoft.com/office/drawing/2014/main" id="{54D6A9F2-8B06-48A6-A374-A377EE01C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da-DK" dirty="0"/>
              <a:t>Q</a:t>
            </a:r>
            <a:r>
              <a:rPr dirty="0"/>
              <a:t>1. When would you choose an encoder (BERT) versus a decoder (GPT) for EHR data</a:t>
            </a:r>
            <a:r>
              <a:rPr lang="da-DK" dirty="0"/>
              <a:t>?</a:t>
            </a:r>
            <a:r>
              <a:rPr lang="en-DK" dirty="0"/>
              <a:t>
Q</a:t>
            </a:r>
            <a:r>
              <a:rPr lang="en-GB" dirty="0"/>
              <a:t>2. How can the model distinguish events on the same day from events five years apart?</a:t>
            </a:r>
            <a:r>
              <a:rPr dirty="0"/>
              <a:t>
</a:t>
            </a:r>
            <a:r>
              <a:rPr lang="da-DK" dirty="0"/>
              <a:t>Q</a:t>
            </a:r>
            <a:r>
              <a:rPr lang="en-DK" dirty="0"/>
              <a:t>3</a:t>
            </a:r>
            <a:r>
              <a:rPr dirty="0"/>
              <a:t>. What is lost</a:t>
            </a:r>
            <a:r>
              <a:rPr lang="da-DK" dirty="0"/>
              <a:t> </a:t>
            </a:r>
            <a:r>
              <a:rPr dirty="0"/>
              <a:t>when laboratory values</a:t>
            </a:r>
            <a:r>
              <a:rPr lang="da-DK" dirty="0"/>
              <a:t> (</a:t>
            </a:r>
            <a:r>
              <a:rPr lang="da-DK" dirty="0" err="1"/>
              <a:t>numbers</a:t>
            </a:r>
            <a:r>
              <a:rPr lang="da-DK" dirty="0"/>
              <a:t>)</a:t>
            </a:r>
            <a:r>
              <a:rPr dirty="0"/>
              <a:t> become tokens?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Q</a:t>
            </a:r>
            <a:r>
              <a:rPr dirty="0"/>
              <a:t>4. </a:t>
            </a:r>
            <a:r>
              <a:rPr lang="en-GB" dirty="0"/>
              <a:t>What does high attention to an earlier diagnosis tell us - and what does it not?</a:t>
            </a:r>
          </a:p>
        </p:txBody>
      </p:sp>
      <p:sp>
        <p:nvSpPr>
          <p:cNvPr id="451" name="Google Shape;451;p49">
            <a:extLst>
              <a:ext uri="{FF2B5EF4-FFF2-40B4-BE49-F238E27FC236}">
                <a16:creationId xmlns:a16="http://schemas.microsoft.com/office/drawing/2014/main" id="{759509D1-E127-412D-8426-9152DF9231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3053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>
            <a:extLst>
              <a:ext uri="{FF2B5EF4-FFF2-40B4-BE49-F238E27FC236}">
                <a16:creationId xmlns:a16="http://schemas.microsoft.com/office/drawing/2014/main" id="{7BD5EB35-6ED6-4F77-AF72-B35168C8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997150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dirty="0">
                <a:solidFill>
                  <a:schemeClr val="accent4"/>
                </a:solidFill>
              </a:rPr>
              <a:t>Part 3</a:t>
            </a:r>
            <a:r>
              <a:rPr lang="da-DK" b="1" dirty="0">
                <a:solidFill>
                  <a:schemeClr val="accent4"/>
                </a:solidFill>
              </a:rPr>
              <a:t>: Using transformers to model EHR and </a:t>
            </a:r>
            <a:r>
              <a:rPr lang="da-DK" b="1" dirty="0" err="1">
                <a:solidFill>
                  <a:schemeClr val="accent4"/>
                </a:solidFill>
              </a:rPr>
              <a:t>genetics</a:t>
            </a:r>
            <a:endParaRPr b="1" dirty="0">
              <a:solidFill>
                <a:schemeClr val="accent4"/>
              </a:solidFill>
            </a:endParaRPr>
          </a:p>
        </p:txBody>
      </p:sp>
      <p:sp>
        <p:nvSpPr>
          <p:cNvPr id="461" name="Google Shape;461;p50">
            <a:extLst>
              <a:ext uri="{FF2B5EF4-FFF2-40B4-BE49-F238E27FC236}">
                <a16:creationId xmlns:a16="http://schemas.microsoft.com/office/drawing/2014/main" id="{BD6977BD-EA25-418C-AE4B-8551C1AEF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3627119"/>
            <a:ext cx="11012400" cy="267535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From </a:t>
            </a:r>
            <a:r>
              <a:rPr lang="da-DK" dirty="0"/>
              <a:t>EHR </a:t>
            </a:r>
            <a:r>
              <a:rPr dirty="0"/>
              <a:t>sequence </a:t>
            </a:r>
            <a:r>
              <a:rPr lang="da-DK" dirty="0"/>
              <a:t>models </a:t>
            </a:r>
            <a:r>
              <a:rPr dirty="0"/>
              <a:t>to application:</a:t>
            </a:r>
            <a:endParaRPr lang="da-DK" dirty="0"/>
          </a:p>
          <a:p>
            <a:pPr marL="342900" indent="-342900"/>
            <a:r>
              <a:rPr lang="en-DK" dirty="0"/>
              <a:t>P</a:t>
            </a:r>
            <a:r>
              <a:rPr dirty="0" err="1"/>
              <a:t>redict</a:t>
            </a:r>
            <a:r>
              <a:rPr dirty="0"/>
              <a:t> future clinical events</a:t>
            </a:r>
            <a:endParaRPr lang="da-DK" dirty="0"/>
          </a:p>
          <a:p>
            <a:pPr marL="342900" indent="-342900"/>
            <a:r>
              <a:rPr lang="da-DK" dirty="0"/>
              <a:t>S</a:t>
            </a:r>
            <a:r>
              <a:rPr dirty="0" err="1"/>
              <a:t>imulate</a:t>
            </a:r>
            <a:r>
              <a:rPr dirty="0"/>
              <a:t> possible disease trajectories</a:t>
            </a:r>
            <a:endParaRPr lang="da-DK" dirty="0"/>
          </a:p>
          <a:p>
            <a:pPr marL="342900" indent="-342900"/>
            <a:r>
              <a:rPr lang="en-DK" dirty="0"/>
              <a:t>Identify patterns in co-morbidities</a:t>
            </a:r>
          </a:p>
          <a:p>
            <a:pPr marL="342900" indent="-342900"/>
            <a:r>
              <a:rPr lang="en-DK" dirty="0"/>
              <a:t>Integrate genetics data</a:t>
            </a:r>
          </a:p>
        </p:txBody>
      </p:sp>
      <p:sp>
        <p:nvSpPr>
          <p:cNvPr id="462" name="Google Shape;462;p50">
            <a:extLst>
              <a:ext uri="{FF2B5EF4-FFF2-40B4-BE49-F238E27FC236}">
                <a16:creationId xmlns:a16="http://schemas.microsoft.com/office/drawing/2014/main" id="{1447BA0D-23FB-48C4-8D92-BCDE289144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23</a:t>
            </a:fld>
            <a:endParaRPr/>
          </a:p>
        </p:txBody>
      </p:sp>
      <p:sp>
        <p:nvSpPr>
          <p:cNvPr id="463" name="Google Shape;463;p50">
            <a:extLst>
              <a:ext uri="{FF2B5EF4-FFF2-40B4-BE49-F238E27FC236}">
                <a16:creationId xmlns:a16="http://schemas.microsoft.com/office/drawing/2014/main" id="{EDE47C05-4344-4F51-A002-DCADB35004AC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 dirty="0">
                <a:solidFill>
                  <a:srgbClr val="666666"/>
                </a:solidFill>
              </a:rPr>
              <a:t>Part 3: EHR-Transformer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1061715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>
            <a:extLst>
              <a:ext uri="{FF2B5EF4-FFF2-40B4-BE49-F238E27FC236}">
                <a16:creationId xmlns:a16="http://schemas.microsoft.com/office/drawing/2014/main" id="{AD890BE4-BC9F-4BE1-B6DA-F43BB248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dirty="0"/>
              <a:t>GPT: </a:t>
            </a:r>
            <a:r>
              <a:rPr dirty="0"/>
              <a:t>Next-token probability </a:t>
            </a:r>
            <a:r>
              <a:rPr lang="da-DK" dirty="0"/>
              <a:t>is</a:t>
            </a:r>
            <a:r>
              <a:rPr dirty="0"/>
              <a:t> conditional disease risk</a:t>
            </a:r>
          </a:p>
        </p:txBody>
      </p:sp>
      <p:sp>
        <p:nvSpPr>
          <p:cNvPr id="470" name="Google Shape;470;p51">
            <a:extLst>
              <a:ext uri="{FF2B5EF4-FFF2-40B4-BE49-F238E27FC236}">
                <a16:creationId xmlns:a16="http://schemas.microsoft.com/office/drawing/2014/main" id="{04ACF881-3051-4D6E-8C9B-7CC00341D6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24</a:t>
            </a:fld>
            <a:endParaRPr/>
          </a:p>
        </p:txBody>
      </p:sp>
      <p:pic>
        <p:nvPicPr>
          <p:cNvPr id="480" name="Google Shape;471;p51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825" y="2753000"/>
            <a:ext cx="5219549" cy="1980650"/>
          </a:xfrm>
          <a:prstGeom prst="rect">
            <a:avLst/>
          </a:prstGeom>
          <a:ln>
            <a:noFill/>
          </a:ln>
        </p:spPr>
      </p:pic>
      <p:pic>
        <p:nvPicPr>
          <p:cNvPr id="481" name="Google Shape;472;p51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100" y="2110350"/>
            <a:ext cx="4639201" cy="2951175"/>
          </a:xfrm>
          <a:prstGeom prst="rect">
            <a:avLst/>
          </a:prstGeom>
          <a:ln>
            <a:noFill/>
          </a:ln>
        </p:spPr>
      </p:pic>
      <p:sp>
        <p:nvSpPr>
          <p:cNvPr id="473" name="Google Shape;473;p51">
            <a:extLst>
              <a:ext uri="{FF2B5EF4-FFF2-40B4-BE49-F238E27FC236}">
                <a16:creationId xmlns:a16="http://schemas.microsoft.com/office/drawing/2014/main" id="{F1745CD8-9065-4E49-9DF4-8331E096E667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474" name="Google Shape;474;p51">
            <a:extLst>
              <a:ext uri="{FF2B5EF4-FFF2-40B4-BE49-F238E27FC236}">
                <a16:creationId xmlns:a16="http://schemas.microsoft.com/office/drawing/2014/main" id="{F28839FA-1BBF-4F41-9600-F7E2592D32A2}"/>
              </a:ext>
            </a:extLst>
          </p:cNvPr>
          <p:cNvSpPr>
            <a:spLocks noGrp="1"/>
          </p:cNvSpPr>
          <p:nvPr/>
        </p:nvSpPr>
        <p:spPr>
          <a:xfrm>
            <a:off x="459150" y="6178950"/>
            <a:ext cx="71808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(‘Post-training methods for language models’ Eyceoz &amp; Stevens)</a:t>
            </a:r>
          </a:p>
        </p:txBody>
      </p:sp>
      <p:sp>
        <p:nvSpPr>
          <p:cNvPr id="475" name="Google Shape;475;p51">
            <a:extLst>
              <a:ext uri="{FF2B5EF4-FFF2-40B4-BE49-F238E27FC236}">
                <a16:creationId xmlns:a16="http://schemas.microsoft.com/office/drawing/2014/main" id="{15D2A1F4-718E-4B6A-B6A0-E87ABA5DBC34}"/>
              </a:ext>
            </a:extLst>
          </p:cNvPr>
          <p:cNvSpPr>
            <a:spLocks noGrp="1"/>
          </p:cNvSpPr>
          <p:nvPr/>
        </p:nvSpPr>
        <p:spPr>
          <a:xfrm>
            <a:off x="6250775" y="6178950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1076467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2">
            <a:extLst>
              <a:ext uri="{FF2B5EF4-FFF2-40B4-BE49-F238E27FC236}">
                <a16:creationId xmlns:a16="http://schemas.microsoft.com/office/drawing/2014/main" id="{CB8C507A-46DB-4494-8291-B0A29D58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Transformers in healthcare require age and time to event</a:t>
            </a:r>
          </a:p>
        </p:txBody>
      </p:sp>
      <p:sp>
        <p:nvSpPr>
          <p:cNvPr id="482" name="Google Shape;482;p52">
            <a:extLst>
              <a:ext uri="{FF2B5EF4-FFF2-40B4-BE49-F238E27FC236}">
                <a16:creationId xmlns:a16="http://schemas.microsoft.com/office/drawing/2014/main" id="{2834A457-AB7A-454F-B944-EF9FE6A44C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25</a:t>
            </a:fld>
            <a:endParaRPr/>
          </a:p>
        </p:txBody>
      </p:sp>
      <p:pic>
        <p:nvPicPr>
          <p:cNvPr id="494" name="Google Shape;483;p5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075" y="1199612"/>
            <a:ext cx="5745095" cy="5436713"/>
          </a:xfrm>
          <a:prstGeom prst="rect">
            <a:avLst/>
          </a:prstGeom>
          <a:ln>
            <a:noFill/>
          </a:ln>
        </p:spPr>
      </p:pic>
      <p:pic>
        <p:nvPicPr>
          <p:cNvPr id="495" name="Google Shape;484;p52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662" y="3965625"/>
            <a:ext cx="5219549" cy="1980650"/>
          </a:xfrm>
          <a:prstGeom prst="rect">
            <a:avLst/>
          </a:prstGeom>
          <a:ln>
            <a:noFill/>
          </a:ln>
        </p:spPr>
      </p:pic>
      <p:sp>
        <p:nvSpPr>
          <p:cNvPr id="485" name="Google Shape;485;p52">
            <a:extLst>
              <a:ext uri="{FF2B5EF4-FFF2-40B4-BE49-F238E27FC236}">
                <a16:creationId xmlns:a16="http://schemas.microsoft.com/office/drawing/2014/main" id="{392C6883-4CB5-4A83-9CC8-8B655AA65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5123248" cy="198065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DELPHI model</a:t>
            </a:r>
            <a:endParaRPr lang="da-DK" dirty="0"/>
          </a:p>
          <a:p>
            <a:pPr marL="342900" indent="-342900"/>
            <a:r>
              <a:rPr lang="en-DK" dirty="0"/>
              <a:t>Decoder-only model (GPT)</a:t>
            </a:r>
          </a:p>
          <a:p>
            <a:pPr marL="342900" indent="-342900"/>
            <a:r>
              <a:rPr lang="en-DK" dirty="0"/>
              <a:t>E</a:t>
            </a:r>
            <a:r>
              <a:rPr dirty="0" err="1"/>
              <a:t>ncode</a:t>
            </a:r>
            <a:r>
              <a:rPr dirty="0"/>
              <a:t> patient age</a:t>
            </a:r>
            <a:endParaRPr lang="da-DK" dirty="0"/>
          </a:p>
          <a:p>
            <a:pPr marL="342900" indent="-342900"/>
            <a:r>
              <a:rPr lang="en-DK" dirty="0"/>
              <a:t>P</a:t>
            </a:r>
            <a:r>
              <a:rPr dirty="0" err="1"/>
              <a:t>redict</a:t>
            </a:r>
            <a:r>
              <a:rPr lang="da-DK" dirty="0"/>
              <a:t>s</a:t>
            </a:r>
            <a:r>
              <a:rPr dirty="0"/>
              <a:t> time to the next event</a:t>
            </a:r>
          </a:p>
        </p:txBody>
      </p:sp>
      <p:sp>
        <p:nvSpPr>
          <p:cNvPr id="489" name="Google Shape;489;p52">
            <a:extLst>
              <a:ext uri="{FF2B5EF4-FFF2-40B4-BE49-F238E27FC236}">
                <a16:creationId xmlns:a16="http://schemas.microsoft.com/office/drawing/2014/main" id="{6AC6A283-7FF4-4FAA-9639-42E1E09BEDFE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3" name="Google Shape;475;p51">
            <a:extLst>
              <a:ext uri="{FF2B5EF4-FFF2-40B4-BE49-F238E27FC236}">
                <a16:creationId xmlns:a16="http://schemas.microsoft.com/office/drawing/2014/main" id="{E71E57A4-31AB-2CDC-9B65-CB07245E6111}"/>
              </a:ext>
            </a:extLst>
          </p:cNvPr>
          <p:cNvSpPr>
            <a:spLocks noGrp="1"/>
          </p:cNvSpPr>
          <p:nvPr/>
        </p:nvSpPr>
        <p:spPr>
          <a:xfrm>
            <a:off x="245011" y="6302475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1804894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6">
            <a:extLst>
              <a:ext uri="{FF2B5EF4-FFF2-40B4-BE49-F238E27FC236}">
                <a16:creationId xmlns:a16="http://schemas.microsoft.com/office/drawing/2014/main" id="{3C1ABC46-8D4D-4559-AF64-7694BD5BD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</p:spPr>
        <p:txBody>
          <a:bodyPr spcFirstLastPara="1" wrap="square" lIns="0" tIns="0" rIns="0" bIns="0" anchor="t">
            <a:noAutofit/>
          </a:bodyPr>
          <a:lstStyle/>
          <a:p>
            <a:pPr lvl="0"/>
            <a:r>
              <a:rPr lang="en-GB"/>
              <a:t>Autoregressive sampling generates multiple possible trajectories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00A1E-BBEF-CA3A-B47B-95EABA106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3931" y="1628775"/>
            <a:ext cx="4927519" cy="4673600"/>
          </a:xfrm>
        </p:spPr>
        <p:txBody>
          <a:bodyPr anchor="ctr"/>
          <a:lstStyle/>
          <a:p>
            <a:r>
              <a:rPr lang="en-DK" dirty="0"/>
              <a:t>We can ask questions about patient future!</a:t>
            </a:r>
          </a:p>
        </p:txBody>
      </p:sp>
      <p:sp>
        <p:nvSpPr>
          <p:cNvPr id="531" name="Google Shape;531;p56">
            <a:extLst>
              <a:ext uri="{FF2B5EF4-FFF2-40B4-BE49-F238E27FC236}">
                <a16:creationId xmlns:a16="http://schemas.microsoft.com/office/drawing/2014/main" id="{99944733-CADB-4976-A463-44BDC12EA2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spcFirstLastPara="1" wrap="square" lIns="0" tIns="0" rIns="0" bIns="0" anchor="b">
            <a:noAutofit/>
          </a:bodyPr>
          <a:lstStyle/>
          <a:p>
            <a:pPr lvl="0"/>
            <a:fld id="{00000000-1234-1234-1234-123412341234}" type="slidenum">
              <a:rPr lang="en-DK"/>
              <a:pPr lvl="0"/>
              <a:t>26</a:t>
            </a:fld>
            <a:endParaRPr lang="en-DK"/>
          </a:p>
        </p:txBody>
      </p:sp>
      <p:pic>
        <p:nvPicPr>
          <p:cNvPr id="540" name="Google Shape;533;p56"/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69627" b="53678"/>
          <a:stretch>
            <a:fillRect/>
          </a:stretch>
        </p:blipFill>
        <p:spPr>
          <a:xfrm>
            <a:off x="588963" y="1591200"/>
            <a:ext cx="5801735" cy="4344268"/>
          </a:xfrm>
          <a:prstGeom prst="rect">
            <a:avLst/>
          </a:prstGeom>
          <a:ln>
            <a:noFill/>
          </a:ln>
        </p:spPr>
      </p:pic>
      <p:sp>
        <p:nvSpPr>
          <p:cNvPr id="535" name="Google Shape;535;p56">
            <a:extLst>
              <a:ext uri="{FF2B5EF4-FFF2-40B4-BE49-F238E27FC236}">
                <a16:creationId xmlns:a16="http://schemas.microsoft.com/office/drawing/2014/main" id="{D1C385EC-3F85-42B3-B853-1C955389FF8D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536" name="Google Shape;536;p56">
            <a:extLst>
              <a:ext uri="{FF2B5EF4-FFF2-40B4-BE49-F238E27FC236}">
                <a16:creationId xmlns:a16="http://schemas.microsoft.com/office/drawing/2014/main" id="{CAB3BC4F-894F-40B7-B004-A7E1A9A9CE39}"/>
              </a:ext>
            </a:extLst>
          </p:cNvPr>
          <p:cNvSpPr>
            <a:spLocks noGrp="1"/>
          </p:cNvSpPr>
          <p:nvPr/>
        </p:nvSpPr>
        <p:spPr>
          <a:xfrm>
            <a:off x="6240875" y="6302375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495791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7">
            <a:extLst>
              <a:ext uri="{FF2B5EF4-FFF2-40B4-BE49-F238E27FC236}">
                <a16:creationId xmlns:a16="http://schemas.microsoft.com/office/drawing/2014/main" id="{EEC83620-40F6-4C23-A8F8-AF204419F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</p:spPr>
        <p:txBody>
          <a:bodyPr spcFirstLastPara="1" wrap="square" lIns="0" tIns="0" rIns="0" bIns="0" anchor="t">
            <a:noAutofit/>
          </a:bodyPr>
          <a:lstStyle/>
          <a:p>
            <a:pPr lvl="0"/>
            <a:r>
              <a:rPr lang="en-GB"/>
              <a:t>Calibration asks whether predicted rates match observed rates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B44BDC-ED69-39AE-7C21-4201D38B3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4636179" cy="4673600"/>
          </a:xfrm>
        </p:spPr>
        <p:txBody>
          <a:bodyPr anchor="ctr"/>
          <a:lstStyle/>
          <a:p>
            <a:pPr marL="76200" indent="0">
              <a:buNone/>
            </a:pPr>
            <a:r>
              <a:rPr lang="en-DK" b="1" dirty="0">
                <a:solidFill>
                  <a:schemeClr val="accent4"/>
                </a:solidFill>
              </a:rPr>
              <a:t>Patient future</a:t>
            </a:r>
          </a:p>
          <a:p>
            <a:r>
              <a:rPr lang="en-DK" dirty="0"/>
              <a:t>Population disease risk</a:t>
            </a:r>
          </a:p>
          <a:p>
            <a:endParaRPr lang="en-GB" dirty="0"/>
          </a:p>
          <a:p>
            <a:r>
              <a:rPr lang="en-GB" dirty="0"/>
              <a:t>Sample multiple possible futures from each patient history</a:t>
            </a:r>
          </a:p>
          <a:p>
            <a:endParaRPr lang="en-GB" dirty="0"/>
          </a:p>
          <a:p>
            <a:r>
              <a:rPr lang="en-GB" dirty="0"/>
              <a:t>Compare predicted and observed rates by disease and age</a:t>
            </a:r>
          </a:p>
        </p:txBody>
      </p:sp>
      <p:sp>
        <p:nvSpPr>
          <p:cNvPr id="543" name="Google Shape;543;p57">
            <a:extLst>
              <a:ext uri="{FF2B5EF4-FFF2-40B4-BE49-F238E27FC236}">
                <a16:creationId xmlns:a16="http://schemas.microsoft.com/office/drawing/2014/main" id="{F471CFA1-50CE-4D58-80A7-1744D2BB6A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spcFirstLastPara="1" wrap="square" lIns="0" tIns="0" rIns="0" bIns="0" anchor="b">
            <a:noAutofit/>
          </a:bodyPr>
          <a:lstStyle/>
          <a:p>
            <a:pPr lvl="0"/>
            <a:fld id="{00000000-1234-1234-1234-123412341234}" type="slidenum">
              <a:rPr lang="en-DK"/>
              <a:pPr lvl="0"/>
              <a:t>27</a:t>
            </a:fld>
            <a:endParaRPr lang="en-DK"/>
          </a:p>
        </p:txBody>
      </p:sp>
      <p:pic>
        <p:nvPicPr>
          <p:cNvPr id="558" name="Google Shape;546;p57"/>
          <p:cNvPicPr>
            <a:picLocks noChangeAspect="1"/>
          </p:cNvPicPr>
          <p:nvPr/>
        </p:nvPicPr>
        <p:blipFill>
          <a:blip r:embed="rId3">
            <a:alphaModFix/>
          </a:blip>
          <a:srcRect l="30574" r="27692" b="49972"/>
          <a:stretch>
            <a:fillRect/>
          </a:stretch>
        </p:blipFill>
        <p:spPr>
          <a:xfrm>
            <a:off x="5459201" y="2002935"/>
            <a:ext cx="6506849" cy="3829593"/>
          </a:xfrm>
          <a:prstGeom prst="rect">
            <a:avLst/>
          </a:prstGeom>
          <a:ln>
            <a:noFill/>
          </a:ln>
        </p:spPr>
      </p:pic>
      <p:sp>
        <p:nvSpPr>
          <p:cNvPr id="553" name="Google Shape;553;p57">
            <a:extLst>
              <a:ext uri="{FF2B5EF4-FFF2-40B4-BE49-F238E27FC236}">
                <a16:creationId xmlns:a16="http://schemas.microsoft.com/office/drawing/2014/main" id="{9C84D55B-9AF1-43A7-BD03-AE53998B8892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554" name="Google Shape;554;p57">
            <a:extLst>
              <a:ext uri="{FF2B5EF4-FFF2-40B4-BE49-F238E27FC236}">
                <a16:creationId xmlns:a16="http://schemas.microsoft.com/office/drawing/2014/main" id="{9A78A798-4B10-47ED-BE74-A9F150D7EB1F}"/>
              </a:ext>
            </a:extLst>
          </p:cNvPr>
          <p:cNvSpPr>
            <a:spLocks noGrp="1"/>
          </p:cNvSpPr>
          <p:nvPr/>
        </p:nvSpPr>
        <p:spPr>
          <a:xfrm>
            <a:off x="6498850" y="6351150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1826585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8">
            <a:extLst>
              <a:ext uri="{FF2B5EF4-FFF2-40B4-BE49-F238E27FC236}">
                <a16:creationId xmlns:a16="http://schemas.microsoft.com/office/drawing/2014/main" id="{AB9CE271-5EC3-4DC9-BE15-4B50057C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88" cy="863599"/>
          </a:xfrm>
        </p:spPr>
        <p:txBody>
          <a:bodyPr spcFirstLastPara="1" wrap="square" lIns="0" tIns="0" rIns="0" bIns="0" anchor="t">
            <a:noAutofit/>
          </a:bodyPr>
          <a:lstStyle/>
          <a:p>
            <a:pPr lvl="0"/>
            <a:r>
              <a:rPr lang="en-GB"/>
              <a:t>Comorbidities update future disease risk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69D20-DF2F-6E1A-0552-AA0A9CCBB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2637" y="1628775"/>
            <a:ext cx="5248814" cy="4673600"/>
          </a:xfrm>
        </p:spPr>
        <p:txBody>
          <a:bodyPr/>
          <a:lstStyle/>
          <a:p>
            <a:pPr marL="76200" indent="0">
              <a:buNone/>
            </a:pPr>
            <a:r>
              <a:rPr lang="en-DK" b="1" dirty="0">
                <a:solidFill>
                  <a:schemeClr val="accent4"/>
                </a:solidFill>
              </a:rPr>
              <a:t>Disease trajectories</a:t>
            </a:r>
          </a:p>
          <a:p>
            <a:r>
              <a:rPr lang="en-DK" dirty="0"/>
              <a:t>New events update the model’s estimate of what happen next</a:t>
            </a:r>
          </a:p>
          <a:p>
            <a:endParaRPr lang="en-DK" dirty="0"/>
          </a:p>
          <a:p>
            <a:r>
              <a:rPr lang="en-DK" dirty="0"/>
              <a:t>Getting a new diagnosis is a chain of events (co-morbidities)</a:t>
            </a:r>
          </a:p>
          <a:p>
            <a:endParaRPr lang="en-DK" dirty="0"/>
          </a:p>
          <a:p>
            <a:r>
              <a:rPr lang="en-DK" dirty="0"/>
              <a:t>Risk is dynamic – not a fixed patient score (</a:t>
            </a:r>
            <a:r>
              <a:rPr lang="en-DK" i="1" dirty="0"/>
              <a:t>genetics</a:t>
            </a:r>
            <a:r>
              <a:rPr lang="en-DK" dirty="0"/>
              <a:t>)</a:t>
            </a:r>
          </a:p>
          <a:p>
            <a:pPr marL="76200" indent="0">
              <a:buNone/>
            </a:pPr>
            <a:endParaRPr lang="en-DK" dirty="0"/>
          </a:p>
        </p:txBody>
      </p:sp>
      <p:sp>
        <p:nvSpPr>
          <p:cNvPr id="561" name="Google Shape;561;p58">
            <a:extLst>
              <a:ext uri="{FF2B5EF4-FFF2-40B4-BE49-F238E27FC236}">
                <a16:creationId xmlns:a16="http://schemas.microsoft.com/office/drawing/2014/main" id="{27F4413F-DDA4-41C2-A0FA-459B4E84C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spcFirstLastPara="1" wrap="square" lIns="0" tIns="0" rIns="0" bIns="0" anchor="b">
            <a:noAutofit/>
          </a:bodyPr>
          <a:lstStyle/>
          <a:p>
            <a:pPr lvl="0"/>
            <a:fld id="{00000000-1234-1234-1234-123412341234}" type="slidenum">
              <a:rPr lang="en-DK"/>
              <a:pPr lvl="0"/>
              <a:t>28</a:t>
            </a:fld>
            <a:endParaRPr lang="en-DK"/>
          </a:p>
        </p:txBody>
      </p:sp>
      <p:pic>
        <p:nvPicPr>
          <p:cNvPr id="575" name="Google Shape;562;p58"/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65801"/>
          <a:stretch/>
        </p:blipFill>
        <p:spPr>
          <a:xfrm>
            <a:off x="212575" y="1639988"/>
            <a:ext cx="5480775" cy="2147319"/>
          </a:xfrm>
          <a:prstGeom prst="rect">
            <a:avLst/>
          </a:prstGeom>
          <a:ln>
            <a:noFill/>
          </a:ln>
        </p:spPr>
      </p:pic>
      <p:pic>
        <p:nvPicPr>
          <p:cNvPr id="577" name="Google Shape;564;p58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65801"/>
          <a:stretch/>
        </p:blipFill>
        <p:spPr>
          <a:xfrm>
            <a:off x="615225" y="4100362"/>
            <a:ext cx="5480775" cy="2147319"/>
          </a:xfrm>
          <a:prstGeom prst="rect">
            <a:avLst/>
          </a:prstGeom>
          <a:ln>
            <a:noFill/>
          </a:ln>
        </p:spPr>
      </p:pic>
      <p:sp>
        <p:nvSpPr>
          <p:cNvPr id="565" name="Google Shape;565;p58">
            <a:extLst>
              <a:ext uri="{FF2B5EF4-FFF2-40B4-BE49-F238E27FC236}">
                <a16:creationId xmlns:a16="http://schemas.microsoft.com/office/drawing/2014/main" id="{7C3B9DAE-6ED8-43C0-8A4F-B1955EE40599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566" name="Google Shape;566;p58">
            <a:extLst>
              <a:ext uri="{FF2B5EF4-FFF2-40B4-BE49-F238E27FC236}">
                <a16:creationId xmlns:a16="http://schemas.microsoft.com/office/drawing/2014/main" id="{23512893-5B16-4601-8027-294608256814}"/>
              </a:ext>
            </a:extLst>
          </p:cNvPr>
          <p:cNvSpPr>
            <a:spLocks noGrp="1"/>
          </p:cNvSpPr>
          <p:nvPr/>
        </p:nvSpPr>
        <p:spPr>
          <a:xfrm>
            <a:off x="1730200" y="1465075"/>
            <a:ext cx="3711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chemeClr val="dk1"/>
                </a:solidFill>
              </a:rPr>
              <a:t>Chronic Kidney Disease</a:t>
            </a:r>
          </a:p>
        </p:txBody>
      </p:sp>
      <p:sp>
        <p:nvSpPr>
          <p:cNvPr id="568" name="Google Shape;568;p58">
            <a:extLst>
              <a:ext uri="{FF2B5EF4-FFF2-40B4-BE49-F238E27FC236}">
                <a16:creationId xmlns:a16="http://schemas.microsoft.com/office/drawing/2014/main" id="{0E993AF5-CD47-4A22-98B9-5D564F00F114}"/>
              </a:ext>
            </a:extLst>
          </p:cNvPr>
          <p:cNvSpPr>
            <a:spLocks noGrp="1"/>
          </p:cNvSpPr>
          <p:nvPr/>
        </p:nvSpPr>
        <p:spPr>
          <a:xfrm>
            <a:off x="1499800" y="3942881"/>
            <a:ext cx="37116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chemeClr val="dk1"/>
                </a:solidFill>
              </a:rPr>
              <a:t>Heart Failure</a:t>
            </a:r>
          </a:p>
        </p:txBody>
      </p:sp>
      <p:sp>
        <p:nvSpPr>
          <p:cNvPr id="569" name="Google Shape;569;p58">
            <a:extLst>
              <a:ext uri="{FF2B5EF4-FFF2-40B4-BE49-F238E27FC236}">
                <a16:creationId xmlns:a16="http://schemas.microsoft.com/office/drawing/2014/main" id="{F3662F3A-FDC2-4FF8-A99A-115609E12846}"/>
              </a:ext>
            </a:extLst>
          </p:cNvPr>
          <p:cNvSpPr>
            <a:spLocks noGrp="1"/>
          </p:cNvSpPr>
          <p:nvPr/>
        </p:nvSpPr>
        <p:spPr>
          <a:xfrm>
            <a:off x="0" y="6365286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541655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3">
            <a:extLst>
              <a:ext uri="{FF2B5EF4-FFF2-40B4-BE49-F238E27FC236}">
                <a16:creationId xmlns:a16="http://schemas.microsoft.com/office/drawing/2014/main" id="{D1953957-693A-4CAF-BC63-A34FE6495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Embedding space groups diagnoses by learned context</a:t>
            </a:r>
          </a:p>
        </p:txBody>
      </p:sp>
      <p:sp>
        <p:nvSpPr>
          <p:cNvPr id="725" name="Google Shape;725;p73">
            <a:extLst>
              <a:ext uri="{FF2B5EF4-FFF2-40B4-BE49-F238E27FC236}">
                <a16:creationId xmlns:a16="http://schemas.microsoft.com/office/drawing/2014/main" id="{245D79FC-EF20-4943-A280-97764C744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4"/>
            <a:ext cx="3838237" cy="4772025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a-DK" dirty="0" err="1"/>
              <a:t>Disease</a:t>
            </a:r>
            <a:r>
              <a:rPr lang="da-DK" dirty="0"/>
              <a:t> </a:t>
            </a:r>
            <a:r>
              <a:rPr lang="da-DK" dirty="0" err="1"/>
              <a:t>embedding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from </a:t>
            </a:r>
            <a:r>
              <a:rPr lang="da-DK" dirty="0" err="1"/>
              <a:t>trajectories</a:t>
            </a:r>
            <a:endParaRPr lang="da-DK"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 lang="da-DK"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a-DK" dirty="0" err="1"/>
              <a:t>Completely</a:t>
            </a:r>
            <a:r>
              <a:rPr lang="da-DK" dirty="0"/>
              <a:t> </a:t>
            </a:r>
            <a:r>
              <a:rPr lang="da-DK" dirty="0" err="1"/>
              <a:t>unsupervised</a:t>
            </a:r>
            <a:endParaRPr lang="da-DK"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 lang="da-DK"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a-DK" dirty="0"/>
              <a:t>Model </a:t>
            </a:r>
            <a:r>
              <a:rPr lang="da-DK" dirty="0" err="1"/>
              <a:t>learns</a:t>
            </a:r>
            <a:r>
              <a:rPr lang="da-DK" dirty="0"/>
              <a:t> </a:t>
            </a:r>
            <a:r>
              <a:rPr lang="da-DK" dirty="0" err="1"/>
              <a:t>disease</a:t>
            </a:r>
            <a:r>
              <a:rPr lang="da-DK" dirty="0"/>
              <a:t> </a:t>
            </a:r>
            <a:r>
              <a:rPr lang="da-DK" dirty="0" err="1"/>
              <a:t>similarity</a:t>
            </a:r>
            <a:endParaRPr lang="da-DK" dirty="0"/>
          </a:p>
        </p:txBody>
      </p:sp>
      <p:sp>
        <p:nvSpPr>
          <p:cNvPr id="726" name="Google Shape;726;p73">
            <a:extLst>
              <a:ext uri="{FF2B5EF4-FFF2-40B4-BE49-F238E27FC236}">
                <a16:creationId xmlns:a16="http://schemas.microsoft.com/office/drawing/2014/main" id="{79A68E94-0E59-4E48-AD12-1DDCA634D98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29</a:t>
            </a:fld>
            <a:endParaRPr/>
          </a:p>
        </p:txBody>
      </p:sp>
      <p:pic>
        <p:nvPicPr>
          <p:cNvPr id="735" name="Google Shape;728;p7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7200" y="1305200"/>
            <a:ext cx="6218124" cy="5354701"/>
          </a:xfrm>
          <a:prstGeom prst="rect">
            <a:avLst/>
          </a:prstGeom>
          <a:ln>
            <a:noFill/>
          </a:ln>
        </p:spPr>
      </p:pic>
      <p:sp>
        <p:nvSpPr>
          <p:cNvPr id="729" name="Google Shape;729;p73">
            <a:extLst>
              <a:ext uri="{FF2B5EF4-FFF2-40B4-BE49-F238E27FC236}">
                <a16:creationId xmlns:a16="http://schemas.microsoft.com/office/drawing/2014/main" id="{71BBE167-5D87-4981-83DF-7684CD496D5B}"/>
              </a:ext>
            </a:extLst>
          </p:cNvPr>
          <p:cNvSpPr>
            <a:spLocks noGrp="1"/>
          </p:cNvSpPr>
          <p:nvPr/>
        </p:nvSpPr>
        <p:spPr>
          <a:xfrm>
            <a:off x="4427200" y="1305200"/>
            <a:ext cx="383100" cy="32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175" tIns="72175" rIns="72175" bIns="7217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105"/>
          </a:p>
        </p:txBody>
      </p:sp>
      <p:sp>
        <p:nvSpPr>
          <p:cNvPr id="730" name="Google Shape;730;p73">
            <a:extLst>
              <a:ext uri="{FF2B5EF4-FFF2-40B4-BE49-F238E27FC236}">
                <a16:creationId xmlns:a16="http://schemas.microsoft.com/office/drawing/2014/main" id="{EDB8D299-A5CF-4FE6-833F-F9CEF8F8ACB0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3543868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2">
            <a:extLst>
              <a:ext uri="{FF2B5EF4-FFF2-40B4-BE49-F238E27FC236}">
                <a16:creationId xmlns:a16="http://schemas.microsoft.com/office/drawing/2014/main" id="{CC775D38-0F9E-4622-B4B0-AF936E40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dirty="0"/>
              <a:t>Performance: D</a:t>
            </a:r>
            <a:r>
              <a:rPr dirty="0" err="1"/>
              <a:t>epend</a:t>
            </a:r>
            <a:r>
              <a:rPr lang="da-DK" dirty="0"/>
              <a:t>s</a:t>
            </a:r>
            <a:r>
              <a:rPr dirty="0"/>
              <a:t> on disease and horizon</a:t>
            </a:r>
          </a:p>
        </p:txBody>
      </p:sp>
      <p:sp>
        <p:nvSpPr>
          <p:cNvPr id="615" name="Google Shape;615;p62">
            <a:extLst>
              <a:ext uri="{FF2B5EF4-FFF2-40B4-BE49-F238E27FC236}">
                <a16:creationId xmlns:a16="http://schemas.microsoft.com/office/drawing/2014/main" id="{5D1A95E8-62EE-43B3-88A6-947B6EDF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75" y="1972675"/>
            <a:ext cx="5619000" cy="43299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dirty="0"/>
              <a:t>Performance depends on: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• available modalities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• outcome prevalence and complexity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• prediction horizon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dirty="0"/>
              <a:t>• cohort size and follow-up</a:t>
            </a:r>
          </a:p>
        </p:txBody>
      </p:sp>
      <p:sp>
        <p:nvSpPr>
          <p:cNvPr id="616" name="Google Shape;616;p62">
            <a:extLst>
              <a:ext uri="{FF2B5EF4-FFF2-40B4-BE49-F238E27FC236}">
                <a16:creationId xmlns:a16="http://schemas.microsoft.com/office/drawing/2014/main" id="{34496DB6-A4A3-45E5-9048-86862C4873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30</a:t>
            </a:fld>
            <a:endParaRPr/>
          </a:p>
        </p:txBody>
      </p:sp>
      <p:pic>
        <p:nvPicPr>
          <p:cNvPr id="624" name="Google Shape;617;p62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5478" y="1628775"/>
            <a:ext cx="5330147" cy="4673800"/>
          </a:xfrm>
          <a:prstGeom prst="rect">
            <a:avLst/>
          </a:prstGeom>
          <a:ln>
            <a:noFill/>
          </a:ln>
        </p:spPr>
      </p:pic>
      <p:sp>
        <p:nvSpPr>
          <p:cNvPr id="618" name="Google Shape;618;p62">
            <a:extLst>
              <a:ext uri="{FF2B5EF4-FFF2-40B4-BE49-F238E27FC236}">
                <a16:creationId xmlns:a16="http://schemas.microsoft.com/office/drawing/2014/main" id="{6590F2AF-D063-4BA6-A1AF-3CB6F755F31E}"/>
              </a:ext>
            </a:extLst>
          </p:cNvPr>
          <p:cNvSpPr>
            <a:spLocks noGrp="1"/>
          </p:cNvSpPr>
          <p:nvPr/>
        </p:nvSpPr>
        <p:spPr>
          <a:xfrm>
            <a:off x="9647075" y="6302475"/>
            <a:ext cx="20709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(Hager et. al 2026)</a:t>
            </a:r>
          </a:p>
        </p:txBody>
      </p:sp>
      <p:sp>
        <p:nvSpPr>
          <p:cNvPr id="619" name="Google Shape;619;p62">
            <a:extLst>
              <a:ext uri="{FF2B5EF4-FFF2-40B4-BE49-F238E27FC236}">
                <a16:creationId xmlns:a16="http://schemas.microsoft.com/office/drawing/2014/main" id="{68D30A30-D000-4A56-9C93-2F329F1467FA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652333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>
            <a:extLst>
              <a:ext uri="{FF2B5EF4-FFF2-40B4-BE49-F238E27FC236}">
                <a16:creationId xmlns:a16="http://schemas.microsoft.com/office/drawing/2014/main" id="{D9028F11-3E2F-4613-8A08-BB5B998C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Multiple modalities can </a:t>
            </a:r>
            <a:r>
              <a:rPr lang="da-DK" dirty="0" err="1"/>
              <a:t>be</a:t>
            </a:r>
            <a:r>
              <a:rPr lang="da-DK" dirty="0"/>
              <a:t> modeled </a:t>
            </a:r>
            <a:endParaRPr dirty="0"/>
          </a:p>
        </p:txBody>
      </p:sp>
      <p:sp>
        <p:nvSpPr>
          <p:cNvPr id="496" name="Google Shape;496;p53">
            <a:extLst>
              <a:ext uri="{FF2B5EF4-FFF2-40B4-BE49-F238E27FC236}">
                <a16:creationId xmlns:a16="http://schemas.microsoft.com/office/drawing/2014/main" id="{BC2E6481-7D03-40A0-B824-27380B4169D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31</a:t>
            </a:fld>
            <a:endParaRPr/>
          </a:p>
        </p:txBody>
      </p:sp>
      <p:pic>
        <p:nvPicPr>
          <p:cNvPr id="505" name="Google Shape;497;p53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2756"/>
          <a:stretch/>
        </p:blipFill>
        <p:spPr>
          <a:xfrm>
            <a:off x="2857500" y="1636825"/>
            <a:ext cx="9182100" cy="3111099"/>
          </a:xfrm>
          <a:prstGeom prst="rect">
            <a:avLst/>
          </a:prstGeom>
          <a:ln>
            <a:noFill/>
          </a:ln>
        </p:spPr>
      </p:pic>
      <p:sp>
        <p:nvSpPr>
          <p:cNvPr id="498" name="Google Shape;498;p53">
            <a:extLst>
              <a:ext uri="{FF2B5EF4-FFF2-40B4-BE49-F238E27FC236}">
                <a16:creationId xmlns:a16="http://schemas.microsoft.com/office/drawing/2014/main" id="{9F2532D8-39DA-4639-A479-620C2A0F8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65472" y="6166925"/>
            <a:ext cx="2333100" cy="4248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1000"/>
              </a:spcBef>
              <a:spcAft>
                <a:spcPts val="0"/>
              </a:spcAft>
              <a:buNone/>
            </a:pPr>
            <a:r>
              <a:rPr sz="1400">
                <a:solidFill>
                  <a:srgbClr val="666666"/>
                </a:solidFill>
              </a:rPr>
              <a:t>(Zhang et. al 2026)</a:t>
            </a:r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0D015C96-DCBB-4CD3-A3D3-6A070E66C8BD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500" name="Google Shape;500;p53">
            <a:extLst>
              <a:ext uri="{FF2B5EF4-FFF2-40B4-BE49-F238E27FC236}">
                <a16:creationId xmlns:a16="http://schemas.microsoft.com/office/drawing/2014/main" id="{AE225648-D18F-4269-8F6B-715BB49F8A62}"/>
              </a:ext>
            </a:extLst>
          </p:cNvPr>
          <p:cNvSpPr>
            <a:spLocks noGrp="1"/>
          </p:cNvSpPr>
          <p:nvPr/>
        </p:nvSpPr>
        <p:spPr>
          <a:xfrm>
            <a:off x="468175" y="5222600"/>
            <a:ext cx="93150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</a:rPr>
              <a:t>≈230,000 clinical tokens → shared 768-dimensional embeddings</a:t>
            </a:r>
          </a:p>
        </p:txBody>
      </p:sp>
      <p:pic>
        <p:nvPicPr>
          <p:cNvPr id="509" name="Google Shape;501;p53"/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77131"/>
          <a:stretch/>
        </p:blipFill>
        <p:spPr>
          <a:xfrm>
            <a:off x="82575" y="1725325"/>
            <a:ext cx="2718403" cy="311107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8555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3">
            <a:extLst>
              <a:ext uri="{FF2B5EF4-FFF2-40B4-BE49-F238E27FC236}">
                <a16:creationId xmlns:a16="http://schemas.microsoft.com/office/drawing/2014/main" id="{F160DDFB-8177-4299-B29C-C385E71D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-DK" dirty="0"/>
              <a:t>Can </a:t>
            </a:r>
            <a:r>
              <a:rPr lang="da-DK" dirty="0" err="1"/>
              <a:t>EHRs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combined</a:t>
            </a:r>
            <a:r>
              <a:rPr lang="da-DK" dirty="0"/>
              <a:t> with </a:t>
            </a:r>
            <a:r>
              <a:rPr lang="da-DK" dirty="0" err="1"/>
              <a:t>genomics</a:t>
            </a:r>
            <a:r>
              <a:rPr lang="da-DK" dirty="0"/>
              <a:t>?</a:t>
            </a:r>
            <a:endParaRPr dirty="0"/>
          </a:p>
        </p:txBody>
      </p:sp>
      <p:sp>
        <p:nvSpPr>
          <p:cNvPr id="626" name="Google Shape;626;p63">
            <a:extLst>
              <a:ext uri="{FF2B5EF4-FFF2-40B4-BE49-F238E27FC236}">
                <a16:creationId xmlns:a16="http://schemas.microsoft.com/office/drawing/2014/main" id="{A27DE914-6469-40FF-905F-98564C7E1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70" y="1628775"/>
            <a:ext cx="65817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dirty="0">
                <a:solidFill>
                  <a:schemeClr val="accent4"/>
                </a:solidFill>
              </a:rPr>
              <a:t>Possible representations</a:t>
            </a:r>
          </a:p>
          <a:p>
            <a:pPr marL="342900" indent="-342900"/>
            <a:r>
              <a:rPr dirty="0"/>
              <a:t>PRS tokens</a:t>
            </a:r>
          </a:p>
          <a:p>
            <a:pPr marL="342900" indent="-342900"/>
            <a:r>
              <a:rPr lang="da-DK" dirty="0"/>
              <a:t>G</a:t>
            </a:r>
            <a:r>
              <a:rPr dirty="0" err="1"/>
              <a:t>ene</a:t>
            </a:r>
            <a:r>
              <a:rPr dirty="0"/>
              <a:t>-level burden scores</a:t>
            </a:r>
          </a:p>
          <a:p>
            <a:pPr marL="342900" indent="-342900"/>
            <a:r>
              <a:rPr lang="da-DK" dirty="0"/>
              <a:t>G</a:t>
            </a:r>
            <a:r>
              <a:rPr dirty="0" err="1"/>
              <a:t>enomic</a:t>
            </a:r>
            <a:r>
              <a:rPr dirty="0"/>
              <a:t> embeddings</a:t>
            </a:r>
            <a:r>
              <a:rPr lang="da-DK" dirty="0"/>
              <a:t> (EIR-FM)</a:t>
            </a:r>
            <a:endParaRPr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dirty="0">
                <a:solidFill>
                  <a:schemeClr val="accent4"/>
                </a:solidFill>
              </a:rPr>
              <a:t>Key challenges</a:t>
            </a:r>
          </a:p>
          <a:p>
            <a:pPr marL="342900" indent="-342900"/>
            <a:r>
              <a:rPr lang="da-DK" dirty="0"/>
              <a:t>D</a:t>
            </a:r>
            <a:r>
              <a:rPr dirty="0" err="1"/>
              <a:t>imensionality</a:t>
            </a:r>
            <a:r>
              <a:rPr dirty="0"/>
              <a:t> and scale</a:t>
            </a:r>
          </a:p>
          <a:p>
            <a:pPr marL="342900" indent="-342900"/>
            <a:r>
              <a:rPr lang="da-DK" dirty="0"/>
              <a:t>A</a:t>
            </a:r>
            <a:r>
              <a:rPr dirty="0" err="1"/>
              <a:t>ncestry</a:t>
            </a:r>
            <a:r>
              <a:rPr dirty="0"/>
              <a:t> bias</a:t>
            </a:r>
          </a:p>
          <a:p>
            <a:pPr marL="342900" indent="-342900"/>
            <a:r>
              <a:rPr lang="da-DK" dirty="0"/>
              <a:t>I</a:t>
            </a:r>
            <a:r>
              <a:rPr dirty="0" err="1"/>
              <a:t>nterpretability</a:t>
            </a:r>
            <a:endParaRPr dirty="0"/>
          </a:p>
        </p:txBody>
      </p:sp>
      <p:sp>
        <p:nvSpPr>
          <p:cNvPr id="627" name="Google Shape;627;p63">
            <a:extLst>
              <a:ext uri="{FF2B5EF4-FFF2-40B4-BE49-F238E27FC236}">
                <a16:creationId xmlns:a16="http://schemas.microsoft.com/office/drawing/2014/main" id="{A6CE9231-F0A2-4538-A8CA-989803E806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32</a:t>
            </a:fld>
            <a:endParaRPr/>
          </a:p>
        </p:txBody>
      </p:sp>
      <p:pic>
        <p:nvPicPr>
          <p:cNvPr id="632" name="Google Shape;628;p6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3737" y="2017762"/>
            <a:ext cx="3895725" cy="389572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796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5">
            <a:extLst>
              <a:ext uri="{FF2B5EF4-FFF2-40B4-BE49-F238E27FC236}">
                <a16:creationId xmlns:a16="http://schemas.microsoft.com/office/drawing/2014/main" id="{40D8535C-CE8E-4EBF-87D4-CABF8B75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PRS and biomarkers add complementary predictive information</a:t>
            </a:r>
          </a:p>
        </p:txBody>
      </p:sp>
      <p:sp>
        <p:nvSpPr>
          <p:cNvPr id="645" name="Google Shape;645;p65">
            <a:extLst>
              <a:ext uri="{FF2B5EF4-FFF2-40B4-BE49-F238E27FC236}">
                <a16:creationId xmlns:a16="http://schemas.microsoft.com/office/drawing/2014/main" id="{593C1B3E-E4A1-4456-A36C-E5C4081BCF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33</a:t>
            </a:fld>
            <a:endParaRPr/>
          </a:p>
        </p:txBody>
      </p:sp>
      <p:pic>
        <p:nvPicPr>
          <p:cNvPr id="656" name="Google Shape;647;p65"/>
          <p:cNvPicPr>
            <a:picLocks noChangeAspect="1"/>
          </p:cNvPicPr>
          <p:nvPr/>
        </p:nvPicPr>
        <p:blipFill>
          <a:blip r:embed="rId3">
            <a:alphaModFix/>
          </a:blip>
          <a:srcRect r="50430"/>
          <a:stretch>
            <a:fillRect/>
          </a:stretch>
        </p:blipFill>
        <p:spPr>
          <a:xfrm>
            <a:off x="5537201" y="1230887"/>
            <a:ext cx="6321412" cy="5236750"/>
          </a:xfrm>
          <a:prstGeom prst="rect">
            <a:avLst/>
          </a:prstGeom>
          <a:ln>
            <a:noFill/>
          </a:ln>
        </p:spPr>
      </p:pic>
      <p:sp>
        <p:nvSpPr>
          <p:cNvPr id="648" name="Google Shape;648;p65">
            <a:extLst>
              <a:ext uri="{FF2B5EF4-FFF2-40B4-BE49-F238E27FC236}">
                <a16:creationId xmlns:a16="http://schemas.microsoft.com/office/drawing/2014/main" id="{94863B30-12A9-4393-B059-A3E7F3A5E5A1}"/>
              </a:ext>
            </a:extLst>
          </p:cNvPr>
          <p:cNvSpPr>
            <a:spLocks noGrp="1"/>
          </p:cNvSpPr>
          <p:nvPr/>
        </p:nvSpPr>
        <p:spPr>
          <a:xfrm>
            <a:off x="660776" y="2383750"/>
            <a:ext cx="356700" cy="3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175" tIns="72175" rIns="72175" bIns="7217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105"/>
          </a:p>
        </p:txBody>
      </p:sp>
      <p:sp>
        <p:nvSpPr>
          <p:cNvPr id="649" name="Google Shape;649;p65">
            <a:extLst>
              <a:ext uri="{FF2B5EF4-FFF2-40B4-BE49-F238E27FC236}">
                <a16:creationId xmlns:a16="http://schemas.microsoft.com/office/drawing/2014/main" id="{1B347117-C3EB-4FEF-97B0-B9D07527D208}"/>
              </a:ext>
            </a:extLst>
          </p:cNvPr>
          <p:cNvSpPr>
            <a:spLocks noGrp="1"/>
          </p:cNvSpPr>
          <p:nvPr/>
        </p:nvSpPr>
        <p:spPr>
          <a:xfrm>
            <a:off x="5964001" y="2312550"/>
            <a:ext cx="356700" cy="30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175" tIns="72175" rIns="72175" bIns="7217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105"/>
          </a:p>
        </p:txBody>
      </p:sp>
      <p:sp>
        <p:nvSpPr>
          <p:cNvPr id="650" name="Google Shape;650;p65">
            <a:extLst>
              <a:ext uri="{FF2B5EF4-FFF2-40B4-BE49-F238E27FC236}">
                <a16:creationId xmlns:a16="http://schemas.microsoft.com/office/drawing/2014/main" id="{5AC04BF6-E23B-44B5-8ACE-FF317BF9A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2041811"/>
            <a:ext cx="5362163" cy="4425826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a-DK" b="1" dirty="0">
                <a:solidFill>
                  <a:schemeClr val="accent4"/>
                </a:solidFill>
              </a:rPr>
              <a:t>PRS </a:t>
            </a:r>
            <a:r>
              <a:rPr lang="da-DK" b="1" dirty="0" err="1">
                <a:solidFill>
                  <a:schemeClr val="accent4"/>
                </a:solidFill>
              </a:rPr>
              <a:t>can</a:t>
            </a:r>
            <a:r>
              <a:rPr lang="da-DK" b="1" dirty="0">
                <a:solidFill>
                  <a:schemeClr val="accent4"/>
                </a:solidFill>
              </a:rPr>
              <a:t> </a:t>
            </a:r>
            <a:r>
              <a:rPr lang="da-DK" b="1" dirty="0" err="1">
                <a:solidFill>
                  <a:schemeClr val="accent4"/>
                </a:solidFill>
              </a:rPr>
              <a:t>add</a:t>
            </a:r>
            <a:r>
              <a:rPr lang="da-DK" b="1" dirty="0">
                <a:solidFill>
                  <a:schemeClr val="accent4"/>
                </a:solidFill>
              </a:rPr>
              <a:t> information</a:t>
            </a:r>
          </a:p>
          <a:p>
            <a:pPr marL="342900" indent="-342900"/>
            <a:r>
              <a:rPr lang="da-DK" dirty="0" err="1"/>
              <a:t>Combining</a:t>
            </a:r>
            <a:r>
              <a:rPr lang="da-DK" dirty="0"/>
              <a:t> PRS with EHR data</a:t>
            </a:r>
          </a:p>
          <a:p>
            <a:pPr marL="342900" indent="-342900"/>
            <a:r>
              <a:rPr lang="da-DK" dirty="0"/>
              <a:t>Just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token</a:t>
            </a:r>
            <a:r>
              <a:rPr lang="da-DK" dirty="0"/>
              <a:t>(s)!</a:t>
            </a:r>
          </a:p>
          <a:p>
            <a:pPr marL="342900" indent="-342900"/>
            <a:r>
              <a:rPr lang="da-DK" dirty="0"/>
              <a:t>Can </a:t>
            </a:r>
            <a:r>
              <a:rPr lang="da-DK" dirty="0" err="1"/>
              <a:t>improve</a:t>
            </a:r>
            <a:r>
              <a:rPr lang="da-DK" dirty="0"/>
              <a:t> </a:t>
            </a:r>
            <a:r>
              <a:rPr lang="da-DK" dirty="0" err="1"/>
              <a:t>prediction</a:t>
            </a:r>
            <a:r>
              <a:rPr lang="da-DK" dirty="0"/>
              <a:t> of </a:t>
            </a:r>
            <a:r>
              <a:rPr lang="da-DK" dirty="0" err="1"/>
              <a:t>certain</a:t>
            </a:r>
            <a:r>
              <a:rPr lang="da-DK" dirty="0"/>
              <a:t> </a:t>
            </a:r>
            <a:r>
              <a:rPr lang="da-DK" dirty="0" err="1"/>
              <a:t>outcomes</a:t>
            </a:r>
            <a:endParaRPr lang="da-DK" dirty="0"/>
          </a:p>
        </p:txBody>
      </p:sp>
      <p:sp>
        <p:nvSpPr>
          <p:cNvPr id="651" name="Google Shape;651;p65">
            <a:extLst>
              <a:ext uri="{FF2B5EF4-FFF2-40B4-BE49-F238E27FC236}">
                <a16:creationId xmlns:a16="http://schemas.microsoft.com/office/drawing/2014/main" id="{533B8706-5F38-455F-9148-699B5AA5810C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  <p:sp>
        <p:nvSpPr>
          <p:cNvPr id="652" name="Google Shape;652;p65">
            <a:extLst>
              <a:ext uri="{FF2B5EF4-FFF2-40B4-BE49-F238E27FC236}">
                <a16:creationId xmlns:a16="http://schemas.microsoft.com/office/drawing/2014/main" id="{0A00089A-FE7B-4B90-8735-11CE1204E852}"/>
              </a:ext>
            </a:extLst>
          </p:cNvPr>
          <p:cNvSpPr>
            <a:spLocks noGrp="1"/>
          </p:cNvSpPr>
          <p:nvPr/>
        </p:nvSpPr>
        <p:spPr>
          <a:xfrm>
            <a:off x="6240875" y="6302375"/>
            <a:ext cx="5467200" cy="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dirty="0">
                <a:solidFill>
                  <a:srgbClr val="666666"/>
                </a:solidFill>
              </a:rPr>
              <a:t>(Shmatko et al. 2025)</a:t>
            </a:r>
          </a:p>
        </p:txBody>
      </p:sp>
    </p:spTree>
    <p:extLst>
      <p:ext uri="{BB962C8B-B14F-4D97-AF65-F5344CB8AC3E}">
        <p14:creationId xmlns:p14="http://schemas.microsoft.com/office/powerpoint/2010/main" val="574879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57636D-9F17-A94E-42D3-AE09969AF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8251"/>
            <a:ext cx="8115866" cy="38347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CA114B-C257-8FF6-5558-FB3F900E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620712"/>
            <a:ext cx="11012486" cy="865187"/>
          </a:xfrm>
        </p:spPr>
        <p:txBody>
          <a:bodyPr wrap="square">
            <a:normAutofit/>
          </a:bodyPr>
          <a:lstStyle/>
          <a:p>
            <a:r>
              <a:rPr lang="en-DK"/>
              <a:t>EHRs as targets for GWAS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63725-A5F3-444A-E27A-898D57219C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759" cy="176797"/>
          </a:xfrm>
        </p:spPr>
        <p:txBody>
          <a:bodyPr wrap="square" anchor="b">
            <a:normAutofit/>
          </a:bodyPr>
          <a:lstStyle/>
          <a:p>
            <a:pPr marL="0"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DK" sz="700" smtClean="0"/>
              <a:pPr marL="0"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34</a:t>
            </a:fld>
            <a:endParaRPr lang="en-DK" sz="700"/>
          </a:p>
        </p:txBody>
      </p:sp>
      <p:sp>
        <p:nvSpPr>
          <p:cNvPr id="9" name="Google Shape;668;p67">
            <a:extLst>
              <a:ext uri="{FF2B5EF4-FFF2-40B4-BE49-F238E27FC236}">
                <a16:creationId xmlns:a16="http://schemas.microsoft.com/office/drawing/2014/main" id="{26790B02-BD59-7EA6-8C2D-325DEC08F5A4}"/>
              </a:ext>
            </a:extLst>
          </p:cNvPr>
          <p:cNvSpPr txBox="1">
            <a:spLocks/>
          </p:cNvSpPr>
          <p:nvPr/>
        </p:nvSpPr>
        <p:spPr>
          <a:xfrm>
            <a:off x="8115867" y="1628775"/>
            <a:ext cx="3843050" cy="4673700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kern="0" dirty="0"/>
              <a:t>300,000 </a:t>
            </a:r>
            <a:r>
              <a:rPr lang="da-DK" sz="2400" kern="0" dirty="0" err="1"/>
              <a:t>individuals</a:t>
            </a:r>
            <a:r>
              <a:rPr lang="da-DK" sz="2400" kern="0" dirty="0"/>
              <a:t> with EHR and </a:t>
            </a:r>
            <a:r>
              <a:rPr lang="da-DK" sz="2400" kern="0" dirty="0" err="1"/>
              <a:t>genetics</a:t>
            </a:r>
            <a:r>
              <a:rPr lang="da-DK" sz="2400" kern="0" dirty="0"/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400" kern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kern="0" dirty="0"/>
              <a:t>EHR </a:t>
            </a:r>
            <a:r>
              <a:rPr lang="da-DK" sz="2400" kern="0" dirty="0" err="1"/>
              <a:t>based</a:t>
            </a:r>
            <a:r>
              <a:rPr lang="da-DK" sz="2400" kern="0" dirty="0"/>
              <a:t> </a:t>
            </a:r>
            <a:r>
              <a:rPr lang="da-DK" sz="2400" kern="0" dirty="0" err="1"/>
              <a:t>groups</a:t>
            </a:r>
            <a:r>
              <a:rPr lang="da-DK" sz="2400" kern="0" dirty="0"/>
              <a:t> </a:t>
            </a:r>
            <a:r>
              <a:rPr lang="da-DK" sz="2400" kern="0" dirty="0" err="1"/>
              <a:t>are</a:t>
            </a:r>
            <a:r>
              <a:rPr lang="da-DK" sz="2400" kern="0" dirty="0"/>
              <a:t> potential </a:t>
            </a:r>
            <a:r>
              <a:rPr lang="da-DK" sz="2400" kern="0" dirty="0" err="1"/>
              <a:t>targets</a:t>
            </a:r>
            <a:r>
              <a:rPr lang="da-DK" sz="2400" kern="0" dirty="0"/>
              <a:t> for GWAS!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sz="2400" kern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2400" kern="0" dirty="0"/>
              <a:t>Work in </a:t>
            </a:r>
            <a:r>
              <a:rPr lang="da-DK" sz="2400" kern="0" dirty="0" err="1"/>
              <a:t>progress</a:t>
            </a:r>
            <a:endParaRPr lang="da-DK" sz="2400" kern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96D99-8F40-0987-BBF0-6987174D5E87}"/>
              </a:ext>
            </a:extLst>
          </p:cNvPr>
          <p:cNvSpPr txBox="1"/>
          <p:nvPr/>
        </p:nvSpPr>
        <p:spPr>
          <a:xfrm>
            <a:off x="8982634" y="6302475"/>
            <a:ext cx="297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i="1" dirty="0"/>
              <a:t>Konstantinos Gkagkaridis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DE8C8C-4D5A-20AD-306E-DC11B0D94294}"/>
              </a:ext>
            </a:extLst>
          </p:cNvPr>
          <p:cNvSpPr txBox="1"/>
          <p:nvPr/>
        </p:nvSpPr>
        <p:spPr>
          <a:xfrm>
            <a:off x="1081650" y="16745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kern="0" dirty="0"/>
              <a:t>All of Us dataset (US)</a:t>
            </a:r>
          </a:p>
        </p:txBody>
      </p:sp>
    </p:spTree>
    <p:extLst>
      <p:ext uri="{BB962C8B-B14F-4D97-AF65-F5344CB8AC3E}">
        <p14:creationId xmlns:p14="http://schemas.microsoft.com/office/powerpoint/2010/main" val="3367343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7">
            <a:extLst>
              <a:ext uri="{FF2B5EF4-FFF2-40B4-BE49-F238E27FC236}">
                <a16:creationId xmlns:a16="http://schemas.microsoft.com/office/drawing/2014/main" id="{6F7EACD0-DEA0-4F40-AD56-787CBDCA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Discussion</a:t>
            </a:r>
            <a:r>
              <a:rPr lang="da-DK" dirty="0"/>
              <a:t> part 3</a:t>
            </a:r>
            <a:r>
              <a:rPr dirty="0"/>
              <a:t>:</a:t>
            </a:r>
          </a:p>
        </p:txBody>
      </p:sp>
      <p:sp>
        <p:nvSpPr>
          <p:cNvPr id="668" name="Google Shape;668;p67">
            <a:extLst>
              <a:ext uri="{FF2B5EF4-FFF2-40B4-BE49-F238E27FC236}">
                <a16:creationId xmlns:a16="http://schemas.microsoft.com/office/drawing/2014/main" id="{4BE700CF-2254-48C5-9AB9-1D21D7B4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lang="da-DK" dirty="0"/>
              <a:t>Q1: </a:t>
            </a:r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captured</a:t>
            </a:r>
            <a:r>
              <a:rPr lang="da-DK" dirty="0"/>
              <a:t> by EHR and </a:t>
            </a:r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captured</a:t>
            </a:r>
            <a:r>
              <a:rPr lang="da-DK" dirty="0"/>
              <a:t> by </a:t>
            </a:r>
            <a:r>
              <a:rPr lang="da-DK" dirty="0" err="1"/>
              <a:t>genetics</a:t>
            </a:r>
            <a:r>
              <a:rPr lang="da-DK" dirty="0"/>
              <a:t>?</a:t>
            </a:r>
          </a:p>
          <a:p>
            <a:pPr marL="0" indent="0">
              <a:buNone/>
            </a:pPr>
            <a:endParaRPr lang="da-DK" dirty="0"/>
          </a:p>
          <a:p>
            <a:pPr marL="76200" indent="0">
              <a:buNone/>
            </a:pPr>
            <a:r>
              <a:rPr lang="da-DK" dirty="0"/>
              <a:t>Q2: </a:t>
            </a:r>
            <a:r>
              <a:rPr lang="en-GB" dirty="0"/>
              <a:t>When might genetics or biomarkers add value beyond EHR history, and how would you test it?</a:t>
            </a:r>
            <a:endParaRPr lang="da-DK" dirty="0"/>
          </a:p>
        </p:txBody>
      </p:sp>
      <p:sp>
        <p:nvSpPr>
          <p:cNvPr id="669" name="Google Shape;669;p67">
            <a:extLst>
              <a:ext uri="{FF2B5EF4-FFF2-40B4-BE49-F238E27FC236}">
                <a16:creationId xmlns:a16="http://schemas.microsoft.com/office/drawing/2014/main" id="{68B9DB3B-DE3F-4C40-9767-576F5B4655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35</a:t>
            </a:fld>
            <a:endParaRPr/>
          </a:p>
        </p:txBody>
      </p:sp>
      <p:sp>
        <p:nvSpPr>
          <p:cNvPr id="670" name="Google Shape;670;p67">
            <a:extLst>
              <a:ext uri="{FF2B5EF4-FFF2-40B4-BE49-F238E27FC236}">
                <a16:creationId xmlns:a16="http://schemas.microsoft.com/office/drawing/2014/main" id="{3C38A0BE-4C1C-437F-959D-689046CFDE05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3401708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9">
            <a:extLst>
              <a:ext uri="{FF2B5EF4-FFF2-40B4-BE49-F238E27FC236}">
                <a16:creationId xmlns:a16="http://schemas.microsoft.com/office/drawing/2014/main" id="{58975BE0-57C9-435D-BBA9-3BA081E7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Summary</a:t>
            </a:r>
          </a:p>
        </p:txBody>
      </p:sp>
      <p:sp>
        <p:nvSpPr>
          <p:cNvPr id="686" name="Google Shape;686;p69">
            <a:extLst>
              <a:ext uri="{FF2B5EF4-FFF2-40B4-BE49-F238E27FC236}">
                <a16:creationId xmlns:a16="http://schemas.microsoft.com/office/drawing/2014/main" id="{D0D8AA54-FE51-4071-9392-03BF985A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72" y="1628775"/>
            <a:ext cx="79428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EHRs are multimodal sequences, not static tables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Tokens, embeddings and attention represent event identity, timing and context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Transformers can predict and simulate trajectories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Predictive patterns are not automatically causal</a:t>
            </a:r>
          </a:p>
        </p:txBody>
      </p:sp>
      <p:sp>
        <p:nvSpPr>
          <p:cNvPr id="687" name="Google Shape;687;p69">
            <a:extLst>
              <a:ext uri="{FF2B5EF4-FFF2-40B4-BE49-F238E27FC236}">
                <a16:creationId xmlns:a16="http://schemas.microsoft.com/office/drawing/2014/main" id="{F0A17B5A-BE16-48AA-B35F-F972707FA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36</a:t>
            </a:fld>
            <a:endParaRPr/>
          </a:p>
        </p:txBody>
      </p:sp>
      <p:pic>
        <p:nvPicPr>
          <p:cNvPr id="694" name="Google Shape;688;p69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1925" y="516725"/>
            <a:ext cx="3561701" cy="1351550"/>
          </a:xfrm>
          <a:prstGeom prst="rect">
            <a:avLst/>
          </a:prstGeom>
          <a:ln>
            <a:noFill/>
          </a:ln>
        </p:spPr>
      </p:pic>
      <p:pic>
        <p:nvPicPr>
          <p:cNvPr id="695" name="Google Shape;689;p69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6200" y="1896875"/>
            <a:ext cx="1710775" cy="2445601"/>
          </a:xfrm>
          <a:prstGeom prst="rect">
            <a:avLst/>
          </a:prstGeom>
          <a:ln>
            <a:noFill/>
          </a:ln>
        </p:spPr>
      </p:pic>
      <p:pic>
        <p:nvPicPr>
          <p:cNvPr id="696" name="Google Shape;690;p69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6925" y="5330375"/>
            <a:ext cx="4359752" cy="11410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9073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1">
            <a:extLst>
              <a:ext uri="{FF2B5EF4-FFF2-40B4-BE49-F238E27FC236}">
                <a16:creationId xmlns:a16="http://schemas.microsoft.com/office/drawing/2014/main" id="{9F7C2116-C565-44ED-9BF5-55C7AA4C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lvl="0"/>
            <a:r>
              <a:rPr dirty="0"/>
              <a:t>Exercise</a:t>
            </a:r>
            <a:r>
              <a:rPr lang="da-DK" dirty="0"/>
              <a:t>: </a:t>
            </a:r>
            <a:r>
              <a:rPr lang="en-GB" dirty="0"/>
              <a:t>build and evaluate an EHR transformer</a:t>
            </a:r>
            <a:endParaRPr dirty="0"/>
          </a:p>
        </p:txBody>
      </p:sp>
      <p:sp>
        <p:nvSpPr>
          <p:cNvPr id="706" name="Google Shape;706;p71">
            <a:extLst>
              <a:ext uri="{FF2B5EF4-FFF2-40B4-BE49-F238E27FC236}">
                <a16:creationId xmlns:a16="http://schemas.microsoft.com/office/drawing/2014/main" id="{4F8EF13D-9B10-493D-B9DE-0568AA45D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70" y="1628775"/>
            <a:ext cx="6677700" cy="4673700"/>
          </a:xfrm>
          <a:prstGeom prst="rect">
            <a:avLst/>
          </a:prstGeom>
        </p:spPr>
        <p:txBody>
          <a:bodyPr spcFirstLastPara="1" wrap="square" lIns="0" tIns="0" rIns="0" bIns="0" anchor="ctr">
            <a:noAutofit/>
          </a:bodyPr>
          <a:lstStyle/>
          <a:p>
            <a:pPr marL="76200" indent="0">
              <a:buNone/>
            </a:pPr>
            <a:r>
              <a:rPr lang="en-GB" b="1" dirty="0">
                <a:solidFill>
                  <a:schemeClr val="accent4"/>
                </a:solidFill>
              </a:rPr>
              <a:t>We will</a:t>
            </a:r>
          </a:p>
          <a:p>
            <a:r>
              <a:rPr lang="en-GB" dirty="0"/>
              <a:t>Simulate and tokenize longitudinal EHR trajectories
Use a GPT-style model to predict the next </a:t>
            </a:r>
            <a:r>
              <a:rPr lang="en-GB" dirty="0" err="1"/>
              <a:t>toke</a:t>
            </a:r>
            <a:r>
              <a:rPr lang="en-GB" dirty="0"/>
              <a:t>
Generate many possible futures and compare them with observed </a:t>
            </a:r>
            <a:r>
              <a:rPr lang="en-GB" dirty="0" err="1"/>
              <a:t>historie</a:t>
            </a:r>
            <a:r>
              <a:rPr lang="en-GB" dirty="0"/>
              <a:t>
Add genetic risk scores and explore patient representations</a:t>
            </a:r>
          </a:p>
        </p:txBody>
      </p:sp>
      <p:sp>
        <p:nvSpPr>
          <p:cNvPr id="707" name="Google Shape;707;p71">
            <a:extLst>
              <a:ext uri="{FF2B5EF4-FFF2-40B4-BE49-F238E27FC236}">
                <a16:creationId xmlns:a16="http://schemas.microsoft.com/office/drawing/2014/main" id="{637E84E2-B451-41A6-A6BF-0CC9D59FD2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37</a:t>
            </a:fld>
            <a:endParaRPr/>
          </a:p>
        </p:txBody>
      </p:sp>
      <p:pic>
        <p:nvPicPr>
          <p:cNvPr id="714" name="Google Shape;709;p71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266" y="1842683"/>
            <a:ext cx="3483375" cy="37577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3038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AD82-C11D-C0D4-318B-CA7B48C9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4" y="2996571"/>
            <a:ext cx="11012486" cy="864858"/>
          </a:xfrm>
        </p:spPr>
        <p:txBody>
          <a:bodyPr/>
          <a:lstStyle/>
          <a:p>
            <a:pPr algn="ctr"/>
            <a:r>
              <a:rPr lang="en-DK" dirty="0"/>
              <a:t>Appendix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4BC41-9473-C762-5D72-98F8BD4D38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DK" smtClean="0"/>
              <a:t>38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501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>
            <a:extLst>
              <a:ext uri="{FF2B5EF4-FFF2-40B4-BE49-F238E27FC236}">
                <a16:creationId xmlns:a16="http://schemas.microsoft.com/office/drawing/2014/main" id="{88AE0404-85B8-4687-9C23-AFF053886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Embeddings turn tokens into learned numerical representations</a:t>
            </a:r>
          </a:p>
        </p:txBody>
      </p:sp>
      <p:sp>
        <p:nvSpPr>
          <p:cNvPr id="371" name="Google Shape;371;p44">
            <a:extLst>
              <a:ext uri="{FF2B5EF4-FFF2-40B4-BE49-F238E27FC236}">
                <a16:creationId xmlns:a16="http://schemas.microsoft.com/office/drawing/2014/main" id="{3E2855F6-F506-4A71-9A90-FBC4ECEED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174" y="1599475"/>
            <a:ext cx="3879300" cy="6351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Vocabulary</a:t>
            </a:r>
          </a:p>
        </p:txBody>
      </p:sp>
      <p:sp>
        <p:nvSpPr>
          <p:cNvPr id="372" name="Google Shape;372;p44">
            <a:extLst>
              <a:ext uri="{FF2B5EF4-FFF2-40B4-BE49-F238E27FC236}">
                <a16:creationId xmlns:a16="http://schemas.microsoft.com/office/drawing/2014/main" id="{E58938C7-E88C-4FDA-B0CF-88E857B989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39</a:t>
            </a:fld>
            <a:endParaRPr/>
          </a:p>
        </p:txBody>
      </p:sp>
      <p:pic>
        <p:nvPicPr>
          <p:cNvPr id="496" name="Google Shape;373;p44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174" y="2088336"/>
            <a:ext cx="4991976" cy="1634425"/>
          </a:xfrm>
          <a:prstGeom prst="rect">
            <a:avLst/>
          </a:prstGeom>
          <a:ln>
            <a:noFill/>
          </a:ln>
        </p:spPr>
      </p:pic>
      <p:pic>
        <p:nvPicPr>
          <p:cNvPr id="497" name="Google Shape;374;p44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7038" y="4254163"/>
            <a:ext cx="3646225" cy="577100"/>
          </a:xfrm>
          <a:prstGeom prst="rect">
            <a:avLst/>
          </a:prstGeom>
          <a:ln>
            <a:noFill/>
          </a:ln>
        </p:spPr>
      </p:pic>
      <p:pic>
        <p:nvPicPr>
          <p:cNvPr id="498" name="Google Shape;375;p44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2774" y="1484325"/>
            <a:ext cx="3292225" cy="1696825"/>
          </a:xfrm>
          <a:prstGeom prst="rect">
            <a:avLst/>
          </a:prstGeom>
          <a:ln>
            <a:noFill/>
          </a:ln>
        </p:spPr>
      </p:pic>
      <p:pic>
        <p:nvPicPr>
          <p:cNvPr id="499" name="Google Shape;376;p44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1874" y="3697750"/>
            <a:ext cx="3174051" cy="577100"/>
          </a:xfrm>
          <a:prstGeom prst="rect">
            <a:avLst/>
          </a:prstGeom>
          <a:ln>
            <a:noFill/>
          </a:ln>
        </p:spPr>
      </p:pic>
      <p:pic>
        <p:nvPicPr>
          <p:cNvPr id="500" name="Google Shape;377;p44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51168" y="4801270"/>
            <a:ext cx="3715462" cy="1696825"/>
          </a:xfrm>
          <a:prstGeom prst="rect">
            <a:avLst/>
          </a:prstGeom>
          <a:ln>
            <a:noFill/>
          </a:ln>
        </p:spPr>
      </p:pic>
      <p:sp>
        <p:nvSpPr>
          <p:cNvPr id="378" name="Google Shape;378;p44">
            <a:extLst>
              <a:ext uri="{FF2B5EF4-FFF2-40B4-BE49-F238E27FC236}">
                <a16:creationId xmlns:a16="http://schemas.microsoft.com/office/drawing/2014/main" id="{C550AE8D-178B-44A6-BA4D-68342ADE85FD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2: Transformer Models</a:t>
            </a:r>
          </a:p>
        </p:txBody>
      </p:sp>
      <p:sp>
        <p:nvSpPr>
          <p:cNvPr id="379" name="Google Shape;379;p44">
            <a:extLst>
              <a:ext uri="{FF2B5EF4-FFF2-40B4-BE49-F238E27FC236}">
                <a16:creationId xmlns:a16="http://schemas.microsoft.com/office/drawing/2014/main" id="{24B307DB-AB7A-433F-AE93-DC5A3F00F23F}"/>
              </a:ext>
            </a:extLst>
          </p:cNvPr>
          <p:cNvSpPr>
            <a:spLocks noGrp="1"/>
          </p:cNvSpPr>
          <p:nvPr/>
        </p:nvSpPr>
        <p:spPr>
          <a:xfrm>
            <a:off x="0" y="6433200"/>
            <a:ext cx="44811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66666"/>
                </a:solidFill>
              </a:rPr>
              <a:t>Example generated by Claude</a:t>
            </a:r>
          </a:p>
        </p:txBody>
      </p:sp>
      <p:cxnSp>
        <p:nvCxnSpPr>
          <p:cNvPr id="503" name="Google Shape;380;p44"/>
          <p:cNvCxnSpPr>
            <a:stCxn id="373" idx="2"/>
          </p:cNvCxnSpPr>
          <p:nvPr/>
        </p:nvCxnSpPr>
        <p:spPr>
          <a:xfrm>
            <a:off x="3210162" y="3722761"/>
            <a:ext cx="0" cy="52710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1" name="Google Shape;381;p44">
            <a:extLst>
              <a:ext uri="{FF2B5EF4-FFF2-40B4-BE49-F238E27FC236}">
                <a16:creationId xmlns:a16="http://schemas.microsoft.com/office/drawing/2014/main" id="{D85F9961-8F72-4B6E-A9AF-C126C4FB8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7049" y="4936725"/>
            <a:ext cx="3879300" cy="6351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One-hot encoding</a:t>
            </a:r>
          </a:p>
        </p:txBody>
      </p:sp>
      <p:sp>
        <p:nvSpPr>
          <p:cNvPr id="382" name="Google Shape;382;p44">
            <a:extLst>
              <a:ext uri="{FF2B5EF4-FFF2-40B4-BE49-F238E27FC236}">
                <a16:creationId xmlns:a16="http://schemas.microsoft.com/office/drawing/2014/main" id="{0FA0BE26-D95B-4F17-A211-D22784A50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6868" y="993675"/>
            <a:ext cx="1908000" cy="4248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r">
              <a:spcBef>
                <a:spcPts val="1000"/>
              </a:spcBef>
              <a:spcAft>
                <a:spcPts val="0"/>
              </a:spcAft>
              <a:buNone/>
            </a:pPr>
            <a:r>
              <a:t>Embeddings</a:t>
            </a:r>
          </a:p>
        </p:txBody>
      </p:sp>
      <p:cxnSp>
        <p:nvCxnSpPr>
          <p:cNvPr id="506" name="Google Shape;383;p44"/>
          <p:cNvCxnSpPr/>
          <p:nvPr/>
        </p:nvCxnSpPr>
        <p:spPr>
          <a:xfrm>
            <a:off x="9508887" y="3181161"/>
            <a:ext cx="0" cy="52710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7" name="Google Shape;384;p44"/>
          <p:cNvCxnSpPr/>
          <p:nvPr/>
        </p:nvCxnSpPr>
        <p:spPr>
          <a:xfrm>
            <a:off x="9508899" y="4279186"/>
            <a:ext cx="0" cy="52710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44">
            <a:extLst>
              <a:ext uri="{FF2B5EF4-FFF2-40B4-BE49-F238E27FC236}">
                <a16:creationId xmlns:a16="http://schemas.microsoft.com/office/drawing/2014/main" id="{2CF8E8A2-2D69-4C5F-A0A1-67B260130B42}"/>
              </a:ext>
            </a:extLst>
          </p:cNvPr>
          <p:cNvSpPr>
            <a:spLocks noGrp="1"/>
          </p:cNvSpPr>
          <p:nvPr/>
        </p:nvSpPr>
        <p:spPr>
          <a:xfrm>
            <a:off x="2659950" y="4301625"/>
            <a:ext cx="1361700" cy="499500"/>
          </a:xfrm>
          <a:prstGeom prst="roundRect">
            <a:avLst>
              <a:gd name="adj" fmla="val 16667"/>
            </a:avLst>
          </a:prstGeom>
          <a:noFill/>
          <a:ln w="36125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86650" tIns="86650" rIns="86650" bIns="8665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27"/>
          </a:p>
        </p:txBody>
      </p:sp>
      <p:sp>
        <p:nvSpPr>
          <p:cNvPr id="386" name="Google Shape;386;p44">
            <a:extLst>
              <a:ext uri="{FF2B5EF4-FFF2-40B4-BE49-F238E27FC236}">
                <a16:creationId xmlns:a16="http://schemas.microsoft.com/office/drawing/2014/main" id="{F6D4B60F-E0DA-4D2A-8A49-6C9B3330A3B1}"/>
              </a:ext>
            </a:extLst>
          </p:cNvPr>
          <p:cNvSpPr>
            <a:spLocks noGrp="1"/>
          </p:cNvSpPr>
          <p:nvPr/>
        </p:nvSpPr>
        <p:spPr>
          <a:xfrm>
            <a:off x="7979825" y="6052625"/>
            <a:ext cx="1456500" cy="499500"/>
          </a:xfrm>
          <a:prstGeom prst="roundRect">
            <a:avLst>
              <a:gd name="adj" fmla="val 16667"/>
            </a:avLst>
          </a:prstGeom>
          <a:noFill/>
          <a:ln w="36125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86650" tIns="86650" rIns="86650" bIns="8665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27"/>
          </a:p>
        </p:txBody>
      </p:sp>
      <p:sp>
        <p:nvSpPr>
          <p:cNvPr id="387" name="Google Shape;387;p44">
            <a:extLst>
              <a:ext uri="{FF2B5EF4-FFF2-40B4-BE49-F238E27FC236}">
                <a16:creationId xmlns:a16="http://schemas.microsoft.com/office/drawing/2014/main" id="{40EAA816-DE9F-4ECA-A9AC-3DA66B9CC308}"/>
              </a:ext>
            </a:extLst>
          </p:cNvPr>
          <p:cNvSpPr>
            <a:spLocks noGrp="1"/>
          </p:cNvSpPr>
          <p:nvPr/>
        </p:nvSpPr>
        <p:spPr>
          <a:xfrm>
            <a:off x="2057075" y="5424575"/>
            <a:ext cx="5594100" cy="9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</a:rPr>
              <a:t>Vocabulary size: 200.000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</a:rPr>
              <a:t>Embedding size 4000</a:t>
            </a:r>
          </a:p>
        </p:txBody>
      </p:sp>
    </p:spTree>
    <p:extLst>
      <p:ext uri="{BB962C8B-B14F-4D97-AF65-F5344CB8AC3E}">
        <p14:creationId xmlns:p14="http://schemas.microsoft.com/office/powerpoint/2010/main" val="12288200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0">
            <a:extLst>
              <a:ext uri="{FF2B5EF4-FFF2-40B4-BE49-F238E27FC236}">
                <a16:creationId xmlns:a16="http://schemas.microsoft.com/office/drawing/2014/main" id="{63F61F1D-F418-448B-99B8-21DD8A4E2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620714"/>
            <a:ext cx="11012400" cy="86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Key open questions</a:t>
            </a:r>
          </a:p>
        </p:txBody>
      </p:sp>
      <p:sp>
        <p:nvSpPr>
          <p:cNvPr id="697" name="Google Shape;697;p70">
            <a:extLst>
              <a:ext uri="{FF2B5EF4-FFF2-40B4-BE49-F238E27FC236}">
                <a16:creationId xmlns:a16="http://schemas.microsoft.com/office/drawing/2014/main" id="{BDA462AF-993F-4461-892D-58D5CAAD9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963" y="1628775"/>
            <a:ext cx="11012400" cy="46737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Which modalities add signal rather than noise?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Which architecture best matches the scientific task?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How should dense wearable data be summarized?</a:t>
            </a:r>
          </a:p>
          <a:p>
            <a:pPr marL="0" lv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t>• How do we scale to millions of variants and events?</a:t>
            </a:r>
          </a:p>
        </p:txBody>
      </p:sp>
      <p:sp>
        <p:nvSpPr>
          <p:cNvPr id="698" name="Google Shape;698;p70">
            <a:extLst>
              <a:ext uri="{FF2B5EF4-FFF2-40B4-BE49-F238E27FC236}">
                <a16:creationId xmlns:a16="http://schemas.microsoft.com/office/drawing/2014/main" id="{F71B3419-DEC2-4C13-AA16-BA182B5986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19691" y="85745"/>
            <a:ext cx="381900" cy="176700"/>
          </a:xfrm>
          <a:prstGeom prst="rect">
            <a:avLst/>
          </a:prstGeom>
        </p:spPr>
        <p:txBody>
          <a:bodyPr spcFirstLastPara="1" wrap="square" lIns="0" tIns="0" rIns="0" bIns="0" anchor="b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/>
              <a:t>40</a:t>
            </a:fld>
            <a:endParaRPr/>
          </a:p>
        </p:txBody>
      </p:sp>
      <p:sp>
        <p:nvSpPr>
          <p:cNvPr id="699" name="Google Shape;699;p70">
            <a:extLst>
              <a:ext uri="{FF2B5EF4-FFF2-40B4-BE49-F238E27FC236}">
                <a16:creationId xmlns:a16="http://schemas.microsoft.com/office/drawing/2014/main" id="{7D54DCF7-0E67-48D2-94DB-A3B5A0838925}"/>
              </a:ext>
            </a:extLst>
          </p:cNvPr>
          <p:cNvSpPr>
            <a:spLocks noGrp="1"/>
          </p:cNvSpPr>
          <p:nvPr/>
        </p:nvSpPr>
        <p:spPr>
          <a:xfrm>
            <a:off x="3004650" y="-38300"/>
            <a:ext cx="61827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sz="1300">
                <a:solidFill>
                  <a:srgbClr val="666666"/>
                </a:solidFill>
              </a:rPr>
              <a:t>Part 3: EHR-Transformer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3064099876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U 20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rugerdefineret design">
  <a:themeElements>
    <a:clrScheme name="KU 2016">
      <a:dk1>
        <a:sysClr val="windowText" lastClr="000000"/>
      </a:dk1>
      <a:lt1>
        <a:sysClr val="window" lastClr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D49F3A"/>
      </a:accent3>
      <a:accent4>
        <a:srgbClr val="42759B"/>
      </a:accent4>
      <a:accent5>
        <a:srgbClr val="79ADB1"/>
      </a:accent5>
      <a:accent6>
        <a:srgbClr val="779921"/>
      </a:accent6>
      <a:hlink>
        <a:srgbClr val="A31D20"/>
      </a:hlink>
      <a:folHlink>
        <a:srgbClr val="000000"/>
      </a:folHlink>
    </a:clrScheme>
    <a:fontScheme name="KU2016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U 201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U 20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3696</Words>
  <Application>Microsoft Macintosh PowerPoint</Application>
  <DocSecurity>0</DocSecurity>
  <PresentationFormat>Widescreen</PresentationFormat>
  <Paragraphs>454</Paragraphs>
  <Slides>40</Slides>
  <Notes>38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Helvetica Light</vt:lpstr>
      <vt:lpstr>Helvetica Neue Medium</vt:lpstr>
      <vt:lpstr>Microsoft New Tai Lue</vt:lpstr>
      <vt:lpstr>Palatino</vt:lpstr>
      <vt:lpstr>Brugerdefineret design</vt:lpstr>
      <vt:lpstr>1_Brugerdefineret design</vt:lpstr>
      <vt:lpstr>PowerPoint Presentation</vt:lpstr>
      <vt:lpstr>Agenda</vt:lpstr>
      <vt:lpstr>Part 1: EHR data and their use</vt:lpstr>
      <vt:lpstr>DNA is static and electronic health records are dynamic</vt:lpstr>
      <vt:lpstr>EHRs combine structured and unstructured modalities</vt:lpstr>
      <vt:lpstr>Sequential data adds a temporal dimension</vt:lpstr>
      <vt:lpstr>META-TWIN: Medical digital twins for precision health</vt:lpstr>
      <vt:lpstr>From static genetic risk to dynamic patient representations</vt:lpstr>
      <vt:lpstr>Discussion: what does an EHR represent?</vt:lpstr>
      <vt:lpstr>Part 2: Transformer models</vt:lpstr>
      <vt:lpstr>Autoencoders learn compressed representations</vt:lpstr>
      <vt:lpstr>A useful representation preserves structure and removes detail</vt:lpstr>
      <vt:lpstr>An EHR can be represented like a sentence</vt:lpstr>
      <vt:lpstr>Transformers are state-of-the-art models for sequences</vt:lpstr>
      <vt:lpstr>Vocabulary and Tokenization</vt:lpstr>
      <vt:lpstr>In practice we need special tokens</vt:lpstr>
      <vt:lpstr>Encoder and decoder models optimize different objectives</vt:lpstr>
      <vt:lpstr>Transformers need positional information to represent order</vt:lpstr>
      <vt:lpstr>Attention identifies which earlier events are relevant</vt:lpstr>
      <vt:lpstr>Attention compares each event with its relevant history</vt:lpstr>
      <vt:lpstr>Take-home messages: building a transformer input</vt:lpstr>
      <vt:lpstr>Discussion: design choices for an EHR transformer</vt:lpstr>
      <vt:lpstr>Part 3: Using transformers to model EHR and genetics</vt:lpstr>
      <vt:lpstr>GPT: Next-token probability is conditional disease risk</vt:lpstr>
      <vt:lpstr>Transformers in healthcare require age and time to event</vt:lpstr>
      <vt:lpstr>Autoregressive sampling generates multiple possible trajectories</vt:lpstr>
      <vt:lpstr>Calibration asks whether predicted rates match observed rates</vt:lpstr>
      <vt:lpstr>Comorbidities update future disease risk</vt:lpstr>
      <vt:lpstr>Embedding space groups diagnoses by learned context</vt:lpstr>
      <vt:lpstr>Performance: Depends on disease and horizon</vt:lpstr>
      <vt:lpstr>Multiple modalities can be modeled </vt:lpstr>
      <vt:lpstr>Can EHRs be combined with genomics?</vt:lpstr>
      <vt:lpstr>PRS and biomarkers add complementary predictive information</vt:lpstr>
      <vt:lpstr>EHRs as targets for GWAS</vt:lpstr>
      <vt:lpstr>Discussion part 3:</vt:lpstr>
      <vt:lpstr>Summary</vt:lpstr>
      <vt:lpstr>Exercise: build and evaluate an EHR transformer</vt:lpstr>
      <vt:lpstr>Appendix</vt:lpstr>
      <vt:lpstr>Embeddings turn tokens into learned numerical representations</vt:lpstr>
      <vt:lpstr>Key open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Simon Rasmussen</cp:lastModifiedBy>
  <cp:revision>33</cp:revision>
  <dcterms:created xsi:type="dcterms:W3CDTF">2026-08-25T11:48:17Z</dcterms:created>
  <dcterms:modified xsi:type="dcterms:W3CDTF">2026-08-25T17:06:15Z</dcterms:modified>
</cp:coreProperties>
</file>