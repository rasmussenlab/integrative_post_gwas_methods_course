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61" r:id="rId2"/>
    <p:sldId id="2134961012" r:id="rId3"/>
    <p:sldId id="605" r:id="rId4"/>
    <p:sldId id="2134960970" r:id="rId5"/>
    <p:sldId id="875" r:id="rId6"/>
    <p:sldId id="2134960950" r:id="rId7"/>
    <p:sldId id="2134960955" r:id="rId8"/>
    <p:sldId id="2134961010" r:id="rId9"/>
    <p:sldId id="2134960968" r:id="rId10"/>
    <p:sldId id="2134960953" r:id="rId11"/>
    <p:sldId id="2134961009" r:id="rId12"/>
    <p:sldId id="2134961011" r:id="rId13"/>
    <p:sldId id="2134960912" r:id="rId14"/>
    <p:sldId id="2134960973" r:id="rId15"/>
    <p:sldId id="2134960979" r:id="rId16"/>
    <p:sldId id="2134961008" r:id="rId17"/>
    <p:sldId id="806" r:id="rId1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83CE22-9183-27C6-B426-A8C1D3D49AEF}" name="Simon Wengert" initials="SW" userId="S::hrv220@ku.dk::f187cf7b-f482-4c48-8746-5e598320cf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6786"/>
  </p:normalViewPr>
  <p:slideViewPr>
    <p:cSldViewPr snapToGrid="0">
      <p:cViewPr varScale="1">
        <p:scale>
          <a:sx n="100" d="100"/>
          <a:sy n="100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27C57-A325-4D4B-8D81-856B287B28C2}" type="datetimeFigureOut">
              <a:rPr lang="en-DK" smtClean="0"/>
              <a:t>25/08/2026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0DE1B-FF2E-0E4E-B4EA-35CBFA89103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0285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379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4849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8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Can we use world-wide biomedical data to make digital twins that we can use in health care?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377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C5262-8899-7629-5A62-B90F3423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CEFEC-C09F-8501-C284-615850335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97B32-167A-FC50-9B2A-AFA4EBEBF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Can we use world-wide biomedical data to make digital twins that we can use in health care?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C9A00-33D7-B04B-5FA7-96B9091DE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40211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EIR framework</a:t>
            </a:r>
          </a:p>
          <a:p>
            <a:r>
              <a:rPr lang="en-GB" dirty="0"/>
              <a:t>MOVE framework</a:t>
            </a:r>
          </a:p>
          <a:p>
            <a:endParaRPr lang="en-GB" dirty="0"/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42566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E509-9DAF-CBE9-6DA9-DE096FA5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A6348-A470-E703-A497-BCE2EA6E3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E033F-B8FF-83B6-4042-E5F62890F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F59CB-F687-4809-AA4C-7C3894AF4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68265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39534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75D0-B96C-4A2C-9BCB-16185BD6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3FAE4-89FB-F6BD-BA7C-8B1BD423D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49C27-70BE-7B89-C6C6-D0462B1CB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Think of this as learning all possible Polygenic Risk Scores in one go!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8ABCE-CB27-1079-A8F3-411141D51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411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://www.designguide.ku.dk/ku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hyperlink" Target="https://designguide.ku.dk/skabeloner/powerpoint/praesentationer/" TargetMode="External"/><Relationship Id="rId4" Type="http://schemas.openxmlformats.org/officeDocument/2006/relationships/hyperlink" Target="http://image.ku.dk/lightbox/211/13407586855728741badb20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6408000" tIns="360000" anchor="ctr" anchorCtr="0"/>
          <a:lstStyle>
            <a:lvl1pPr marL="0" indent="0" algn="l">
              <a:buNone/>
              <a:defRPr sz="32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udskifte billedet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9610733C-9034-4EF1-A134-C713BE098F55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253992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6408000" tIns="36000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udskifte billedet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64773BD-B564-4031-8BC1-8FE44AEFACDB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244915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høj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8804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0" tIns="360000" rIns="6408000" anchor="ctr" anchorCtr="0"/>
          <a:lstStyle>
            <a:lvl1pPr marL="0" indent="0" algn="r">
              <a:buNone/>
              <a:defRPr sz="3200" baseline="0"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udskifte billedet  </a:t>
            </a:r>
            <a:br>
              <a:rPr lang="da-DK" dirty="0"/>
            </a:br>
            <a:r>
              <a:rPr lang="da-DK" dirty="0"/>
              <a:t> 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10329111" y="-385164"/>
            <a:ext cx="814976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333159E-FBB4-453B-BB73-EC3ABA0B9EC3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236495" y="-385164"/>
            <a:ext cx="698116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11255542" y="-385164"/>
            <a:ext cx="38175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84327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0" tIns="360000" rIns="6408000" anchor="ctr" anchorCtr="0"/>
          <a:lstStyle>
            <a:lvl1pPr marL="0" indent="0" algn="r">
              <a:buNone/>
              <a:defRPr sz="32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udskifte billedet 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72EBC29C-0917-4C4D-9E80-3B6188930562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4216809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8880D59A-D7B0-4B9B-8B78-E4C3DDBABBD4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2" name="Titel 2"/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master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31350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ACD5312-4BB5-4AD3-ABB6-C66798F20444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2033577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5186"/>
          </a:xfrm>
        </p:spPr>
        <p:txBody>
          <a:bodyPr/>
          <a:lstStyle/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35125"/>
            <a:ext cx="11012488" cy="4675188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9339-1C74-4825-ADEB-BCD7E13EFC81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38596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/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35125"/>
            <a:ext cx="5358535" cy="4675187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4502" y="1635125"/>
            <a:ext cx="5356948" cy="4675187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FEAA-BA47-4F55-BB2A-ABDD4DBF5CDE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892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3639" y="1635125"/>
            <a:ext cx="5357812" cy="4675187"/>
          </a:xfrm>
          <a:blipFill>
            <a:blip r:embed="rId2"/>
            <a:stretch>
              <a:fillRect/>
            </a:stretch>
          </a:blipFill>
        </p:spPr>
        <p:txBody>
          <a:bodyPr lIns="0" tIns="2304000" rIns="0" anchor="t" anchorCtr="0"/>
          <a:lstStyle>
            <a:lvl1pPr marL="0" indent="0" algn="ctr">
              <a:buNone/>
              <a:defRPr sz="32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udskifte billedet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/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35125"/>
            <a:ext cx="5359398" cy="4675188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2542C-E4D2-4366-8573-42718107279F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97577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35125"/>
            <a:ext cx="11012487" cy="4675188"/>
          </a:xfrm>
          <a:blipFill>
            <a:blip r:embed="rId2"/>
            <a:stretch>
              <a:fillRect/>
            </a:stretch>
          </a:blipFill>
        </p:spPr>
        <p:txBody>
          <a:bodyPr lIns="0" tIns="2304000" rIns="0" anchor="t" anchorCtr="0"/>
          <a:lstStyle>
            <a:lvl1pPr marL="0" indent="0" algn="ctr">
              <a:buNone/>
              <a:defRPr sz="32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udskifte billedet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da-DK" dirty="0"/>
              <a:t>Klik for at tilføje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4C8-09F9-49F3-9200-F6E55E50E9FD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3932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le tekstlabel høj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1"/>
            <a:ext cx="12192000" cy="6523149"/>
          </a:xfrm>
          <a:blipFill>
            <a:blip r:embed="rId2"/>
            <a:stretch>
              <a:fillRect/>
            </a:stretch>
          </a:blipFill>
        </p:spPr>
        <p:txBody>
          <a:bodyPr lIns="0" tIns="360000" rIns="6408000" anchor="ctr" anchorCtr="0"/>
          <a:lstStyle>
            <a:lvl1pPr marL="0" indent="0" algn="r">
              <a:buNone/>
              <a:defRPr sz="32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udskifte billedet 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243638" y="4903567"/>
            <a:ext cx="5948362" cy="1398808"/>
          </a:xfrm>
          <a:solidFill>
            <a:srgbClr val="A31D20">
              <a:alpha val="95000"/>
            </a:srgbClr>
          </a:solidFill>
        </p:spPr>
        <p:txBody>
          <a:bodyPr lIns="252000" tIns="144000" rIns="540000" bIns="144000"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tekst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2C5F-F0E5-452B-A2F2-3EA33BA229B5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59163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le tekstlabel venstre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1"/>
            <a:ext cx="12192000" cy="6523149"/>
          </a:xfrm>
          <a:blipFill>
            <a:blip r:embed="rId2"/>
            <a:stretch>
              <a:fillRect/>
            </a:stretch>
          </a:blipFill>
        </p:spPr>
        <p:txBody>
          <a:bodyPr lIns="0" tIns="360000" rIns="6408000" anchor="ctr" anchorCtr="0"/>
          <a:lstStyle>
            <a:lvl1pPr marL="0" indent="0" algn="r">
              <a:buNone/>
              <a:defRPr sz="32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udskifte billedet 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4903567"/>
            <a:ext cx="5948362" cy="1398808"/>
          </a:xfrm>
          <a:solidFill>
            <a:srgbClr val="A31D20">
              <a:alpha val="95000"/>
            </a:srgbClr>
          </a:solidFill>
        </p:spPr>
        <p:txBody>
          <a:bodyPr lIns="576000" tIns="144000" rIns="252000" bIns="144000"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tekst</a:t>
            </a:r>
            <a:br>
              <a:rPr lang="da-DK" sz="2400" spc="100" dirty="0">
                <a:solidFill>
                  <a:schemeClr val="bg1"/>
                </a:solidFill>
                <a:latin typeface="+mj-lt"/>
                <a:cs typeface="Microsoft New Tai Lue"/>
              </a:rPr>
            </a:br>
            <a:r>
              <a:rPr lang="da-DK" dirty="0"/>
              <a:t>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46445-93A7-4948-90C3-5E545867631D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58398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tekstlabel høj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1"/>
            <a:ext cx="12192000" cy="6523149"/>
          </a:xfrm>
          <a:blipFill>
            <a:blip r:embed="rId2"/>
            <a:stretch>
              <a:fillRect/>
            </a:stretch>
          </a:blipFill>
        </p:spPr>
        <p:txBody>
          <a:bodyPr lIns="0" tIns="360000" rIns="6408000" anchor="ctr" anchorCtr="0"/>
          <a:lstStyle>
            <a:lvl1pPr marL="0" indent="0" algn="r">
              <a:buNone/>
              <a:defRPr sz="3200" baseline="0"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udskifte billedet 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DFD51-CB30-4E30-94A9-3C7B4B0535D6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6243638" y="2036763"/>
            <a:ext cx="5948362" cy="4265612"/>
          </a:xfrm>
          <a:solidFill>
            <a:schemeClr val="accent1">
              <a:alpha val="95000"/>
            </a:schemeClr>
          </a:solidFill>
        </p:spPr>
        <p:txBody>
          <a:bodyPr lIns="252000" tIns="144000" rIns="540000" bIns="144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719138" indent="-357188">
              <a:defRPr>
                <a:solidFill>
                  <a:schemeClr val="bg1"/>
                </a:solidFill>
              </a:defRPr>
            </a:lvl2pPr>
            <a:lvl3pPr marL="719138" indent="-358775">
              <a:defRPr>
                <a:solidFill>
                  <a:schemeClr val="bg1"/>
                </a:solidFill>
              </a:defRPr>
            </a:lvl3pPr>
            <a:lvl4pPr marL="719138" indent="-358775">
              <a:defRPr>
                <a:solidFill>
                  <a:schemeClr val="bg1"/>
                </a:solidFill>
              </a:defRPr>
            </a:lvl4pPr>
            <a:lvl5pPr marL="719138" indent="-358775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613104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tekstlabel venst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1"/>
            <a:ext cx="12192000" cy="6523149"/>
          </a:xfrm>
          <a:blipFill>
            <a:blip r:embed="rId2"/>
            <a:stretch>
              <a:fillRect/>
            </a:stretch>
          </a:blipFill>
        </p:spPr>
        <p:txBody>
          <a:bodyPr lIns="6408000" tIns="360000" rIns="0" anchor="ctr" anchorCtr="0"/>
          <a:lstStyle>
            <a:lvl1pPr marL="0" indent="0" algn="l">
              <a:buNone/>
              <a:defRPr sz="32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</a:t>
            </a:r>
            <a:br>
              <a:rPr lang="da-DK" dirty="0"/>
            </a:br>
            <a:r>
              <a:rPr lang="da-DK" dirty="0"/>
              <a:t>du vil udskifte billedet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E4329-2AA9-435B-BDB4-F4C3408B6DCE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8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036763"/>
            <a:ext cx="5948362" cy="4265612"/>
          </a:xfrm>
          <a:solidFill>
            <a:schemeClr val="accent1">
              <a:alpha val="95000"/>
            </a:schemeClr>
          </a:solidFill>
        </p:spPr>
        <p:txBody>
          <a:bodyPr lIns="576000" tIns="144000" rIns="252000" bIns="144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719138" indent="-358775">
              <a:defRPr>
                <a:solidFill>
                  <a:schemeClr val="bg1"/>
                </a:solidFill>
              </a:defRPr>
            </a:lvl2pPr>
            <a:lvl3pPr marL="719138" indent="-358775">
              <a:defRPr>
                <a:solidFill>
                  <a:schemeClr val="bg1"/>
                </a:solidFill>
              </a:defRPr>
            </a:lvl3pPr>
            <a:lvl4pPr marL="719138" indent="-358775">
              <a:defRPr>
                <a:solidFill>
                  <a:schemeClr val="bg1"/>
                </a:solidFill>
              </a:defRPr>
            </a:lvl4pPr>
            <a:lvl5pPr marL="719138" indent="-358775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3385329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sal-punktopstilling rø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64807-3496-47E8-915B-96DB96A167BC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7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620713"/>
            <a:ext cx="11012487" cy="5682589"/>
          </a:xfrm>
          <a:noFill/>
        </p:spPr>
        <p:txBody>
          <a:bodyPr lIns="0" tIns="0" rIns="0" bIns="0"/>
          <a:lstStyle>
            <a:lvl1pPr marL="449263" indent="-449263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24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9263" indent="-449263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24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49263" indent="-449263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24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49263" indent="-449263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24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449263" indent="-449263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24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3464010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felt 8"/>
          <p:cNvSpPr txBox="1"/>
          <p:nvPr userDrawn="1"/>
        </p:nvSpPr>
        <p:spPr>
          <a:xfrm>
            <a:off x="421280" y="612884"/>
            <a:ext cx="116761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5000" b="1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EB03B-DE17-4D8C-BE2B-1AD42424342D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7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2712" y="5934971"/>
            <a:ext cx="11019496" cy="367404"/>
          </a:xfrm>
        </p:spPr>
        <p:txBody>
          <a:bodyPr>
            <a:normAutofit/>
          </a:bodyPr>
          <a:lstStyle>
            <a:lvl1pPr marL="0" indent="0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Navn, kilde</a:t>
            </a:r>
          </a:p>
        </p:txBody>
      </p:sp>
    </p:spTree>
    <p:extLst>
      <p:ext uri="{BB962C8B-B14F-4D97-AF65-F5344CB8AC3E}">
        <p14:creationId xmlns:p14="http://schemas.microsoft.com/office/powerpoint/2010/main" val="819550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ejlede tek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54F7B-C476-4203-AE9B-5470D905B3E4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9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64" y="1628775"/>
            <a:ext cx="5358535" cy="4674527"/>
          </a:xfrm>
          <a:noFill/>
        </p:spPr>
        <p:txBody>
          <a:bodyPr lIns="0" tIns="0" rIns="0" bIns="0"/>
          <a:lstStyle>
            <a:lvl1pPr marL="0" indent="0" algn="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1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6" hasCustomPrompt="1"/>
          </p:nvPr>
        </p:nvSpPr>
        <p:spPr>
          <a:xfrm>
            <a:off x="6244503" y="1628775"/>
            <a:ext cx="5356948" cy="4674527"/>
          </a:xfr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da-DK" sz="3600" b="0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 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3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</p:spTree>
    <p:extLst>
      <p:ext uri="{BB962C8B-B14F-4D97-AF65-F5344CB8AC3E}">
        <p14:creationId xmlns:p14="http://schemas.microsoft.com/office/powerpoint/2010/main" val="3853255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363C-5D45-41B3-8FA7-E4A3C28213BA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628775"/>
            <a:ext cx="11012487" cy="4673600"/>
          </a:xfrm>
        </p:spPr>
        <p:txBody>
          <a:bodyPr anchor="t" anchorCtr="0"/>
          <a:lstStyle>
            <a:lvl1pPr>
              <a:defRPr sz="6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Klik for at tilføje tekst</a:t>
            </a:r>
          </a:p>
        </p:txBody>
      </p:sp>
    </p:spTree>
    <p:extLst>
      <p:ext uri="{BB962C8B-B14F-4D97-AF65-F5344CB8AC3E}">
        <p14:creationId xmlns:p14="http://schemas.microsoft.com/office/powerpoint/2010/main" val="7462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a-DK" dirty="0"/>
              <a:t>Klik for at tilføje overskrift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7C15-2114-4FA8-A531-51E467CB49E5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721939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E5B2-C656-407A-ACD0-1DF350477539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8943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54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 sz="3000" dirty="0">
                <a:solidFill>
                  <a:schemeClr val="tx1"/>
                </a:solidFill>
              </a:rPr>
              <a:t>Brugerguide</a:t>
            </a:r>
            <a:r>
              <a:rPr lang="da-DK" baseline="0" dirty="0">
                <a:solidFill>
                  <a:schemeClr val="tx1"/>
                </a:solidFill>
              </a:rPr>
              <a:t> </a:t>
            </a:r>
            <a:r>
              <a:rPr lang="da-DK" sz="1800" baseline="0" dirty="0">
                <a:solidFill>
                  <a:schemeClr val="tx1"/>
                </a:solidFill>
              </a:rPr>
              <a:t>– </a:t>
            </a:r>
            <a:r>
              <a:rPr lang="da-DK" sz="1800" dirty="0">
                <a:solidFill>
                  <a:schemeClr val="tx1"/>
                </a:solidFill>
              </a:rPr>
              <a:t>Slet, før du færdiggør din</a:t>
            </a:r>
            <a:r>
              <a:rPr lang="da-DK" sz="1800" baseline="0" dirty="0">
                <a:solidFill>
                  <a:schemeClr val="tx1"/>
                </a:solidFill>
              </a:rPr>
              <a:t> </a:t>
            </a:r>
            <a:r>
              <a:rPr lang="da-DK" sz="1800" dirty="0">
                <a:solidFill>
                  <a:schemeClr val="tx1"/>
                </a:solidFill>
              </a:rPr>
              <a:t>præsentation</a:t>
            </a:r>
          </a:p>
        </p:txBody>
      </p:sp>
      <p:sp>
        <p:nvSpPr>
          <p:cNvPr id="48" name="Text Box 48"/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KU-skabeloner til PowerPoint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åbner PowerPoint på din KU-pc, åbner en skabelon i 4:3-format og med dansk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klikker på KU-fanen i værktøjslinjen, kan du via knappen ”Vælg Skabelon” vælge mellem skabeloner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 henholdsvis dansk og engelsk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formaterne 4:3 og 16:9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”fuld” eller ”tom” version (i den fulde version ser du et eksempel på hver diastype i venstrespalten)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samt en demopræsentation med indsat tekst på engelsk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 du bruger en ”fuld” version, skal du slette de dias, du ikke vil bruge.</a:t>
            </a: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Mac-brugere m.fl. kan hente PowerPoint-skabelonerne på</a:t>
            </a:r>
            <a:r>
              <a:rPr lang="da-DK" sz="800" baseline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www.designguide.ku.dk/ku/</a:t>
            </a:r>
            <a:b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</a:b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skabeloner/powerpoint/</a:t>
            </a:r>
            <a:b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</a:b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praesentationer/</a:t>
            </a:r>
            <a:endParaRPr lang="da-DK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Box 48"/>
          <p:cNvSpPr txBox="1">
            <a:spLocks noChangeArrowheads="1"/>
          </p:cNvSpPr>
          <p:nvPr userDrawn="1"/>
        </p:nvSpPr>
        <p:spPr bwMode="auto">
          <a:xfrm>
            <a:off x="2576655" y="4237555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 din enheds navn (fx institut), sidenummer og dato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Indsæt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topmenuen 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Sidehoved og Sidefod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Udfyld felterne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 på alle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eller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hvis det kun skal være på et enkelt dias/slide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Oplysningerne placeres i højre side af den grå topbjælke.</a:t>
            </a:r>
          </a:p>
        </p:txBody>
      </p:sp>
      <p:sp>
        <p:nvSpPr>
          <p:cNvPr id="50" name="Text Box 48"/>
          <p:cNvSpPr txBox="1">
            <a:spLocks noChangeArrowheads="1"/>
          </p:cNvSpPr>
          <p:nvPr userDrawn="1"/>
        </p:nvSpPr>
        <p:spPr bwMode="auto">
          <a:xfrm>
            <a:off x="587375" y="5678667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Lav nyt dias/slide (hhv. 2010- + 2013- og 2016-version) 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</p:txBody>
      </p:sp>
      <p:pic>
        <p:nvPicPr>
          <p:cNvPr id="51" name="Billede 40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2" name="Text Box 48"/>
          <p:cNvSpPr txBox="1">
            <a:spLocks noChangeArrowheads="1"/>
          </p:cNvSpPr>
          <p:nvPr userDrawn="1"/>
        </p:nvSpPr>
        <p:spPr bwMode="auto"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Diastype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Vælg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dit nuværende dias/slide til et alternativt layout</a:t>
            </a:r>
          </a:p>
        </p:txBody>
      </p:sp>
      <p:sp>
        <p:nvSpPr>
          <p:cNvPr id="53" name="Text Box 48"/>
          <p:cNvSpPr txBox="1">
            <a:spLocks noChangeArrowheads="1"/>
          </p:cNvSpPr>
          <p:nvPr userDrawn="1"/>
        </p:nvSpPr>
        <p:spPr bwMode="auto"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Skrift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 Anvender skriften Microsoft New Tai Lue i PowerPoint.</a:t>
            </a:r>
            <a:endParaRPr lang="da-DK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4" name="Text Box 48"/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se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Klik på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Gitterlinjer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og/eller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etablere flere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Før musen over en eksisterende hjælpelinje og klik på linjen (koordinater på linjen vises)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nede, mens du flytter placeringen af den eksisterende linje (tilføjer en ny)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Tryk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Alt + F9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hurtig visning af hjælpelinjer</a:t>
            </a:r>
          </a:p>
        </p:txBody>
      </p:sp>
      <p:sp>
        <p:nvSpPr>
          <p:cNvPr id="55" name="Text Box 48"/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På layouts med billedholder: Klik på ikon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Teksten ”Klik her, hvis du vil udskifte billedet” bliver ikke vist i din præsentation.  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hente KU-billeder, som er tilpasset og minimeret til henholdsvis 4:3- og 16:9-format via dette link:</a:t>
            </a:r>
            <a:b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/>
              </a:rPr>
              <a:t>http://image.ku.dk/lightbox/211/13407586855728741badb20/</a:t>
            </a:r>
            <a:r>
              <a:rPr lang="da-DK" sz="800" b="0" baseline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/>
              </a:rPr>
              <a:t> 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slideshow-visning for at gøre linket aktivt.</a:t>
            </a:r>
          </a:p>
        </p:txBody>
      </p:sp>
      <p:sp>
        <p:nvSpPr>
          <p:cNvPr id="56" name="Text Box 48"/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Billedstørrelser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 optimale billedstørrelser 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4:3-format: 1.500 x 1.073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Gem billederne i 72 dpi og i ”jpg-medium-kvalitet”</a:t>
            </a:r>
          </a:p>
        </p:txBody>
      </p:sp>
      <p:sp>
        <p:nvSpPr>
          <p:cNvPr id="57" name="Text Box 48"/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Klik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at ændre billedets fokus/størrelse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Ønsker du at skalere billedet, så 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-knappen nede, mens du trækker i billedets hjørner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billedet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</p:txBody>
      </p:sp>
      <p:sp>
        <p:nvSpPr>
          <p:cNvPr id="58" name="Text Box 48"/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Skabelonens farver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vælge mellem en række farver til baggrunde og grafer.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59" name="Text Box 48"/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Mere information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</a:t>
            </a:r>
            <a: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designguiden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på</a:t>
            </a:r>
            <a:b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  <a:t>www.designguide.ku.dk/ku/</a:t>
            </a:r>
            <a:b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  <a:t>skabeloner/powerpoint/</a:t>
            </a:r>
            <a:b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  <a:t>praesentationer/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0" name="Billede 25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61" name="Billede 3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62" name="Billede 3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3" name="Text Box 48"/>
          <p:cNvSpPr txBox="1">
            <a:spLocks noChangeArrowheads="1"/>
          </p:cNvSpPr>
          <p:nvPr userDrawn="1"/>
        </p:nvSpPr>
        <p:spPr bwMode="auto"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knappen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Nyt dias/Nyt slide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på øverste del af knappen for at oprette i et dias/slide magen til det markerede. Klik på nederste del for at se et udvalg af mulige layoutvalg</a:t>
            </a:r>
            <a:endParaRPr lang="da-DK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4" name="Billede 39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5" name="Freeform 10"/>
          <p:cNvSpPr>
            <a:spLocks noChangeAspect="1"/>
          </p:cNvSpPr>
          <p:nvPr userDrawn="1"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6" name="Freeform 10"/>
          <p:cNvSpPr>
            <a:spLocks noChangeAspect="1"/>
          </p:cNvSpPr>
          <p:nvPr userDrawn="1"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32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51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35125"/>
            <a:ext cx="11012487" cy="46751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7" name="Rectangle 19"/>
          <p:cNvSpPr/>
          <p:nvPr userDrawn="1"/>
        </p:nvSpPr>
        <p:spPr>
          <a:xfrm>
            <a:off x="0" y="2"/>
            <a:ext cx="12192000" cy="3326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EEFEE">
                  <a:alpha val="93000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4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4276E65D-4FB3-40ED-B65A-20F69F4A226A}" type="datetime1">
              <a:rPr lang="da-DK" smtClean="0"/>
              <a:t>25.08.2026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8041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kern="1200" spc="6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kern="1200" spc="6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kern="1200" spc="6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073150" indent="-3540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19138" indent="3540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3540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da-DK" sz="1800" kern="1200" spc="6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3540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719138" indent="3540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719138" indent="3540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719138" indent="3540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>
          <p15:clr>
            <a:srgbClr val="F26B43"/>
          </p15:clr>
        </p15:guide>
        <p15:guide id="2" pos="7307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pos="371">
          <p15:clr>
            <a:srgbClr val="F26B43"/>
          </p15:clr>
        </p15:guide>
        <p15:guide id="6" pos="7308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9.png"/><Relationship Id="rId4" Type="http://schemas.openxmlformats.org/officeDocument/2006/relationships/image" Target="../media/image38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15743" y="3208713"/>
            <a:ext cx="4946649" cy="2189611"/>
          </a:xfrm>
        </p:spPr>
        <p:txBody>
          <a:bodyPr anchor="b" anchorCtr="0"/>
          <a:lstStyle/>
          <a:p>
            <a:r>
              <a:rPr lang="en-GB" dirty="0"/>
              <a:t>Simon Rasmussen, Professor</a:t>
            </a:r>
          </a:p>
          <a:p>
            <a:r>
              <a:rPr lang="en-GB" dirty="0"/>
              <a:t>Multi-modal bioinformatics</a:t>
            </a:r>
          </a:p>
          <a:p>
            <a:r>
              <a:rPr lang="en-GB" dirty="0"/>
              <a:t>NNF </a:t>
            </a:r>
            <a:r>
              <a:rPr lang="en-GB" dirty="0" err="1"/>
              <a:t>Center</a:t>
            </a:r>
            <a:r>
              <a:rPr lang="en-GB" dirty="0"/>
              <a:t> for Basic Metabolic Research</a:t>
            </a:r>
          </a:p>
          <a:p>
            <a:r>
              <a:rPr lang="en-GB" dirty="0"/>
              <a:t>University of Copenhagen</a:t>
            </a:r>
          </a:p>
          <a:p>
            <a:endParaRPr lang="en-GB" dirty="0"/>
          </a:p>
          <a:p>
            <a:r>
              <a:rPr lang="da-DK" dirty="0"/>
              <a:t>NNF Center for </a:t>
            </a:r>
            <a:r>
              <a:rPr lang="da-DK" dirty="0" err="1"/>
              <a:t>Genomic</a:t>
            </a:r>
            <a:r>
              <a:rPr lang="da-DK" dirty="0"/>
              <a:t> </a:t>
            </a:r>
            <a:r>
              <a:rPr lang="da-DK" dirty="0" err="1"/>
              <a:t>Mechanisms</a:t>
            </a:r>
            <a:r>
              <a:rPr lang="da-DK" dirty="0"/>
              <a:t> of </a:t>
            </a:r>
            <a:r>
              <a:rPr lang="da-DK" dirty="0" err="1"/>
              <a:t>Disease</a:t>
            </a:r>
            <a:r>
              <a:rPr lang="da-DK" dirty="0"/>
              <a:t>, </a:t>
            </a:r>
            <a:r>
              <a:rPr lang="da-DK" dirty="0" err="1"/>
              <a:t>Broad</a:t>
            </a:r>
            <a:r>
              <a:rPr lang="da-DK" dirty="0"/>
              <a:t> Institute</a:t>
            </a:r>
            <a:endParaRPr lang="en-GB" dirty="0"/>
          </a:p>
          <a:p>
            <a:endParaRPr lang="en-GB" dirty="0"/>
          </a:p>
          <a:p>
            <a:r>
              <a:rPr lang="en-GB" dirty="0"/>
              <a:t>August 26th, 2026, Aarhus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15743" y="1275803"/>
            <a:ext cx="5343733" cy="1932910"/>
          </a:xfrm>
        </p:spPr>
        <p:txBody>
          <a:bodyPr/>
          <a:lstStyle/>
          <a:p>
            <a:r>
              <a:rPr lang="en-GB" sz="3200" dirty="0">
                <a:latin typeface="+mj-lt"/>
              </a:rPr>
              <a:t>Introduction to EIR and EIR-FM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C6D950-E017-11F6-389D-CFF584541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35" y="4983340"/>
            <a:ext cx="4411666" cy="118251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63A00BC-635A-DA5F-E588-C6887872BF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77"/>
          <a:stretch/>
        </p:blipFill>
        <p:spPr bwMode="auto">
          <a:xfrm>
            <a:off x="7275747" y="2092619"/>
            <a:ext cx="3373587" cy="254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71BCE0-E5CD-D110-5951-F5ADC4C82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Conflict of Interests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A4BA7-1D83-B598-018F-A2A280402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S.R. has received research funding from the Danish drug discovery company Sidera Bio ApS</a:t>
            </a:r>
          </a:p>
          <a:p>
            <a:endParaRPr lang="en-DK" dirty="0"/>
          </a:p>
          <a:p>
            <a:r>
              <a:rPr lang="en-DK" dirty="0"/>
              <a:t>S.R. has performed consulting for Danish drug discovery companies Sidera Bio ApS and QuantumCell ApS</a:t>
            </a:r>
          </a:p>
          <a:p>
            <a:endParaRPr lang="en-DK" dirty="0"/>
          </a:p>
          <a:p>
            <a:r>
              <a:rPr lang="en-DK" dirty="0"/>
              <a:t>S.R. is co-founder and a shareholder of Phenora Health ApS</a:t>
            </a:r>
          </a:p>
          <a:p>
            <a:endParaRPr lang="en-DK" dirty="0"/>
          </a:p>
          <a:p>
            <a:endParaRPr lang="en-DK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9AFF5-F24B-EC07-2C8A-5AD15449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0D59A-D7B0-4B9B-8B78-E4C3DDBABBD4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3DD45C-BD12-D19A-FA99-AFBF2081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798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7EF8-941C-D2AA-30AD-23F534EA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DK" dirty="0"/>
              <a:t>What is defining the Rasmussen Lab: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22811-C965-393D-F089-8DFBC28F8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35125"/>
            <a:ext cx="5358535" cy="46751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DK" b="1" dirty="0">
                <a:solidFill>
                  <a:schemeClr val="accent4"/>
                </a:solidFill>
              </a:rPr>
              <a:t>Interdisciplinary within computation, biology and health</a:t>
            </a:r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r>
              <a:rPr lang="en-DK" b="1" dirty="0"/>
              <a:t>Technology development focused (bioinformatics methods)</a:t>
            </a:r>
          </a:p>
          <a:p>
            <a:pPr marL="0" indent="0">
              <a:buNone/>
            </a:pPr>
            <a:endParaRPr lang="en-DK" b="1" dirty="0"/>
          </a:p>
          <a:p>
            <a:pPr marL="0" indent="0">
              <a:buNone/>
            </a:pPr>
            <a:r>
              <a:rPr lang="en-DK" b="1" dirty="0"/>
              <a:t>Collaborations with biologist and clinicians</a:t>
            </a:r>
          </a:p>
          <a:p>
            <a:pPr marL="0" indent="0">
              <a:buNone/>
            </a:pPr>
            <a:endParaRPr lang="en-DK" b="1" dirty="0"/>
          </a:p>
          <a:p>
            <a:pPr marL="0" indent="0">
              <a:buNone/>
            </a:pPr>
            <a:r>
              <a:rPr lang="en-DK" b="1" dirty="0">
                <a:solidFill>
                  <a:schemeClr val="accent4"/>
                </a:solidFill>
              </a:rPr>
              <a:t>‘Forced interdisciplinarity’</a:t>
            </a:r>
          </a:p>
        </p:txBody>
      </p:sp>
      <p:pic>
        <p:nvPicPr>
          <p:cNvPr id="6" name="Picture 5" descr="Chart, bubble chart&#10;&#10;Description automatically generated">
            <a:extLst>
              <a:ext uri="{FF2B5EF4-FFF2-40B4-BE49-F238E27FC236}">
                <a16:creationId xmlns:a16="http://schemas.microsoft.com/office/drawing/2014/main" id="{C0EF9923-E7F5-DE35-7A11-3D9F7E09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33" y="1635125"/>
            <a:ext cx="4149885" cy="467518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129EA-B8FB-2314-4B82-63ACC79C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C829339-1C74-4825-ADEB-BCD7E13EFC81}" type="datetime1">
              <a:rPr lang="da-DK" smtClean="0"/>
              <a:pPr>
                <a:spcAft>
                  <a:spcPts val="600"/>
                </a:spcAft>
              </a:pPr>
              <a:t>25.08.2026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358C5-282F-7A36-AA4C-1ECCA2BB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967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15113EC-C808-2FD3-5459-9077DE74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digital twin concept</a:t>
            </a:r>
          </a:p>
        </p:txBody>
      </p:sp>
      <p:pic>
        <p:nvPicPr>
          <p:cNvPr id="11" name="Content Placeholder 10" descr="A diagram of a diagram of a machine&#10;&#10;AI-generated content may be incorrect.">
            <a:extLst>
              <a:ext uri="{FF2B5EF4-FFF2-40B4-BE49-F238E27FC236}">
                <a16:creationId xmlns:a16="http://schemas.microsoft.com/office/drawing/2014/main" id="{E64D7C1D-AD7D-B9B7-4597-4E59D802D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004" t="26077" r="66445" b="19219"/>
          <a:stretch>
            <a:fillRect/>
          </a:stretch>
        </p:blipFill>
        <p:spPr>
          <a:xfrm>
            <a:off x="196134" y="1700212"/>
            <a:ext cx="2684207" cy="2557463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CD729-B8FF-5030-E62F-DACE35F7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0D59A-D7B0-4B9B-8B78-E4C3DDBABBD4}" type="datetime1">
              <a:rPr lang="da-DK" smtClean="0"/>
              <a:t>25.08.2026</a:t>
            </a:fld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93FC09-9605-86D0-2456-4A6D9A32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pPr/>
              <a:t>4</a:t>
            </a:fld>
            <a:endParaRPr lang="da-DK"/>
          </a:p>
        </p:txBody>
      </p:sp>
      <p:pic>
        <p:nvPicPr>
          <p:cNvPr id="12" name="Content Placeholder 10" descr="A diagram of a diagram of a machine&#10;&#10;AI-generated content may be incorrect.">
            <a:extLst>
              <a:ext uri="{FF2B5EF4-FFF2-40B4-BE49-F238E27FC236}">
                <a16:creationId xmlns:a16="http://schemas.microsoft.com/office/drawing/2014/main" id="{DECCAE5C-9CD9-2D18-0FFD-BE721171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91" t="27614" r="4258" b="17682"/>
          <a:stretch>
            <a:fillRect/>
          </a:stretch>
        </p:blipFill>
        <p:spPr>
          <a:xfrm>
            <a:off x="3220318" y="1700212"/>
            <a:ext cx="2684207" cy="2557463"/>
          </a:xfrm>
          <a:prstGeom prst="rect">
            <a:avLst/>
          </a:prstGeom>
        </p:spPr>
      </p:pic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3AB2E996-846F-E8C1-896E-0F992DE92D29}"/>
              </a:ext>
            </a:extLst>
          </p:cNvPr>
          <p:cNvSpPr txBox="1">
            <a:spLocks/>
          </p:cNvSpPr>
          <p:nvPr/>
        </p:nvSpPr>
        <p:spPr>
          <a:xfrm>
            <a:off x="6244502" y="849777"/>
            <a:ext cx="5356948" cy="4675187"/>
          </a:xfrm>
          <a:prstGeom prst="rect">
            <a:avLst/>
          </a:prstGeom>
        </p:spPr>
        <p:txBody>
          <a:bodyPr anchor="ctr"/>
          <a:lstStyle>
            <a:lvl1pPr marL="361950" indent="-3619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50" indent="-3540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3540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354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9138" indent="3540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9138" indent="3540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9138" indent="3540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9138" indent="3540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DK" dirty="0"/>
              <a:t>Virtual replica of a physical object or system</a:t>
            </a:r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r>
              <a:rPr lang="en-DK" dirty="0"/>
              <a:t>Test changes, predict failures, and optimize performance</a:t>
            </a:r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r>
              <a:rPr lang="en-DK" dirty="0"/>
              <a:t>Similar to the ‘Virtual-cell’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FDBA3-348B-C3EA-38C0-083E31D26E4E}"/>
              </a:ext>
            </a:extLst>
          </p:cNvPr>
          <p:cNvSpPr txBox="1"/>
          <p:nvPr/>
        </p:nvSpPr>
        <p:spPr>
          <a:xfrm>
            <a:off x="2024774" y="5333925"/>
            <a:ext cx="8099480" cy="7964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2400" b="1" dirty="0">
                <a:solidFill>
                  <a:schemeClr val="accent1"/>
                </a:solidFill>
              </a:rPr>
              <a:t>What if we could make patient level ‘health-based’ digital twins based on international multi-modal data? </a:t>
            </a:r>
            <a:endParaRPr lang="en-DK" sz="2400" b="1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2F17C8-FBBA-394A-F4BB-DC4679A43260}"/>
              </a:ext>
            </a:extLst>
          </p:cNvPr>
          <p:cNvSpPr txBox="1"/>
          <p:nvPr/>
        </p:nvSpPr>
        <p:spPr>
          <a:xfrm>
            <a:off x="688976" y="4464843"/>
            <a:ext cx="1682750" cy="41433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DK" sz="2000" b="1" dirty="0"/>
              <a:t>Physical object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461469-38DB-EE00-D8A1-B4E403651A3E}"/>
              </a:ext>
            </a:extLst>
          </p:cNvPr>
          <p:cNvSpPr txBox="1"/>
          <p:nvPr/>
        </p:nvSpPr>
        <p:spPr>
          <a:xfrm>
            <a:off x="3721047" y="4464843"/>
            <a:ext cx="1682750" cy="41433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DK" sz="2000" b="1" dirty="0"/>
              <a:t>Digital Twin</a:t>
            </a:r>
          </a:p>
        </p:txBody>
      </p:sp>
    </p:spTree>
    <p:extLst>
      <p:ext uri="{BB962C8B-B14F-4D97-AF65-F5344CB8AC3E}">
        <p14:creationId xmlns:p14="http://schemas.microsoft.com/office/powerpoint/2010/main" val="196377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1BFB-CBEA-542E-3959-BB8BF3FA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DK" dirty="0"/>
              <a:t>Medical digital twins: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DAE5F-5445-30B2-2842-17C5574AC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017" y="2842454"/>
            <a:ext cx="5358535" cy="1542072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b="1" dirty="0">
              <a:cs typeface="Microsoft New Tai Lue"/>
            </a:endParaRPr>
          </a:p>
          <a:p>
            <a:pPr marL="0" indent="0">
              <a:buNone/>
            </a:pPr>
            <a:r>
              <a:rPr lang="en-DK" b="1" dirty="0"/>
              <a:t>“Computational representation of a person using </a:t>
            </a:r>
            <a:r>
              <a:rPr lang="en-DK" b="1" dirty="0">
                <a:solidFill>
                  <a:schemeClr val="accent1"/>
                </a:solidFill>
              </a:rPr>
              <a:t>biomedical data</a:t>
            </a:r>
            <a:r>
              <a:rPr lang="en-DK" b="1" dirty="0"/>
              <a:t>”</a:t>
            </a:r>
            <a:endParaRPr lang="en-DK" b="1" dirty="0">
              <a:cs typeface="Microsoft New Tai Lue"/>
            </a:endParaRPr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9E01E-F8C0-7A12-0C4B-2780BF0E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C829339-1C74-4825-ADEB-BCD7E13EFC81}" type="datetime1">
              <a:rPr lang="da-DK" smtClean="0"/>
              <a:pPr>
                <a:spcAft>
                  <a:spcPts val="600"/>
                </a:spcAft>
              </a:pPr>
              <a:t>25.08.2026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AE0FF-EE6F-AF0C-B98C-34EAB8B5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5</a:t>
            </a:fld>
            <a:endParaRPr lang="da-DK"/>
          </a:p>
        </p:txBody>
      </p:sp>
      <p:pic>
        <p:nvPicPr>
          <p:cNvPr id="10" name="Picture 9" descr="A transparent box with a couple of human figures&#10;&#10;AI-generated content may be incorrect.">
            <a:extLst>
              <a:ext uri="{FF2B5EF4-FFF2-40B4-BE49-F238E27FC236}">
                <a16:creationId xmlns:a16="http://schemas.microsoft.com/office/drawing/2014/main" id="{64F60ECB-9BBA-3EAA-F44B-A1FD2CE7D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07" y="1374424"/>
            <a:ext cx="5196588" cy="519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5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621F-0CE9-71FC-652F-B01FEB4B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0FD63-B84C-5A71-147D-9845C3D55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DK" dirty="0"/>
              <a:t>Medical digital twins: Representations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0B69A-AAB5-C4A4-8B55-38D5F329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C829339-1C74-4825-ADEB-BCD7E13EFC81}" type="datetime1">
              <a:rPr lang="da-DK" smtClean="0"/>
              <a:pPr>
                <a:spcAft>
                  <a:spcPts val="600"/>
                </a:spcAft>
              </a:pPr>
              <a:t>25.08.2026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AEC93-14FA-A2BE-A301-039EDAD5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6</a:t>
            </a:fld>
            <a:endParaRPr lang="da-DK"/>
          </a:p>
        </p:txBody>
      </p:sp>
      <p:pic>
        <p:nvPicPr>
          <p:cNvPr id="10" name="Picture 9" descr="A transparent box with a couple of human figures&#10;&#10;AI-generated content may be incorrect.">
            <a:extLst>
              <a:ext uri="{FF2B5EF4-FFF2-40B4-BE49-F238E27FC236}">
                <a16:creationId xmlns:a16="http://schemas.microsoft.com/office/drawing/2014/main" id="{FAE26A3E-1C90-83BD-6ECE-9001F0107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07" y="1374424"/>
            <a:ext cx="5196588" cy="519658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A0FB6EB-B0FD-419D-F660-25C151AA7473}"/>
              </a:ext>
            </a:extLst>
          </p:cNvPr>
          <p:cNvGrpSpPr/>
          <p:nvPr/>
        </p:nvGrpSpPr>
        <p:grpSpPr>
          <a:xfrm>
            <a:off x="721422" y="1647356"/>
            <a:ext cx="4589930" cy="4589930"/>
            <a:chOff x="721422" y="1647356"/>
            <a:chExt cx="4589930" cy="458993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B01D434-F745-0E9E-7C58-D6DD9F4EE90B}"/>
                </a:ext>
              </a:extLst>
            </p:cNvPr>
            <p:cNvGrpSpPr/>
            <p:nvPr/>
          </p:nvGrpSpPr>
          <p:grpSpPr>
            <a:xfrm>
              <a:off x="721422" y="1647356"/>
              <a:ext cx="4589930" cy="4589930"/>
              <a:chOff x="995082" y="1799756"/>
              <a:chExt cx="4589930" cy="4589930"/>
            </a:xfrm>
          </p:grpSpPr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0BEC7E7-9401-2BB3-49AF-81B3AC1EAF24}"/>
                  </a:ext>
                </a:extLst>
              </p:cNvPr>
              <p:cNvSpPr/>
              <p:nvPr/>
            </p:nvSpPr>
            <p:spPr>
              <a:xfrm flipH="1" flipV="1">
                <a:off x="995082" y="1799756"/>
                <a:ext cx="4589930" cy="4589929"/>
              </a:xfrm>
              <a:prstGeom prst="cube">
                <a:avLst/>
              </a:prstGeom>
              <a:noFill/>
              <a:ln w="38100"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2F3BB936-3577-E217-C599-0BCB251F6877}"/>
                  </a:ext>
                </a:extLst>
              </p:cNvPr>
              <p:cNvSpPr/>
              <p:nvPr/>
            </p:nvSpPr>
            <p:spPr>
              <a:xfrm>
                <a:off x="995082" y="1799757"/>
                <a:ext cx="4589930" cy="4589929"/>
              </a:xfrm>
              <a:prstGeom prst="cub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5A1E95E-7806-2D9C-2B35-F7D56194D3BB}"/>
                </a:ext>
              </a:extLst>
            </p:cNvPr>
            <p:cNvGrpSpPr/>
            <p:nvPr/>
          </p:nvGrpSpPr>
          <p:grpSpPr>
            <a:xfrm>
              <a:off x="2168163" y="3131400"/>
              <a:ext cx="706200" cy="721979"/>
              <a:chOff x="5023658" y="3131400"/>
              <a:chExt cx="706200" cy="721979"/>
            </a:xfrm>
            <a:solidFill>
              <a:schemeClr val="tx1"/>
            </a:solidFill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2EC96C1-90DE-99A2-7FCE-ABF604D6F8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17458" y="32490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B92420D-6041-BF31-FE3C-7BE50EDE08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9858" y="340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E441EBF-C5E5-D9CC-57C2-3982318845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23658" y="34776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32D3375-B855-4EAB-1193-44F9CA0281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49858" y="313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A8C27A2-208A-5D1B-E770-37D89061C7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0893" y="3673379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02C914B-F4DB-E12E-DAFA-4CB6E2948DA2}"/>
                </a:ext>
              </a:extLst>
            </p:cNvPr>
            <p:cNvGrpSpPr/>
            <p:nvPr/>
          </p:nvGrpSpPr>
          <p:grpSpPr>
            <a:xfrm>
              <a:off x="3365302" y="4112650"/>
              <a:ext cx="503084" cy="528532"/>
              <a:chOff x="6220797" y="4112650"/>
              <a:chExt cx="503084" cy="528532"/>
            </a:xfrm>
            <a:solidFill>
              <a:schemeClr val="tx1"/>
            </a:solidFill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44790C5-E0C0-45DC-EE4B-A78CD3B7AD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91481" y="411265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DCC0D23-6089-E975-EF4E-976E387948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43881" y="426505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4DB1187-4802-D24C-F97E-F36B09BBF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53881" y="4461182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5475B3D-0A6A-E437-5192-757F496CB5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797" y="4371182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9925C74-DCA7-C890-28B7-1B301A1F73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37890" y="4112650"/>
              <a:ext cx="180000" cy="18000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3645A44-E168-C53E-F845-52EAFD51E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0290" y="4265050"/>
              <a:ext cx="180000" cy="1800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9B942F3-1A25-A5D6-CFD2-8F77A1170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00290" y="4461182"/>
              <a:ext cx="180000" cy="1800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E83CB04-0768-E19B-9F4A-FAE79AAF8F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7206" y="4371182"/>
              <a:ext cx="180000" cy="1800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D2022B4-ED1A-77E4-1C26-FB2BA05EF555}"/>
                </a:ext>
              </a:extLst>
            </p:cNvPr>
            <p:cNvGrpSpPr/>
            <p:nvPr/>
          </p:nvGrpSpPr>
          <p:grpSpPr>
            <a:xfrm>
              <a:off x="1991378" y="4127573"/>
              <a:ext cx="706200" cy="721979"/>
              <a:chOff x="5023658" y="3131400"/>
              <a:chExt cx="706200" cy="721979"/>
            </a:xfrm>
            <a:solidFill>
              <a:schemeClr val="tx1"/>
            </a:solidFill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6D31F72-C632-2EC8-04FC-C175ED83F5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17458" y="32490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E1A72FBE-30D9-49F5-E864-90B07C3FB3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9858" y="340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C4A88125-0B5A-D9A3-C4FF-09CE1E64E5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23658" y="34776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809EDB3-518B-E72C-424C-00F392AEF1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49858" y="313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E4C4061-A060-F035-E4A3-6867030E00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0893" y="3673379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A268D84-122B-FE59-4E72-BFFDB43DC6B8}"/>
                </a:ext>
              </a:extLst>
            </p:cNvPr>
            <p:cNvGrpSpPr/>
            <p:nvPr/>
          </p:nvGrpSpPr>
          <p:grpSpPr>
            <a:xfrm>
              <a:off x="2451963" y="4582155"/>
              <a:ext cx="706200" cy="721979"/>
              <a:chOff x="5023658" y="3131400"/>
              <a:chExt cx="706200" cy="721979"/>
            </a:xfrm>
            <a:solidFill>
              <a:schemeClr val="tx1"/>
            </a:solidFill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E19E1C8-982C-6B9F-2BF2-7EDA3EA227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17458" y="32490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43E98104-CB79-CAC6-B472-A18CD8C207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9858" y="340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7B41372-9BBE-2A8A-5E69-078B340E1B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23658" y="34776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7FF446F-3B3D-F425-C440-EB3DF6267D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49858" y="313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7DACA089-91CE-5BD0-5C52-86224221EC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0893" y="3673379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2FAF004-30C6-231B-5951-1D154784B7D0}"/>
                </a:ext>
              </a:extLst>
            </p:cNvPr>
            <p:cNvGrpSpPr/>
            <p:nvPr/>
          </p:nvGrpSpPr>
          <p:grpSpPr>
            <a:xfrm>
              <a:off x="2852860" y="3352380"/>
              <a:ext cx="706200" cy="721979"/>
              <a:chOff x="5023658" y="3131400"/>
              <a:chExt cx="706200" cy="721979"/>
            </a:xfrm>
            <a:solidFill>
              <a:schemeClr val="tx1"/>
            </a:solidFill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3E4B8F31-6AD1-77C7-63D0-FF36513155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17458" y="32490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ACEC901-9428-1749-00AF-516FCC4F23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69858" y="340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C2D9595-1E86-4701-F517-CBEBBEE7F3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23658" y="34776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570CAE3-9707-9E30-5A33-3758A0B54D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49858" y="3131400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475C94D-D7FE-E00A-2C70-9161DAC980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0893" y="3673379"/>
                <a:ext cx="180000" cy="180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998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98AB-E7C8-2ED0-711E-4155737B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Why Medical Digital Twins (@CBMR)?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7D39F-A73E-3662-5D57-01F810F1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FEAA-BA47-4F55-BB2A-ABDD4DBF5CDE}" type="datetime1">
              <a:rPr lang="da-DK" smtClean="0"/>
              <a:t>25.08.2026</a:t>
            </a:fld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D5FEB-64D4-6008-031D-E40451AB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7</a:t>
            </a:fld>
            <a:endParaRPr lang="da-D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8B117-D349-8A5B-FDBA-21C8BD40FB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499" t="35064" r="41453" b="44584"/>
          <a:stretch>
            <a:fillRect/>
          </a:stretch>
        </p:blipFill>
        <p:spPr>
          <a:xfrm>
            <a:off x="756616" y="1852833"/>
            <a:ext cx="2409296" cy="180000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3D70100-2EDF-9FDC-BECA-5D4BF52D7B60}"/>
              </a:ext>
            </a:extLst>
          </p:cNvPr>
          <p:cNvSpPr txBox="1">
            <a:spLocks/>
          </p:cNvSpPr>
          <p:nvPr/>
        </p:nvSpPr>
        <p:spPr>
          <a:xfrm>
            <a:off x="588964" y="3976584"/>
            <a:ext cx="2839295" cy="24646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7191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7191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da-DK" sz="1800" b="0" i="0" kern="120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pPr marL="0" lvl="0" indent="0" algn="ctr">
              <a:spcBef>
                <a:spcPct val="0"/>
              </a:spcBef>
              <a:buNone/>
              <a:defRPr/>
            </a:pPr>
            <a:r>
              <a:rPr lang="en-GB" sz="1800" b="1" dirty="0">
                <a:solidFill>
                  <a:srgbClr val="001267"/>
                </a:solidFill>
              </a:rPr>
              <a:t>Moving away from one-size-fits-all approach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/>
              <a:t>Prediction of disease and complications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/>
              <a:t>Disease subtypes and patient stratification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04EFC3-01B1-7C12-8850-01FFDD211986}"/>
              </a:ext>
            </a:extLst>
          </p:cNvPr>
          <p:cNvSpPr txBox="1"/>
          <p:nvPr/>
        </p:nvSpPr>
        <p:spPr>
          <a:xfrm>
            <a:off x="3675505" y="3976584"/>
            <a:ext cx="2601801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DK" b="1" spc="60" dirty="0">
                <a:solidFill>
                  <a:srgbClr val="001267"/>
                </a:solidFill>
                <a:cs typeface="Microsoft New Tai Lue" panose="020B0502040204020203" pitchFamily="34" charset="0"/>
              </a:rPr>
              <a:t>Resolve drivers of disease heterogeneity</a:t>
            </a:r>
          </a:p>
          <a:p>
            <a:pPr algn="ctr"/>
            <a:endParaRPr lang="en-DK" b="1" spc="60" dirty="0">
              <a:solidFill>
                <a:srgbClr val="001267"/>
              </a:solidFill>
              <a:cs typeface="Microsoft New Tai Lue" panose="020B0502040204020203" pitchFamily="34" charset="0"/>
            </a:endParaRPr>
          </a:p>
          <a:p>
            <a:pPr algn="ctr"/>
            <a:r>
              <a:rPr lang="en-GB" dirty="0"/>
              <a:t>Molecular association to CMD/CVD subtypes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Identification of biomarkers</a:t>
            </a:r>
          </a:p>
          <a:p>
            <a:pPr algn="ctr"/>
            <a:endParaRPr lang="en-DK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018154-0343-5299-974F-AB55923ABD53}"/>
              </a:ext>
            </a:extLst>
          </p:cNvPr>
          <p:cNvSpPr txBox="1"/>
          <p:nvPr/>
        </p:nvSpPr>
        <p:spPr>
          <a:xfrm>
            <a:off x="6469823" y="3950726"/>
            <a:ext cx="27799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spc="60" dirty="0">
                <a:solidFill>
                  <a:srgbClr val="001267"/>
                </a:solidFill>
                <a:cs typeface="Microsoft New Tai Lue" panose="020B0502040204020203" pitchFamily="34" charset="0"/>
              </a:rPr>
              <a:t>Translational potential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Genetic support for drug candidates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Subtypes treatment response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C4EA9-411B-6134-8F4F-60C013AF9D30}"/>
              </a:ext>
            </a:extLst>
          </p:cNvPr>
          <p:cNvSpPr txBox="1"/>
          <p:nvPr/>
        </p:nvSpPr>
        <p:spPr>
          <a:xfrm>
            <a:off x="9442336" y="3976584"/>
            <a:ext cx="21585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spc="60" dirty="0">
                <a:solidFill>
                  <a:srgbClr val="001267"/>
                </a:solidFill>
                <a:cs typeface="Microsoft New Tai Lue" panose="020B0502040204020203" pitchFamily="34" charset="0"/>
              </a:rPr>
              <a:t>Participant selection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Biobanking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iPSC studies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Clinical trials</a:t>
            </a:r>
          </a:p>
          <a:p>
            <a:pPr algn="ctr"/>
            <a:endParaRPr lang="en-DK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174A47-5504-6EC8-E626-C385D5B78659}"/>
              </a:ext>
            </a:extLst>
          </p:cNvPr>
          <p:cNvGrpSpPr/>
          <p:nvPr/>
        </p:nvGrpSpPr>
        <p:grpSpPr>
          <a:xfrm>
            <a:off x="4041516" y="1844072"/>
            <a:ext cx="1767746" cy="1800000"/>
            <a:chOff x="3860210" y="1822745"/>
            <a:chExt cx="1767746" cy="179625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1B93699-41BF-D375-81DA-E26C8B84B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53" t="49297" r="-1153" b="398"/>
            <a:stretch/>
          </p:blipFill>
          <p:spPr>
            <a:xfrm>
              <a:off x="4529057" y="2539002"/>
              <a:ext cx="1098899" cy="1080000"/>
            </a:xfrm>
            <a:prstGeom prst="roundRect">
              <a:avLst>
                <a:gd name="adj" fmla="val 10386"/>
              </a:avLst>
            </a:prstGeom>
            <a:solidFill>
              <a:srgbClr val="F1F8FA"/>
            </a:solidFill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B9A32FE-60EE-7A00-59D7-94D802953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9695"/>
            <a:stretch/>
          </p:blipFill>
          <p:spPr>
            <a:xfrm>
              <a:off x="3860210" y="1822745"/>
              <a:ext cx="1098899" cy="1080000"/>
            </a:xfrm>
            <a:prstGeom prst="roundRect">
              <a:avLst>
                <a:gd name="adj" fmla="val 10386"/>
              </a:avLst>
            </a:prstGeom>
          </p:spPr>
        </p:pic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E2E80AF9-A047-3680-994F-ACAD6A700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020" y="1894929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BACEC2A-586C-93D4-8E78-327143497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384" y="1894929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57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646823-8828-60B0-CF1F-1F705687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57" y="1538378"/>
            <a:ext cx="11012486" cy="865186"/>
          </a:xfrm>
        </p:spPr>
        <p:txBody>
          <a:bodyPr/>
          <a:lstStyle/>
          <a:p>
            <a:pPr algn="ctr"/>
            <a:r>
              <a:rPr lang="en-DK" b="1" dirty="0"/>
              <a:t>Framework for digital twins: EIR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4C008-D13E-3FA5-375C-BEECD662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FEAA-BA47-4F55-BB2A-ABDD4DBF5CDE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A18C5-EE89-C7B6-8BB3-FEAA568D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8</a:t>
            </a:fld>
            <a:endParaRPr lang="da-DK" dirty="0"/>
          </a:p>
        </p:txBody>
      </p:sp>
      <p:pic>
        <p:nvPicPr>
          <p:cNvPr id="12" name="Screenshot 2021-11-19 at 14.47.04.png" descr="Screenshot 2021-11-19 at 14.47.04.png">
            <a:extLst>
              <a:ext uri="{FF2B5EF4-FFF2-40B4-BE49-F238E27FC236}">
                <a16:creationId xmlns:a16="http://schemas.microsoft.com/office/drawing/2014/main" id="{6181C75E-3C5E-6079-C976-D6647793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39"/>
          <a:stretch>
            <a:fillRect/>
          </a:stretch>
        </p:blipFill>
        <p:spPr>
          <a:xfrm>
            <a:off x="3769151" y="2746464"/>
            <a:ext cx="4653697" cy="27145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2251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84DA8-C096-D187-6EBC-289B2283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5186"/>
          </a:xfrm>
        </p:spPr>
        <p:txBody>
          <a:bodyPr/>
          <a:lstStyle/>
          <a:p>
            <a:r>
              <a:rPr lang="en-DK" dirty="0"/>
              <a:t>EIR: Framework for multi-modal data integration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5F3261A-4154-0661-BA37-3AEBCD196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743" y="2668409"/>
            <a:ext cx="4863707" cy="3641904"/>
          </a:xfrm>
        </p:spPr>
        <p:txBody>
          <a:bodyPr/>
          <a:lstStyle/>
          <a:p>
            <a:pPr marL="0" indent="0">
              <a:buNone/>
            </a:pPr>
            <a:r>
              <a:rPr lang="en-DK" dirty="0"/>
              <a:t>Supervised modelling &amp; generative-AI: </a:t>
            </a:r>
          </a:p>
          <a:p>
            <a:r>
              <a:rPr lang="en-GB" dirty="0"/>
              <a:t>G</a:t>
            </a:r>
            <a:r>
              <a:rPr lang="en-DK" dirty="0"/>
              <a:t>enotype</a:t>
            </a:r>
          </a:p>
          <a:p>
            <a:r>
              <a:rPr lang="en-GB" dirty="0"/>
              <a:t>T</a:t>
            </a:r>
            <a:r>
              <a:rPr lang="en-DK" dirty="0"/>
              <a:t>abular</a:t>
            </a:r>
          </a:p>
          <a:p>
            <a:r>
              <a:rPr lang="en-GB" dirty="0"/>
              <a:t>S</a:t>
            </a:r>
            <a:r>
              <a:rPr lang="en-DK" dirty="0"/>
              <a:t>equences</a:t>
            </a:r>
          </a:p>
          <a:p>
            <a:r>
              <a:rPr lang="en-DK" dirty="0"/>
              <a:t>Time-series</a:t>
            </a:r>
          </a:p>
          <a:p>
            <a:r>
              <a:rPr lang="en-GB" dirty="0"/>
              <a:t>I</a:t>
            </a:r>
            <a:r>
              <a:rPr lang="en-DK" dirty="0"/>
              <a:t>mages</a:t>
            </a:r>
          </a:p>
          <a:p>
            <a:r>
              <a:rPr lang="en-GB" dirty="0"/>
              <a:t>A</a:t>
            </a:r>
            <a:r>
              <a:rPr lang="en-DK" dirty="0"/>
              <a:t>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62795-268E-0CD0-0EB1-38DFFD98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/>
          <a:lstStyle/>
          <a:p>
            <a:fld id="{3C829339-1C74-4825-ADEB-BCD7E13EFC81}" type="datetime1">
              <a:rPr lang="da-DK" smtClean="0"/>
              <a:pPr/>
              <a:t>25.08.2026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8FE33-0DD6-93C0-0042-462082D3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/>
          <a:lstStyle/>
          <a:p>
            <a:fld id="{091A926C-488A-4E3E-9C21-57CAA120E11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96635-24F4-23FA-A03D-27071B29F9DA}"/>
              </a:ext>
            </a:extLst>
          </p:cNvPr>
          <p:cNvSpPr txBox="1"/>
          <p:nvPr/>
        </p:nvSpPr>
        <p:spPr>
          <a:xfrm>
            <a:off x="296347" y="6237286"/>
            <a:ext cx="5418653" cy="35494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DK" sz="2400" b="1" dirty="0">
                <a:solidFill>
                  <a:schemeClr val="accent4"/>
                </a:solidFill>
              </a:rPr>
              <a:t>EIR, </a:t>
            </a:r>
            <a:r>
              <a:rPr lang="en-DK" sz="2400" dirty="0">
                <a:solidFill>
                  <a:schemeClr val="accent4"/>
                </a:solidFill>
              </a:rPr>
              <a:t>Sigurdsson et al., </a:t>
            </a:r>
            <a:r>
              <a:rPr lang="en-GB" sz="2400" dirty="0">
                <a:solidFill>
                  <a:schemeClr val="accent4"/>
                </a:solidFill>
              </a:rPr>
              <a:t>NAR, 2023</a:t>
            </a:r>
            <a:endParaRPr lang="en-DK" sz="2400" dirty="0">
              <a:solidFill>
                <a:schemeClr val="accent4"/>
              </a:solidFill>
            </a:endParaRPr>
          </a:p>
        </p:txBody>
      </p:sp>
      <p:pic>
        <p:nvPicPr>
          <p:cNvPr id="7" name="overall_architecture_many_inputs_edited.drawio.png" descr="overall_architecture_many_inputs_edited.drawio.png">
            <a:extLst>
              <a:ext uri="{FF2B5EF4-FFF2-40B4-BE49-F238E27FC236}">
                <a16:creationId xmlns:a16="http://schemas.microsoft.com/office/drawing/2014/main" id="{A8C95090-2E0C-528F-42C5-B0187D8FCC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029"/>
          <a:stretch/>
        </p:blipFill>
        <p:spPr>
          <a:xfrm>
            <a:off x="461446" y="1658685"/>
            <a:ext cx="4633823" cy="4373815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554E75-9A03-2216-DF46-5B89D42703F0}"/>
              </a:ext>
            </a:extLst>
          </p:cNvPr>
          <p:cNvSpPr txBox="1"/>
          <p:nvPr/>
        </p:nvSpPr>
        <p:spPr>
          <a:xfrm>
            <a:off x="6737744" y="1844072"/>
            <a:ext cx="3591367" cy="466165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DK" sz="2000" b="1" dirty="0">
                <a:solidFill>
                  <a:schemeClr val="accent1"/>
                </a:solidFill>
              </a:rPr>
              <a:t>Biobank scale genomics and multi-modal data integration</a:t>
            </a:r>
          </a:p>
        </p:txBody>
      </p:sp>
      <p:pic>
        <p:nvPicPr>
          <p:cNvPr id="18" name="Screenshot 2021-11-19 at 14.47.04.png" descr="Screenshot 2021-11-19 at 14.47.04.png">
            <a:extLst>
              <a:ext uri="{FF2B5EF4-FFF2-40B4-BE49-F238E27FC236}">
                <a16:creationId xmlns:a16="http://schemas.microsoft.com/office/drawing/2014/main" id="{944F2C97-97A4-BF84-8562-AA9AC1DB5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822" y="5945898"/>
            <a:ext cx="1691732" cy="51965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8563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AA56-3F47-187A-6F52-747FBA25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2009-3BC0-9B0F-995C-8D6EF7E9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EIR: DL Framework for multi-modal data integration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B42AA-526B-54A2-AF0F-1D33DA56A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9339-1C74-4825-ADEB-BCD7E13EFC81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CB1D8-AE90-BF75-E214-AD527BB6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10</a:t>
            </a:fld>
            <a:endParaRPr lang="da-DK" dirty="0"/>
          </a:p>
        </p:txBody>
      </p:sp>
      <p:pic>
        <p:nvPicPr>
          <p:cNvPr id="14" name="overall_architecture_many_inputs_edited.drawio.png" descr="overall_architecture_many_inputs_edited.drawio.png">
            <a:extLst>
              <a:ext uri="{FF2B5EF4-FFF2-40B4-BE49-F238E27FC236}">
                <a16:creationId xmlns:a16="http://schemas.microsoft.com/office/drawing/2014/main" id="{B14B491C-157B-55BB-4583-E1E9016A9E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029"/>
          <a:stretch/>
        </p:blipFill>
        <p:spPr>
          <a:xfrm>
            <a:off x="421211" y="2138087"/>
            <a:ext cx="4541608" cy="4286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EA2293-A989-55A1-EBB2-EE11FE7A5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875" y="620714"/>
            <a:ext cx="749389" cy="10647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571A6E5-8EF9-1754-32D1-FF560609DB76}"/>
              </a:ext>
            </a:extLst>
          </p:cNvPr>
          <p:cNvGrpSpPr/>
          <p:nvPr/>
        </p:nvGrpSpPr>
        <p:grpSpPr>
          <a:xfrm>
            <a:off x="4231838" y="1163552"/>
            <a:ext cx="5501978" cy="2458105"/>
            <a:chOff x="4962819" y="1247856"/>
            <a:chExt cx="5501978" cy="245810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47B6AAD-4F98-64C1-8E53-0FEB232C5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2819" y="1247856"/>
              <a:ext cx="2811612" cy="245810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DD2031-2E85-981B-79E5-F52FCDACB888}"/>
                </a:ext>
              </a:extLst>
            </p:cNvPr>
            <p:cNvSpPr txBox="1"/>
            <p:nvPr/>
          </p:nvSpPr>
          <p:spPr>
            <a:xfrm>
              <a:off x="7656280" y="1868934"/>
              <a:ext cx="2808517" cy="83099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en-DK" dirty="0">
                  <a:solidFill>
                    <a:schemeClr val="accent4"/>
                  </a:solidFill>
                </a:rPr>
                <a:t>Non-linear pQTLs @ UKB</a:t>
              </a:r>
            </a:p>
            <a:p>
              <a:pPr algn="ctr"/>
              <a:r>
                <a:rPr lang="en-DK" dirty="0">
                  <a:solidFill>
                    <a:schemeClr val="accent4"/>
                  </a:solidFill>
                </a:rPr>
                <a:t>Sigurdsson*, Gräf* et al., N</a:t>
              </a:r>
              <a:r>
                <a:rPr lang="en-GB" dirty="0">
                  <a:solidFill>
                    <a:schemeClr val="accent4"/>
                  </a:solidFill>
                </a:rPr>
                <a:t>a</a:t>
              </a:r>
              <a:r>
                <a:rPr lang="en-DK" dirty="0">
                  <a:solidFill>
                    <a:schemeClr val="accent4"/>
                  </a:solidFill>
                </a:rPr>
                <a:t>ture Comms., 2025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440DE1-50F9-9A8C-8659-447218C298EB}"/>
              </a:ext>
            </a:extLst>
          </p:cNvPr>
          <p:cNvGrpSpPr/>
          <p:nvPr/>
        </p:nvGrpSpPr>
        <p:grpSpPr>
          <a:xfrm>
            <a:off x="6088861" y="2615627"/>
            <a:ext cx="4481392" cy="2458105"/>
            <a:chOff x="6662695" y="3190956"/>
            <a:chExt cx="4481392" cy="24581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B492FB-0156-764A-44BD-567B6470B0AA}"/>
                </a:ext>
              </a:extLst>
            </p:cNvPr>
            <p:cNvSpPr txBox="1"/>
            <p:nvPr/>
          </p:nvSpPr>
          <p:spPr>
            <a:xfrm>
              <a:off x="8335571" y="3865974"/>
              <a:ext cx="2808516" cy="830997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pPr algn="ctr"/>
              <a:r>
                <a:rPr lang="en-DK" dirty="0">
                  <a:solidFill>
                    <a:schemeClr val="accent4"/>
                  </a:solidFill>
                </a:rPr>
                <a:t>EIR-survival</a:t>
              </a:r>
            </a:p>
            <a:p>
              <a:pPr algn="ctr"/>
              <a:r>
                <a:rPr lang="en-DK" dirty="0">
                  <a:solidFill>
                    <a:schemeClr val="accent4"/>
                  </a:solidFill>
                </a:rPr>
                <a:t>Gräf et al., medRxiv, 2025</a:t>
              </a:r>
            </a:p>
          </p:txBody>
        </p:sp>
        <p:pic>
          <p:nvPicPr>
            <p:cNvPr id="9" name="Picture 8" descr="A diagram of a genetic modification&#10;&#10;AI-generated content may be incorrect.">
              <a:extLst>
                <a:ext uri="{FF2B5EF4-FFF2-40B4-BE49-F238E27FC236}">
                  <a16:creationId xmlns:a16="http://schemas.microsoft.com/office/drawing/2014/main" id="{8052DE6D-63AC-9803-E741-6654144AF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380" t="3710" r="3293" b="2392"/>
            <a:stretch/>
          </p:blipFill>
          <p:spPr>
            <a:xfrm>
              <a:off x="6662695" y="3190956"/>
              <a:ext cx="1737252" cy="2458105"/>
            </a:xfrm>
            <a:prstGeom prst="rect">
              <a:avLst/>
            </a:prstGeom>
          </p:spPr>
        </p:pic>
      </p:grpSp>
      <p:pic>
        <p:nvPicPr>
          <p:cNvPr id="16" name="Screenshot 2021-11-19 at 14.47.04.png" descr="Screenshot 2021-11-19 at 14.47.04.png">
            <a:extLst>
              <a:ext uri="{FF2B5EF4-FFF2-40B4-BE49-F238E27FC236}">
                <a16:creationId xmlns:a16="http://schemas.microsoft.com/office/drawing/2014/main" id="{2E6BC02A-D390-66F9-15E6-556B33E9FA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2444" y="1366633"/>
            <a:ext cx="2075842" cy="63764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B3845B5-0A87-93AA-6F5C-1AD55D3F8B7D}"/>
              </a:ext>
            </a:extLst>
          </p:cNvPr>
          <p:cNvGrpSpPr/>
          <p:nvPr/>
        </p:nvGrpSpPr>
        <p:grpSpPr>
          <a:xfrm>
            <a:off x="6859893" y="4296675"/>
            <a:ext cx="4281860" cy="2310345"/>
            <a:chOff x="7029849" y="4307905"/>
            <a:chExt cx="4281860" cy="231034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C27C70C-A9D8-7A39-3216-A039E5944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29849" y="4307905"/>
              <a:ext cx="2306102" cy="231034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8B7BB2-ACE2-3C0B-54FC-83CDD6FCD550}"/>
                </a:ext>
              </a:extLst>
            </p:cNvPr>
            <p:cNvSpPr txBox="1"/>
            <p:nvPr/>
          </p:nvSpPr>
          <p:spPr>
            <a:xfrm>
              <a:off x="9509347" y="5166248"/>
              <a:ext cx="1802362" cy="54276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pPr algn="ctr"/>
              <a:r>
                <a:rPr lang="en-DK" dirty="0">
                  <a:solidFill>
                    <a:schemeClr val="accent4"/>
                  </a:solidFill>
                </a:rPr>
                <a:t>Chromatin-2-RNA</a:t>
              </a:r>
            </a:p>
            <a:p>
              <a:pPr algn="ctr"/>
              <a:r>
                <a:rPr lang="en-DK" dirty="0">
                  <a:solidFill>
                    <a:schemeClr val="accent4"/>
                  </a:solidFill>
                </a:rPr>
                <a:t>Avelli et al., Genome Biology, 2026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88127DA-A551-D478-7B96-9407464AB85F}"/>
              </a:ext>
            </a:extLst>
          </p:cNvPr>
          <p:cNvSpPr txBox="1"/>
          <p:nvPr/>
        </p:nvSpPr>
        <p:spPr>
          <a:xfrm>
            <a:off x="1017975" y="6500787"/>
            <a:ext cx="3944844" cy="35721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DK" i="1" dirty="0">
                <a:solidFill>
                  <a:schemeClr val="accent4"/>
                </a:solidFill>
              </a:rPr>
              <a:t>Sigurdsson et al. </a:t>
            </a:r>
            <a:r>
              <a:rPr lang="en-GB" i="1" dirty="0">
                <a:solidFill>
                  <a:schemeClr val="accent4"/>
                </a:solidFill>
              </a:rPr>
              <a:t>NAR, 2023</a:t>
            </a:r>
            <a:endParaRPr lang="en-DK" i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57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27AC-2E39-EFF4-CE62-FF25D438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EIR-FM &amp; EIR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26DA4-72D9-EC15-D451-0D48ED059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DK" b="1" dirty="0"/>
              <a:t>Today you will try to:</a:t>
            </a:r>
          </a:p>
          <a:p>
            <a:endParaRPr lang="en-DK" dirty="0"/>
          </a:p>
          <a:p>
            <a:r>
              <a:rPr lang="en-DK" dirty="0"/>
              <a:t>Model genetics (morning)</a:t>
            </a:r>
          </a:p>
          <a:p>
            <a:endParaRPr lang="en-DK" dirty="0"/>
          </a:p>
          <a:p>
            <a:r>
              <a:rPr lang="en-DK" dirty="0"/>
              <a:t>H</a:t>
            </a:r>
            <a:r>
              <a:rPr lang="en-GB" dirty="0"/>
              <a:t>e</a:t>
            </a:r>
            <a:r>
              <a:rPr lang="en-DK" dirty="0"/>
              <a:t>alth and genetics data (afternoon)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97319-EF0C-EA82-5A4C-A19864C9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9339-1C74-4825-ADEB-BCD7E13EFC81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B7D51-8E34-4143-EC0F-90D3929B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11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3791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ECC-A57A-A72A-0C54-6CDA4CA04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EIR-FM model: PRS Patient representations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B39F9-7C85-3E96-FD16-91B6993C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9339-1C74-4825-ADEB-BCD7E13EFC81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C0C00-F88C-E60B-4E98-E8EC76E4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12</a:t>
            </a:fld>
            <a:endParaRPr lang="da-DK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D47467-F681-08AE-8E88-40C8382ABB03}"/>
              </a:ext>
            </a:extLst>
          </p:cNvPr>
          <p:cNvGrpSpPr/>
          <p:nvPr/>
        </p:nvGrpSpPr>
        <p:grpSpPr>
          <a:xfrm>
            <a:off x="588963" y="2051396"/>
            <a:ext cx="2259105" cy="3865308"/>
            <a:chOff x="588963" y="2051396"/>
            <a:chExt cx="2259105" cy="386530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951C94-3D8C-4930-0391-35EEA1A8B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10" t="27360" r="87276" b="37658"/>
            <a:stretch>
              <a:fillRect/>
            </a:stretch>
          </p:blipFill>
          <p:spPr>
            <a:xfrm>
              <a:off x="1111624" y="2051396"/>
              <a:ext cx="1308848" cy="27945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321180-A1ED-4C3B-ECC0-FF6BA5637C6B}"/>
                </a:ext>
              </a:extLst>
            </p:cNvPr>
            <p:cNvSpPr txBox="1"/>
            <p:nvPr/>
          </p:nvSpPr>
          <p:spPr>
            <a:xfrm>
              <a:off x="588963" y="5271245"/>
              <a:ext cx="2259105" cy="645459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DK" sz="2400" b="1" dirty="0">
                  <a:solidFill>
                    <a:schemeClr val="accent4"/>
                  </a:solidFill>
                </a:rPr>
                <a:t>Individual level DNA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948A7E0-E17C-F2E0-296B-6B5644153CC5}"/>
              </a:ext>
            </a:extLst>
          </p:cNvPr>
          <p:cNvGrpSpPr/>
          <p:nvPr/>
        </p:nvGrpSpPr>
        <p:grpSpPr>
          <a:xfrm>
            <a:off x="4294743" y="1889479"/>
            <a:ext cx="3118400" cy="4027226"/>
            <a:chOff x="4294743" y="1889479"/>
            <a:chExt cx="3118400" cy="4027226"/>
          </a:xfrm>
        </p:grpSpPr>
        <p:pic>
          <p:nvPicPr>
            <p:cNvPr id="10" name="Picture 9" descr="A black and white logo&#10;&#10;Description automatically generated">
              <a:extLst>
                <a:ext uri="{FF2B5EF4-FFF2-40B4-BE49-F238E27FC236}">
                  <a16:creationId xmlns:a16="http://schemas.microsoft.com/office/drawing/2014/main" id="{97D9E37B-3285-5B00-79EE-7C8759C0B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4743" y="1889479"/>
              <a:ext cx="3118400" cy="3118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95B8C8-D386-CDC9-D020-2AFA754D2140}"/>
                </a:ext>
              </a:extLst>
            </p:cNvPr>
            <p:cNvSpPr txBox="1"/>
            <p:nvPr/>
          </p:nvSpPr>
          <p:spPr>
            <a:xfrm>
              <a:off x="4724390" y="5271246"/>
              <a:ext cx="2259105" cy="64545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DK" sz="2400" b="1" dirty="0">
                  <a:solidFill>
                    <a:schemeClr val="accent4"/>
                  </a:solidFill>
                </a:rPr>
                <a:t>AI model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7A5270-D2F7-6FDA-8F7F-02F6D44AF140}"/>
              </a:ext>
            </a:extLst>
          </p:cNvPr>
          <p:cNvGrpSpPr/>
          <p:nvPr/>
        </p:nvGrpSpPr>
        <p:grpSpPr>
          <a:xfrm>
            <a:off x="8749533" y="2022721"/>
            <a:ext cx="2851917" cy="3893983"/>
            <a:chOff x="8749533" y="2022721"/>
            <a:chExt cx="2851917" cy="389398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807AAF-498B-7629-D188-97F6F55FE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9533" y="2022721"/>
              <a:ext cx="2851917" cy="285191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5E99BA-3F4A-0E13-F14A-6D2D72EE9E24}"/>
                </a:ext>
              </a:extLst>
            </p:cNvPr>
            <p:cNvSpPr txBox="1"/>
            <p:nvPr/>
          </p:nvSpPr>
          <p:spPr>
            <a:xfrm>
              <a:off x="9045938" y="5271245"/>
              <a:ext cx="2259105" cy="64545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DK" sz="2400" b="1" dirty="0">
                  <a:solidFill>
                    <a:schemeClr val="accent4"/>
                  </a:solidFill>
                </a:rPr>
                <a:t>Patient representations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930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0635-2AD4-FCA8-EC69-1EA07634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EIR-FM: Learning multiple outputs in one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13F0D-7D9D-D787-3326-543B99208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7C15-2114-4FA8-A531-51E467CB49E5}" type="datetime1">
              <a:rPr lang="da-DK" smtClean="0"/>
              <a:t>25.08.2026</a:t>
            </a:fld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F3EC2-EDF0-DCBE-8EAD-A03C62CA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13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2C2FE6-A623-1B4F-C7F3-83C13542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98" y="1617434"/>
            <a:ext cx="9070687" cy="40490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D55992-290A-FD79-14EE-6BBBE037491E}"/>
              </a:ext>
            </a:extLst>
          </p:cNvPr>
          <p:cNvSpPr txBox="1"/>
          <p:nvPr/>
        </p:nvSpPr>
        <p:spPr>
          <a:xfrm>
            <a:off x="8247444" y="5434610"/>
            <a:ext cx="3068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b="1" dirty="0">
                <a:solidFill>
                  <a:schemeClr val="accent1"/>
                </a:solidFill>
              </a:rPr>
              <a:t>1,486 PRS/outputs/embeddings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22F6FE-5C4C-6E86-AF4C-09B0C69A4EF1}"/>
              </a:ext>
            </a:extLst>
          </p:cNvPr>
          <p:cNvGrpSpPr/>
          <p:nvPr/>
        </p:nvGrpSpPr>
        <p:grpSpPr>
          <a:xfrm>
            <a:off x="1204537" y="1840199"/>
            <a:ext cx="9619848" cy="3717847"/>
            <a:chOff x="1204537" y="1840199"/>
            <a:chExt cx="9619848" cy="37178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D4E179-5084-EDF5-8649-4AD9AB9D9BA2}"/>
                </a:ext>
              </a:extLst>
            </p:cNvPr>
            <p:cNvSpPr/>
            <p:nvPr/>
          </p:nvSpPr>
          <p:spPr>
            <a:xfrm>
              <a:off x="8877642" y="1972772"/>
              <a:ext cx="1217252" cy="32299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5FC5D6-C383-352A-CE97-8FBAFB57EFDD}"/>
                </a:ext>
              </a:extLst>
            </p:cNvPr>
            <p:cNvSpPr/>
            <p:nvPr/>
          </p:nvSpPr>
          <p:spPr>
            <a:xfrm>
              <a:off x="8094261" y="5311176"/>
              <a:ext cx="1217252" cy="2468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719F4F-7D11-FF24-9641-06DD9474D511}"/>
                </a:ext>
              </a:extLst>
            </p:cNvPr>
            <p:cNvSpPr txBox="1"/>
            <p:nvPr/>
          </p:nvSpPr>
          <p:spPr>
            <a:xfrm>
              <a:off x="8877642" y="2189708"/>
              <a:ext cx="1946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90 biomarkers &amp; anthropometrics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4AA359-A460-5EF0-D9F4-21D3F6CE2672}"/>
                </a:ext>
              </a:extLst>
            </p:cNvPr>
            <p:cNvSpPr txBox="1"/>
            <p:nvPr/>
          </p:nvSpPr>
          <p:spPr>
            <a:xfrm>
              <a:off x="8877642" y="2986442"/>
              <a:ext cx="16029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78 disease and disorders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0B98D6-DC8D-6684-822D-C8BA71026BD1}"/>
                </a:ext>
              </a:extLst>
            </p:cNvPr>
            <p:cNvSpPr txBox="1"/>
            <p:nvPr/>
          </p:nvSpPr>
          <p:spPr>
            <a:xfrm>
              <a:off x="8877641" y="3766172"/>
              <a:ext cx="16029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151 metabolites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AB8292-F7EC-E796-B7DA-7B8F6FD7A02A}"/>
                </a:ext>
              </a:extLst>
            </p:cNvPr>
            <p:cNvSpPr txBox="1"/>
            <p:nvPr/>
          </p:nvSpPr>
          <p:spPr>
            <a:xfrm>
              <a:off x="8877641" y="4702011"/>
              <a:ext cx="16029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1167 proteins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26BAF1C-F175-A758-015F-37FF9BAB2747}"/>
                </a:ext>
              </a:extLst>
            </p:cNvPr>
            <p:cNvSpPr/>
            <p:nvPr/>
          </p:nvSpPr>
          <p:spPr>
            <a:xfrm>
              <a:off x="8383509" y="1840199"/>
              <a:ext cx="2440876" cy="3594412"/>
            </a:xfrm>
            <a:prstGeom prst="roundRect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FFF58E-5B47-5606-46EB-F7903F7C98EB}"/>
                </a:ext>
              </a:extLst>
            </p:cNvPr>
            <p:cNvSpPr txBox="1"/>
            <p:nvPr/>
          </p:nvSpPr>
          <p:spPr>
            <a:xfrm>
              <a:off x="2807452" y="4739736"/>
              <a:ext cx="1944162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DK" sz="1600" b="1" dirty="0"/>
                <a:t>EIR Genome-Local-Net layers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30B063-F11E-E61F-ACF7-3BB66BE356BD}"/>
                </a:ext>
              </a:extLst>
            </p:cNvPr>
            <p:cNvSpPr txBox="1"/>
            <p:nvPr/>
          </p:nvSpPr>
          <p:spPr>
            <a:xfrm>
              <a:off x="1204537" y="4235391"/>
              <a:ext cx="1602915" cy="4778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DK" sz="1600" b="1" dirty="0"/>
                <a:t>Biobank scale genotype data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E5CA8BC-55CF-5B96-704E-F5FFEAEF88D1}"/>
              </a:ext>
            </a:extLst>
          </p:cNvPr>
          <p:cNvSpPr/>
          <p:nvPr/>
        </p:nvSpPr>
        <p:spPr>
          <a:xfrm>
            <a:off x="2807452" y="1485900"/>
            <a:ext cx="5439992" cy="3907244"/>
          </a:xfrm>
          <a:prstGeom prst="rect">
            <a:avLst/>
          </a:prstGeom>
          <a:solidFill>
            <a:schemeClr val="tx2">
              <a:alpha val="4383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D8018B-05E8-4DD1-1B48-F4D172BBD0FF}"/>
              </a:ext>
            </a:extLst>
          </p:cNvPr>
          <p:cNvSpPr txBox="1"/>
          <p:nvPr/>
        </p:nvSpPr>
        <p:spPr>
          <a:xfrm>
            <a:off x="3349779" y="5618065"/>
            <a:ext cx="4744482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DK" sz="2400" b="1" dirty="0">
                <a:solidFill>
                  <a:schemeClr val="accent4"/>
                </a:solidFill>
              </a:rPr>
              <a:t>One model that learns biomedical outcomes</a:t>
            </a:r>
          </a:p>
        </p:txBody>
      </p:sp>
      <p:pic>
        <p:nvPicPr>
          <p:cNvPr id="23" name="Picture 2" descr="UK Biobank">
            <a:extLst>
              <a:ext uri="{FF2B5EF4-FFF2-40B4-BE49-F238E27FC236}">
                <a16:creationId xmlns:a16="http://schemas.microsoft.com/office/drawing/2014/main" id="{150E3C18-EFDC-7377-9E54-34BCB8CC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8" y="5867954"/>
            <a:ext cx="1894136" cy="73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73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3B0B-CDA7-6444-1108-66AE1D51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0234-51B6-F9CF-5D63-7B929583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EIR-FM: Learning multiple outputs in one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39634-7D9D-0D39-2DC8-BD99096C4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7C15-2114-4FA8-A531-51E467CB49E5}" type="datetime1">
              <a:rPr lang="da-DK" smtClean="0"/>
              <a:t>25.08.2026</a:t>
            </a:fld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FFBFB-9D92-4D3C-667D-FA18ADA2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14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9818F6-CD26-3D73-24EB-921E32550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98" y="1617434"/>
            <a:ext cx="9070687" cy="40490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8620A5-07FC-3A7A-3F8F-A35C4834520D}"/>
              </a:ext>
            </a:extLst>
          </p:cNvPr>
          <p:cNvSpPr txBox="1"/>
          <p:nvPr/>
        </p:nvSpPr>
        <p:spPr>
          <a:xfrm>
            <a:off x="8247444" y="5434610"/>
            <a:ext cx="278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b="1" dirty="0">
                <a:solidFill>
                  <a:schemeClr val="accent1"/>
                </a:solidFill>
              </a:rPr>
              <a:t>2,000 outputs/embeddings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4B7C7A-F142-9BC8-6BB8-98AB789BED03}"/>
              </a:ext>
            </a:extLst>
          </p:cNvPr>
          <p:cNvGrpSpPr/>
          <p:nvPr/>
        </p:nvGrpSpPr>
        <p:grpSpPr>
          <a:xfrm>
            <a:off x="1204537" y="1972772"/>
            <a:ext cx="9619848" cy="3585274"/>
            <a:chOff x="1204537" y="1972772"/>
            <a:chExt cx="9619848" cy="358527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8FDC047-84D2-225F-2467-6356C3ECAEF1}"/>
                </a:ext>
              </a:extLst>
            </p:cNvPr>
            <p:cNvSpPr/>
            <p:nvPr/>
          </p:nvSpPr>
          <p:spPr>
            <a:xfrm>
              <a:off x="8877642" y="1972772"/>
              <a:ext cx="1217252" cy="32299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576660-E824-1D74-AAA5-821E31299434}"/>
                </a:ext>
              </a:extLst>
            </p:cNvPr>
            <p:cNvSpPr/>
            <p:nvPr/>
          </p:nvSpPr>
          <p:spPr>
            <a:xfrm>
              <a:off x="8094261" y="5311176"/>
              <a:ext cx="1217252" cy="2468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E652D5-C8B3-32C0-D89C-8381B88DA511}"/>
                </a:ext>
              </a:extLst>
            </p:cNvPr>
            <p:cNvSpPr txBox="1"/>
            <p:nvPr/>
          </p:nvSpPr>
          <p:spPr>
            <a:xfrm>
              <a:off x="8877642" y="2189708"/>
              <a:ext cx="1946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28 biomarkers &amp; anthropometrics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802193-E6ED-2984-F6CC-9B1BD208092A}"/>
                </a:ext>
              </a:extLst>
            </p:cNvPr>
            <p:cNvSpPr txBox="1"/>
            <p:nvPr/>
          </p:nvSpPr>
          <p:spPr>
            <a:xfrm>
              <a:off x="8877642" y="2986442"/>
              <a:ext cx="1602915" cy="477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336 disease and disorders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C33988-1D33-64A5-7F0D-2FC1C4827FAC}"/>
                </a:ext>
              </a:extLst>
            </p:cNvPr>
            <p:cNvSpPr txBox="1"/>
            <p:nvPr/>
          </p:nvSpPr>
          <p:spPr>
            <a:xfrm>
              <a:off x="8877641" y="3766172"/>
              <a:ext cx="1602915" cy="276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238 metabolites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B700E4-40C3-AC3E-0905-8E2B8D542EA1}"/>
                </a:ext>
              </a:extLst>
            </p:cNvPr>
            <p:cNvSpPr txBox="1"/>
            <p:nvPr/>
          </p:nvSpPr>
          <p:spPr>
            <a:xfrm>
              <a:off x="8877641" y="4702011"/>
              <a:ext cx="1602915" cy="276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1600" b="1" dirty="0"/>
                <a:t>1404 proteins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774D2C7-BE49-7844-DC8A-71C063B9B3F7}"/>
                </a:ext>
              </a:extLst>
            </p:cNvPr>
            <p:cNvSpPr txBox="1"/>
            <p:nvPr/>
          </p:nvSpPr>
          <p:spPr>
            <a:xfrm>
              <a:off x="2807452" y="4739736"/>
              <a:ext cx="1944162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DK" sz="1600" b="1" dirty="0"/>
                <a:t>EIR Genome-Local-Net layers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93ECB7-A970-80AC-D6CF-A118B4FDBE90}"/>
                </a:ext>
              </a:extLst>
            </p:cNvPr>
            <p:cNvSpPr txBox="1"/>
            <p:nvPr/>
          </p:nvSpPr>
          <p:spPr>
            <a:xfrm>
              <a:off x="1204537" y="4235391"/>
              <a:ext cx="1602915" cy="4778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DK" sz="1600" b="1" dirty="0"/>
                <a:t>Biobank scale genotype data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913E896-1BA2-8F34-5928-D5754DC20D46}"/>
              </a:ext>
            </a:extLst>
          </p:cNvPr>
          <p:cNvSpPr/>
          <p:nvPr/>
        </p:nvSpPr>
        <p:spPr>
          <a:xfrm>
            <a:off x="2807452" y="1485900"/>
            <a:ext cx="5439992" cy="3907244"/>
          </a:xfrm>
          <a:prstGeom prst="rect">
            <a:avLst/>
          </a:prstGeom>
          <a:solidFill>
            <a:schemeClr val="tx2">
              <a:alpha val="4383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88E70-D66A-40B8-B96B-567A7A7CC00B}"/>
              </a:ext>
            </a:extLst>
          </p:cNvPr>
          <p:cNvSpPr txBox="1"/>
          <p:nvPr/>
        </p:nvSpPr>
        <p:spPr>
          <a:xfrm>
            <a:off x="3349779" y="5618065"/>
            <a:ext cx="4744482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DK" sz="2400" b="1" dirty="0">
                <a:solidFill>
                  <a:schemeClr val="accent4"/>
                </a:solidFill>
              </a:rPr>
              <a:t>One model that learns biomedical outcomes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E49262-C10E-5C4C-8E43-79B3E605E48D}"/>
              </a:ext>
            </a:extLst>
          </p:cNvPr>
          <p:cNvSpPr/>
          <p:nvPr/>
        </p:nvSpPr>
        <p:spPr>
          <a:xfrm>
            <a:off x="8426824" y="1972772"/>
            <a:ext cx="2717263" cy="4108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6D48F6-8143-E9F5-1D06-F1CD325CE994}"/>
              </a:ext>
            </a:extLst>
          </p:cNvPr>
          <p:cNvGrpSpPr/>
          <p:nvPr/>
        </p:nvGrpSpPr>
        <p:grpSpPr>
          <a:xfrm>
            <a:off x="8749533" y="2022721"/>
            <a:ext cx="2851917" cy="3893983"/>
            <a:chOff x="8749533" y="2022721"/>
            <a:chExt cx="2851917" cy="389398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DF3B7C3-FDEB-8AB9-0E1B-AD28F70B0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9533" y="2022721"/>
              <a:ext cx="2851917" cy="285191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B50579F-A049-B94E-0DEA-76E21DD4B646}"/>
                </a:ext>
              </a:extLst>
            </p:cNvPr>
            <p:cNvSpPr txBox="1"/>
            <p:nvPr/>
          </p:nvSpPr>
          <p:spPr>
            <a:xfrm>
              <a:off x="9045938" y="5271245"/>
              <a:ext cx="2259105" cy="64545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DK" sz="2400" b="1" dirty="0">
                  <a:solidFill>
                    <a:schemeClr val="accent4"/>
                  </a:solidFill>
                </a:rPr>
                <a:t>Patient Digital Twin</a:t>
              </a:r>
            </a:p>
          </p:txBody>
        </p:sp>
      </p:grpSp>
      <p:pic>
        <p:nvPicPr>
          <p:cNvPr id="26" name="Picture 2" descr="UK Biobank">
            <a:extLst>
              <a:ext uri="{FF2B5EF4-FFF2-40B4-BE49-F238E27FC236}">
                <a16:creationId xmlns:a16="http://schemas.microsoft.com/office/drawing/2014/main" id="{4C6740E6-4AF7-947E-6EC6-6998B28C7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8" y="5867954"/>
            <a:ext cx="1894136" cy="73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219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EB4B810-240F-9C74-C4B1-6F79579E2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41" y="1485900"/>
            <a:ext cx="5040000" cy="5040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F31BE46-CED2-5633-AD15-891F17B3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5186"/>
          </a:xfrm>
        </p:spPr>
        <p:txBody>
          <a:bodyPr/>
          <a:lstStyle/>
          <a:p>
            <a:r>
              <a:rPr lang="en-DK" dirty="0"/>
              <a:t>UKB benchmark: EIR-MT vs EIR-ST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6F52204-9C28-6F83-E1EB-3B96A3952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67" y="1635125"/>
            <a:ext cx="4912784" cy="4675188"/>
          </a:xfrm>
        </p:spPr>
        <p:txBody>
          <a:bodyPr anchor="ctr"/>
          <a:lstStyle/>
          <a:p>
            <a:pPr marL="0" indent="0">
              <a:buNone/>
            </a:pPr>
            <a:r>
              <a:rPr lang="en-DK" b="1" dirty="0"/>
              <a:t>Selected set of benchmark traits</a:t>
            </a:r>
          </a:p>
          <a:p>
            <a:r>
              <a:rPr lang="en-DK" dirty="0"/>
              <a:t>Very similar performance (r=0.99)</a:t>
            </a:r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r>
              <a:rPr lang="en-DK" i="1" dirty="0"/>
              <a:t>One model can learn &gt;1,400 traits almost as good as individual models!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3DC17-B794-1FFF-095A-D60EBD07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/>
          <a:lstStyle/>
          <a:p>
            <a:fld id="{2F197C15-2114-4FA8-A531-51E467CB49E5}" type="datetime1">
              <a:rPr lang="da-DK" smtClean="0"/>
              <a:pPr/>
              <a:t>25.08.2026</a:t>
            </a:fld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2BD79-417D-A026-35DF-4DA27D0B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/>
          <a:lstStyle/>
          <a:p>
            <a:fld id="{091A926C-488A-4E3E-9C21-57CAA120E114}" type="slidenum">
              <a:rPr lang="da-DK" smtClean="0"/>
              <a:pPr/>
              <a:t>15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22517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C6757-44FC-99C5-5993-C73264CF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EIR-FM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F89EF-970D-B69D-B39F-9D9AF117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7C15-2114-4FA8-A531-51E467CB49E5}" type="datetime1">
              <a:rPr lang="da-DK" smtClean="0"/>
              <a:t>25.08.2026</a:t>
            </a:fld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A840A-4BB0-EB80-9AC0-5BF6B27D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16</a:t>
            </a:fld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C7F6D-0D32-C655-2DFD-5EFB2026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54" y="1844072"/>
            <a:ext cx="7772400" cy="45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00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70B2-668E-E704-FD15-2AACACB9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DK" dirty="0"/>
              <a:t>Morning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AD0B3-2732-1A42-8C36-1D235E8C8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35125"/>
            <a:ext cx="5358535" cy="4675187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DK" b="1" dirty="0"/>
              <a:t>Using EIR-FM </a:t>
            </a:r>
          </a:p>
          <a:p>
            <a:pPr>
              <a:lnSpc>
                <a:spcPct val="90000"/>
              </a:lnSpc>
            </a:pPr>
            <a:r>
              <a:rPr lang="en-DK" dirty="0"/>
              <a:t>Apply a UKB-based PRS foundation model to PennCATH cohort</a:t>
            </a:r>
          </a:p>
          <a:p>
            <a:pPr>
              <a:lnSpc>
                <a:spcPct val="90000"/>
              </a:lnSpc>
            </a:pPr>
            <a:r>
              <a:rPr lang="en-DK" dirty="0"/>
              <a:t>Analyse PRS predictions and accuracy</a:t>
            </a:r>
          </a:p>
          <a:p>
            <a:pPr>
              <a:lnSpc>
                <a:spcPct val="90000"/>
              </a:lnSpc>
            </a:pPr>
            <a:r>
              <a:rPr lang="en-DK" dirty="0"/>
              <a:t>Cluster PRS predictions</a:t>
            </a:r>
          </a:p>
          <a:p>
            <a:pPr>
              <a:lnSpc>
                <a:spcPct val="90000"/>
              </a:lnSpc>
            </a:pPr>
            <a:r>
              <a:rPr lang="en-DK" dirty="0"/>
              <a:t>Use PRS to predict disease</a:t>
            </a:r>
          </a:p>
          <a:p>
            <a:pPr>
              <a:lnSpc>
                <a:spcPct val="90000"/>
              </a:lnSpc>
            </a:pPr>
            <a:r>
              <a:rPr lang="en-DK" dirty="0"/>
              <a:t>Explainability of DL based PRS</a:t>
            </a:r>
          </a:p>
          <a:p>
            <a:pPr>
              <a:lnSpc>
                <a:spcPct val="90000"/>
              </a:lnSpc>
            </a:pPr>
            <a:endParaRPr lang="en-DK" dirty="0"/>
          </a:p>
          <a:p>
            <a:pPr>
              <a:lnSpc>
                <a:spcPct val="90000"/>
              </a:lnSpc>
            </a:pPr>
            <a:endParaRPr lang="en-DK" dirty="0"/>
          </a:p>
        </p:txBody>
      </p:sp>
      <p:pic>
        <p:nvPicPr>
          <p:cNvPr id="6" name="Picture 5" descr="A colorful swirl of lines and dots&#10;&#10;Description automatically generated">
            <a:extLst>
              <a:ext uri="{FF2B5EF4-FFF2-40B4-BE49-F238E27FC236}">
                <a16:creationId xmlns:a16="http://schemas.microsoft.com/office/drawing/2014/main" id="{FC729A79-BA6D-DB8E-92D9-AF4822E8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382" y="1635125"/>
            <a:ext cx="4675187" cy="467518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05A6-C02A-FB7B-F077-141841F8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C829339-1C74-4825-ADEB-BCD7E13EFC81}" type="datetime1">
              <a:rPr lang="da-DK" smtClean="0"/>
              <a:pPr>
                <a:spcAft>
                  <a:spcPts val="600"/>
                </a:spcAft>
              </a:pPr>
              <a:t>25.08.2026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8857E-2703-3FCD-4240-FDDFA580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3773263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16">
      <a:dk1>
        <a:sysClr val="windowText" lastClr="000000"/>
      </a:dk1>
      <a:lt1>
        <a:sysClr val="window" lastClr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D49F3A"/>
      </a:accent3>
      <a:accent4>
        <a:srgbClr val="42759B"/>
      </a:accent4>
      <a:accent5>
        <a:srgbClr val="79ADB1"/>
      </a:accent5>
      <a:accent6>
        <a:srgbClr val="779921"/>
      </a:accent6>
      <a:hlink>
        <a:srgbClr val="A31D20"/>
      </a:hlink>
      <a:folHlink>
        <a:srgbClr val="000000"/>
      </a:folHlink>
    </a:clrScheme>
    <a:fontScheme name="KU2016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>
        <a:noAutofit/>
      </a:bodyPr>
      <a:lstStyle>
        <a:defPPr algn="l">
          <a:defRPr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BBC4C104-08D1-48E4-B555-304674CA3A70}" vid="{B06BF32A-D246-4A7E-93D3-EE23D73D28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45048</TotalTime>
  <Words>611</Words>
  <Application>Microsoft Macintosh PowerPoint</Application>
  <PresentationFormat>Widescreen</PresentationFormat>
  <Paragraphs>166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Microsoft New Tai Lue</vt:lpstr>
      <vt:lpstr>Wingdings</vt:lpstr>
      <vt:lpstr>Brugerdefineret design</vt:lpstr>
      <vt:lpstr>PowerPoint Presentation</vt:lpstr>
      <vt:lpstr>Conflict of Interests</vt:lpstr>
      <vt:lpstr>What is defining the Rasmussen Lab:</vt:lpstr>
      <vt:lpstr>The digital twin concept</vt:lpstr>
      <vt:lpstr>Medical digital twins: Representations</vt:lpstr>
      <vt:lpstr>Medical digital twins: Representations</vt:lpstr>
      <vt:lpstr>Why Medical Digital Twins (@CBMR)?</vt:lpstr>
      <vt:lpstr>Framework for digital twins: EIR</vt:lpstr>
      <vt:lpstr>EIR: Framework for multi-modal data integration</vt:lpstr>
      <vt:lpstr>EIR: DL Framework for multi-modal data integration</vt:lpstr>
      <vt:lpstr>EIR-FM &amp; EIR Transformers</vt:lpstr>
      <vt:lpstr>EIR-FM model: PRS Patient representations</vt:lpstr>
      <vt:lpstr>EIR-FM: Learning multiple outputs in one model</vt:lpstr>
      <vt:lpstr>EIR-FM: Learning multiple outputs in one model</vt:lpstr>
      <vt:lpstr>UKB benchmark: EIR-MT vs EIR-ST</vt:lpstr>
      <vt:lpstr>EIR-FM architecture</vt:lpstr>
      <vt:lpstr>Morning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Rasmussen Lab: Where are we going?</dc:title>
  <dc:creator>Simon Rasmussen</dc:creator>
  <cp:lastModifiedBy>Simon Rasmussen</cp:lastModifiedBy>
  <cp:revision>620</cp:revision>
  <cp:lastPrinted>2025-06-19T07:06:54Z</cp:lastPrinted>
  <dcterms:created xsi:type="dcterms:W3CDTF">2024-01-25T10:34:50Z</dcterms:created>
  <dcterms:modified xsi:type="dcterms:W3CDTF">2026-08-25T17:06:34Z</dcterms:modified>
</cp:coreProperties>
</file>